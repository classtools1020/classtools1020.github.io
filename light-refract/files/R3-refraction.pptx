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hyperlink" Target="https://classtools1020.github.io/games/checkin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hyperlink" Target="https://classtools1020.github.io/light-refract/mv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7.png"/><Relationship Id="rId4" Type="http://schemas.openxmlformats.org/officeDocument/2006/relationships/hyperlink" Target="https://classtools1020.github.io/light-refract/lab.html#lesson-4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2.png"/><Relationship Id="rId4" Type="http://schemas.openxmlformats.org/officeDocument/2006/relationships/hyperlink" Target="https://classtools1020.github.io/light-refract/lab.html#lesson-5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4.png"/><Relationship Id="rId4" Type="http://schemas.openxmlformats.org/officeDocument/2006/relationships/hyperlink" Target="https://classtools1020.github.io/games/light-refract-quiz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hyperlink" Target="https://classtools1020.github.io/light-refract/mv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hyperlink" Target="https://classtools1020.github.io/games/checkin.html#en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2081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2081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57055" y="182880"/>
            <a:ext cx="2651760" cy="411480"/>
          </a:xfrm>
          <a:prstGeom prst="roundRect">
            <a:avLst>
              <a:gd name="adj" fmla="val 25000"/>
            </a:avLst>
          </a:prstGeom>
          <a:solidFill>
            <a:srgbClr val="000000">
              <a:alpha val="55000"/>
            </a:srgbClr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📷 真實照片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82880"/>
            <a:ext cx="1719072" cy="502920"/>
          </a:xfrm>
          <a:prstGeom prst="roundRect">
            <a:avLst>
              <a:gd name="adj" fmla="val 25000"/>
            </a:avLst>
          </a:prstGeom>
          <a:solidFill>
            <a:srgbClr val="FF3F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開場儀式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600" b="1">
                <a:ln w="44450">
                  <a:solidFill>
                    <a:srgbClr val="14B8E6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光線特勤隊——集合！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554480"/>
            <a:ext cx="9265615" cy="777240"/>
          </a:xfrm>
          <a:prstGeom prst="roundRect">
            <a:avLst>
              <a:gd name="adj" fmla="val 25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點一張臉，告訴我今天的心情</a:t>
            </a:r>
          </a:p>
        </p:txBody>
      </p:sp>
      <p:pic>
        <p:nvPicPr>
          <p:cNvPr id="9" name="Picture 8" descr="koko_hap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572000"/>
            <a:ext cx="2286000" cy="2286000"/>
          </a:xfrm>
          <a:prstGeom prst="rect">
            <a:avLst/>
          </a:prstGeom>
        </p:spPr>
      </p:pic>
      <p:sp>
        <p:nvSpPr>
          <p:cNvPr id="10" name="Rounded Rectangular Callout 9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先深呼吸：泡泡變大……慢慢吐……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3566160" y="5394960"/>
            <a:ext cx="6949440" cy="960120"/>
          </a:xfrm>
          <a:prstGeom prst="roundRect">
            <a:avLst>
              <a:gd name="adj" fmla="val 25000"/>
            </a:avLst>
          </a:prstGeom>
          <a:solidFill>
            <a:srgbClr val="1FBFA8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04302A"/>
                </a:solidFill>
                <a:latin typeface="微軟正黑體"/>
                <a:ea typeface="微軟正黑體"/>
                <a:cs typeface="微軟正黑體"/>
              </a:rPr>
              <a:t>🧘 開啟心情打卡＋泡泡呼吸　▶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2" presetClass="entr" presetSubtype="1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30"/>
                            </p:stCondLst>
                            <p:childTnLst>
                              <p:par>
                                <p:cTn id="15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10"/>
                            </p:stCondLst>
                            <p:childTnLst>
                              <p:par>
                                <p:cTn id="20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1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190"/>
                            </p:stCondLst>
                            <p:childTnLst>
                              <p:par>
                                <p:cTn id="3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s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2081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2081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57055" y="182880"/>
            <a:ext cx="2651760" cy="411480"/>
          </a:xfrm>
          <a:prstGeom prst="roundRect">
            <a:avLst>
              <a:gd name="adj" fmla="val 25000"/>
            </a:avLst>
          </a:prstGeom>
          <a:solidFill>
            <a:srgbClr val="000000">
              <a:alpha val="55000"/>
            </a:srgbClr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📷 真實照片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82880"/>
            <a:ext cx="1463040" cy="502920"/>
          </a:xfrm>
          <a:prstGeom prst="roundRect">
            <a:avLst>
              <a:gd name="adj" fmla="val 25000"/>
            </a:avLst>
          </a:prstGeom>
          <a:solidFill>
            <a:srgbClr val="FF3F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暖身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600" b="1">
                <a:ln w="44450">
                  <a:solidFill>
                    <a:srgbClr val="14B8E6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554480"/>
            <a:ext cx="9265615" cy="777240"/>
          </a:xfrm>
          <a:prstGeom prst="roundRect">
            <a:avLst>
              <a:gd name="adj" fmla="val 25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按「副歌」，一起唱、一起彈指！</a:t>
            </a:r>
          </a:p>
        </p:txBody>
      </p:sp>
      <p:pic>
        <p:nvPicPr>
          <p:cNvPr id="9" name="Picture 8" descr="koko_w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572000"/>
            <a:ext cx="2286000" cy="2286000"/>
          </a:xfrm>
          <a:prstGeom prst="rect">
            <a:avLst/>
          </a:prstGeom>
        </p:spPr>
      </p:pic>
      <p:sp>
        <p:nvSpPr>
          <p:cNvPr id="10" name="Rounded Rectangular Callout 9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準備好手指了嗎？Snap！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3566160" y="5394960"/>
            <a:ext cx="6949440" cy="960120"/>
          </a:xfrm>
          <a:prstGeom prst="roundRect">
            <a:avLst>
              <a:gd name="adj" fmla="val 25000"/>
            </a:avLst>
          </a:prstGeom>
          <a:solidFill>
            <a:srgbClr val="1FBFA8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04302A"/>
                </a:solidFill>
                <a:latin typeface="微軟正黑體"/>
                <a:ea typeface="微軟正黑體"/>
                <a:cs typeface="微軟正黑體"/>
              </a:rPr>
              <a:t>🎵 播放 MV（按副歌）　▶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2" presetClass="entr" presetSubtype="1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30"/>
                            </p:stCondLst>
                            <p:childTnLst>
                              <p:par>
                                <p:cTn id="15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10"/>
                            </p:stCondLst>
                            <p:childTnLst>
                              <p:par>
                                <p:cTn id="20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1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190"/>
                            </p:stCondLst>
                            <p:childTnLst>
                              <p:par>
                                <p:cTn id="3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la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2081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2081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810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57055" y="182880"/>
            <a:ext cx="2651760" cy="411480"/>
          </a:xfrm>
          <a:prstGeom prst="roundRect">
            <a:avLst>
              <a:gd name="adj" fmla="val 25000"/>
            </a:avLst>
          </a:prstGeom>
          <a:solidFill>
            <a:srgbClr val="000000">
              <a:alpha val="55000"/>
            </a:srgbClr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📷 真實照片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82880"/>
            <a:ext cx="2011680" cy="502920"/>
          </a:xfrm>
          <a:prstGeom prst="roundRect">
            <a:avLst>
              <a:gd name="adj" fmla="val 25000"/>
            </a:avLst>
          </a:prstGeom>
          <a:solidFill>
            <a:srgbClr val="FF3F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動手做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"/>
            <a:ext cx="11094415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600" b="1">
                <a:ln w="44450">
                  <a:solidFill>
                    <a:srgbClr val="14B8E6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先猜！</a:t>
            </a:r>
          </a:p>
        </p:txBody>
      </p:sp>
      <p:pic>
        <p:nvPicPr>
          <p:cNvPr id="9" name="Picture 8" descr="koko_hap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572000"/>
            <a:ext cx="2286000" cy="2286000"/>
          </a:xfrm>
          <a:prstGeom prst="rect">
            <a:avLst/>
          </a:prstGeom>
        </p:spPr>
      </p:pic>
      <p:sp>
        <p:nvSpPr>
          <p:cNvPr id="10" name="Rounded Rectangular Callout 9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猜錯沒關係，等一下可以改！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1600200"/>
            <a:ext cx="7863840" cy="713232"/>
          </a:xfrm>
          <a:prstGeom prst="roundRect">
            <a:avLst>
              <a:gd name="adj" fmla="val 25000"/>
            </a:avLst>
          </a:prstGeom>
          <a:solidFill>
            <a:srgbClr val="0B1D30">
              <a:alpha val="90000"/>
            </a:srgbClr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拿到預測貼紙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2441448"/>
            <a:ext cx="7863840" cy="713232"/>
          </a:xfrm>
          <a:prstGeom prst="roundRect">
            <a:avLst>
              <a:gd name="adj" fmla="val 25000"/>
            </a:avLst>
          </a:prstGeom>
          <a:solidFill>
            <a:srgbClr val="0B1D30">
              <a:alpha val="90000"/>
            </a:srgbClr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吸管放進水裡會怎樣？貼！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3282696"/>
            <a:ext cx="7863840" cy="713232"/>
          </a:xfrm>
          <a:prstGeom prst="roundRect">
            <a:avLst>
              <a:gd name="adj" fmla="val 25000"/>
            </a:avLst>
          </a:prstGeom>
          <a:solidFill>
            <a:srgbClr val="0B1D30">
              <a:alpha val="90000"/>
            </a:srgbClr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硬幣倒水後會怎樣？貼！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2" presetClass="entr" presetSubtype="1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30"/>
                            </p:stCondLst>
                            <p:childTnLst>
                              <p:par>
                                <p:cTn id="15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3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2081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2081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810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57055" y="182880"/>
            <a:ext cx="2651760" cy="411480"/>
          </a:xfrm>
          <a:prstGeom prst="roundRect">
            <a:avLst>
              <a:gd name="adj" fmla="val 25000"/>
            </a:avLst>
          </a:prstGeom>
          <a:solidFill>
            <a:srgbClr val="000000">
              <a:alpha val="55000"/>
            </a:srgbClr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📷 真實照片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82880"/>
            <a:ext cx="2011680" cy="502920"/>
          </a:xfrm>
          <a:prstGeom prst="roundRect">
            <a:avLst>
              <a:gd name="adj" fmla="val 25000"/>
            </a:avLst>
          </a:prstGeom>
          <a:solidFill>
            <a:srgbClr val="FF3F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動手做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"/>
            <a:ext cx="11094415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600" b="1">
                <a:ln w="44450">
                  <a:solidFill>
                    <a:srgbClr val="14B8E6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兩人一組</a:t>
            </a:r>
          </a:p>
        </p:txBody>
      </p:sp>
      <p:pic>
        <p:nvPicPr>
          <p:cNvPr id="9" name="Picture 8" descr="koko_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572000"/>
            <a:ext cx="2286000" cy="2286000"/>
          </a:xfrm>
          <a:prstGeom prst="rect">
            <a:avLst/>
          </a:prstGeom>
        </p:spPr>
      </p:pic>
      <p:sp>
        <p:nvSpPr>
          <p:cNvPr id="10" name="Rounded Rectangular Callout 9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一人做、一人看，再交換！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1600200"/>
            <a:ext cx="7863840" cy="713232"/>
          </a:xfrm>
          <a:prstGeom prst="roundRect">
            <a:avLst>
              <a:gd name="adj" fmla="val 25000"/>
            </a:avLst>
          </a:prstGeom>
          <a:solidFill>
            <a:srgbClr val="0B1D30">
              <a:alpha val="90000"/>
            </a:srgbClr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① 吸管放進水，從旁邊看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2441448"/>
            <a:ext cx="7863840" cy="713232"/>
          </a:xfrm>
          <a:prstGeom prst="roundRect">
            <a:avLst>
              <a:gd name="adj" fmla="val 25000"/>
            </a:avLst>
          </a:prstGeom>
          <a:solidFill>
            <a:srgbClr val="0B1D30">
              <a:alpha val="90000"/>
            </a:srgbClr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② 拿出來看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3282696"/>
            <a:ext cx="7863840" cy="713232"/>
          </a:xfrm>
          <a:prstGeom prst="roundRect">
            <a:avLst>
              <a:gd name="adj" fmla="val 25000"/>
            </a:avLst>
          </a:prstGeom>
          <a:solidFill>
            <a:srgbClr val="0B1D30">
              <a:alpha val="90000"/>
            </a:srgbClr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③ 硬幣放碗裡，眼睛在碗邊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4123944"/>
            <a:ext cx="7863840" cy="713232"/>
          </a:xfrm>
          <a:prstGeom prst="roundRect">
            <a:avLst>
              <a:gd name="adj" fmla="val 25000"/>
            </a:avLst>
          </a:prstGeom>
          <a:solidFill>
            <a:srgbClr val="0B1D30">
              <a:alpha val="90000"/>
            </a:srgbClr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④ 另一人慢慢倒水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2" presetClass="entr" presetSubtype="1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30"/>
                            </p:stCondLst>
                            <p:childTnLst>
                              <p:par>
                                <p:cTn id="15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3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s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2081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2081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810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57055" y="182880"/>
            <a:ext cx="2651760" cy="411480"/>
          </a:xfrm>
          <a:prstGeom prst="roundRect">
            <a:avLst>
              <a:gd name="adj" fmla="val 25000"/>
            </a:avLst>
          </a:prstGeom>
          <a:solidFill>
            <a:srgbClr val="000000">
              <a:alpha val="55000"/>
            </a:srgbClr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📷 真實照片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82880"/>
            <a:ext cx="2011680" cy="502920"/>
          </a:xfrm>
          <a:prstGeom prst="roundRect">
            <a:avLst>
              <a:gd name="adj" fmla="val 25000"/>
            </a:avLst>
          </a:prstGeom>
          <a:solidFill>
            <a:srgbClr val="FF3F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動手做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"/>
            <a:ext cx="11094415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600" b="1">
                <a:ln w="44450">
                  <a:solidFill>
                    <a:srgbClr val="14B8E6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改答案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554480"/>
            <a:ext cx="9265615" cy="777240"/>
          </a:xfrm>
          <a:prstGeom prst="roundRect">
            <a:avLst>
              <a:gd name="adj" fmla="val 25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你的預測對嗎？</a:t>
            </a:r>
          </a:p>
        </p:txBody>
      </p:sp>
      <p:pic>
        <p:nvPicPr>
          <p:cNvPr id="10" name="Picture 9" descr="koko_hap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572000"/>
            <a:ext cx="2286000" cy="2286000"/>
          </a:xfrm>
          <a:prstGeom prst="rect">
            <a:avLst/>
          </a:prstGeom>
        </p:spPr>
      </p:pic>
      <p:sp>
        <p:nvSpPr>
          <p:cNvPr id="11" name="Rounded Rectangular Callout 10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改答案超勇敢！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5440680"/>
            <a:ext cx="8808415" cy="1005840"/>
          </a:xfrm>
          <a:prstGeom prst="roundRect">
            <a:avLst>
              <a:gd name="adj" fmla="val 25000"/>
            </a:avLst>
          </a:prstGeom>
          <a:solidFill>
            <a:srgbClr val="FFC93C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800" b="1">
                <a:solidFill>
                  <a:srgbClr val="2A1700"/>
                </a:solidFill>
                <a:latin typeface="微軟正黑體"/>
                <a:ea typeface="微軟正黑體"/>
                <a:cs typeface="微軟正黑體"/>
              </a:rPr>
              <a:t>對的畫圈，不對的改貼——會改答案的人，就是真正的科學家！</a:t>
            </a:r>
          </a:p>
        </p:txBody>
      </p:sp>
      <p:sp>
        <p:nvSpPr>
          <p:cNvPr id="13" name="Rounded Rectangular Callout 12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你們都是真正的科學家！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2" presetClass="entr" presetSubtype="1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30"/>
                            </p:stCondLst>
                            <p:childTnLst>
                              <p:par>
                                <p:cTn id="15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10"/>
                            </p:stCondLst>
                            <p:childTnLst>
                              <p:par>
                                <p:cTn id="20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1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s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2081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2081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57055" y="182880"/>
            <a:ext cx="2651760" cy="411480"/>
          </a:xfrm>
          <a:prstGeom prst="roundRect">
            <a:avLst>
              <a:gd name="adj" fmla="val 25000"/>
            </a:avLst>
          </a:prstGeom>
          <a:solidFill>
            <a:srgbClr val="000000">
              <a:alpha val="55000"/>
            </a:srgbClr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📷 真實照片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82880"/>
            <a:ext cx="1463040" cy="502920"/>
          </a:xfrm>
          <a:prstGeom prst="roundRect">
            <a:avLst>
              <a:gd name="adj" fmla="val 25000"/>
            </a:avLst>
          </a:prstGeom>
          <a:solidFill>
            <a:srgbClr val="FF3F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實驗室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600" b="1">
                <a:ln w="44450">
                  <a:solidFill>
                    <a:srgbClr val="14B8E6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看見光折一下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554480"/>
            <a:ext cx="9265615" cy="777240"/>
          </a:xfrm>
          <a:prstGeom prst="roundRect">
            <a:avLst>
              <a:gd name="adj" fmla="val 25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牛奶水＋手電筒：看光在水面折一下</a:t>
            </a:r>
          </a:p>
        </p:txBody>
      </p:sp>
      <p:pic>
        <p:nvPicPr>
          <p:cNvPr id="9" name="Picture 8" descr="koko_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572000"/>
            <a:ext cx="2286000" cy="2286000"/>
          </a:xfrm>
          <a:prstGeom prst="rect">
            <a:avLst/>
          </a:prstGeom>
        </p:spPr>
      </p:pic>
      <p:sp>
        <p:nvSpPr>
          <p:cNvPr id="10" name="Rounded Rectangular Callout 9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關燈前先數 3、2、1！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3566160" y="5394960"/>
            <a:ext cx="6949440" cy="960120"/>
          </a:xfrm>
          <a:prstGeom prst="roundRect">
            <a:avLst>
              <a:gd name="adj" fmla="val 25000"/>
            </a:avLst>
          </a:prstGeom>
          <a:solidFill>
            <a:srgbClr val="1FBFA8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04302A"/>
                </a:solidFill>
                <a:latin typeface="微軟正黑體"/>
                <a:ea typeface="微軟正黑體"/>
                <a:cs typeface="微軟正黑體"/>
              </a:rPr>
              <a:t>🔦 開啟實驗室第 4 站　▶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2" presetClass="entr" presetSubtype="1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30"/>
                            </p:stCondLst>
                            <p:childTnLst>
                              <p:par>
                                <p:cTn id="15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10"/>
                            </p:stCondLst>
                            <p:childTnLst>
                              <p:par>
                                <p:cTn id="20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1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190"/>
                            </p:stCondLst>
                            <p:childTnLst>
                              <p:par>
                                <p:cTn id="3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2081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2081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143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783017" y="1924071"/>
            <a:ext cx="14630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400" b="1">
                <a:ln w="3175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57055" y="182880"/>
            <a:ext cx="2651760" cy="411480"/>
          </a:xfrm>
          <a:prstGeom prst="roundRect">
            <a:avLst>
              <a:gd name="adj" fmla="val 25000"/>
            </a:avLst>
          </a:prstGeom>
          <a:solidFill>
            <a:srgbClr val="000000">
              <a:alpha val="55000"/>
            </a:srgbClr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📷 真實照片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82880"/>
            <a:ext cx="2304288" cy="502920"/>
          </a:xfrm>
          <a:prstGeom prst="roundRect">
            <a:avLst>
              <a:gd name="adj" fmla="val 25000"/>
            </a:avLst>
          </a:prstGeom>
          <a:solidFill>
            <a:srgbClr val="FF3F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生活案件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2920"/>
            <a:ext cx="11094415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600" b="1">
                <a:ln w="44450">
                  <a:solidFill>
                    <a:srgbClr val="14B8E6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1554480"/>
            <a:ext cx="9265615" cy="777240"/>
          </a:xfrm>
          <a:prstGeom prst="roundRect">
            <a:avLst>
              <a:gd name="adj" fmla="val 25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看起來淺淺的，真的淺嗎？</a:t>
            </a:r>
          </a:p>
        </p:txBody>
      </p:sp>
      <p:pic>
        <p:nvPicPr>
          <p:cNvPr id="11" name="Picture 10" descr="koko_th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572000"/>
            <a:ext cx="2286000" cy="2286000"/>
          </a:xfrm>
          <a:prstGeom prst="rect">
            <a:avLst/>
          </a:prstGeom>
        </p:spPr>
      </p:pic>
      <p:sp>
        <p:nvSpPr>
          <p:cNvPr id="12" name="Rounded Rectangular Callout 11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池底看起來好近喔……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41230" y="1924071"/>
            <a:ext cx="12801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2400" b="1">
                <a:ln w="3175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5440680"/>
            <a:ext cx="8808415" cy="1005840"/>
          </a:xfrm>
          <a:prstGeom prst="roundRect">
            <a:avLst>
              <a:gd name="adj" fmla="val 25000"/>
            </a:avLst>
          </a:prstGeom>
          <a:solidFill>
            <a:srgbClr val="FFC93C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800" b="1">
                <a:solidFill>
                  <a:srgbClr val="2A1700"/>
                </a:solidFill>
                <a:latin typeface="微軟正黑體"/>
                <a:ea typeface="微軟正黑體"/>
                <a:cs typeface="微軟正黑體"/>
              </a:rPr>
              <a:t>不是！其實更深！先看深度、大人在旁</a:t>
            </a:r>
          </a:p>
        </p:txBody>
      </p:sp>
      <p:sp>
        <p:nvSpPr>
          <p:cNvPr id="16" name="Rounded Rectangular Callout 15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2" presetClass="entr" presetSubtype="1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30"/>
                            </p:stCondLst>
                            <p:childTnLst>
                              <p:par>
                                <p:cTn id="15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10"/>
                            </p:stCondLst>
                            <p:childTnLst>
                              <p:par>
                                <p:cTn id="20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1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2081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2081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57055" y="182880"/>
            <a:ext cx="2651760" cy="411480"/>
          </a:xfrm>
          <a:prstGeom prst="roundRect">
            <a:avLst>
              <a:gd name="adj" fmla="val 25000"/>
            </a:avLst>
          </a:prstGeom>
          <a:solidFill>
            <a:srgbClr val="000000">
              <a:alpha val="55000"/>
            </a:srgbClr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📷 真實照片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82880"/>
            <a:ext cx="2304288" cy="502920"/>
          </a:xfrm>
          <a:prstGeom prst="roundRect">
            <a:avLst>
              <a:gd name="adj" fmla="val 25000"/>
            </a:avLst>
          </a:prstGeom>
          <a:solidFill>
            <a:srgbClr val="FF3F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生活案件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600" b="1">
                <a:ln w="44450">
                  <a:solidFill>
                    <a:srgbClr val="14B8E6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溪邊撈魚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554480"/>
            <a:ext cx="9265615" cy="777240"/>
          </a:xfrm>
          <a:prstGeom prst="roundRect">
            <a:avLst>
              <a:gd name="adj" fmla="val 25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魚看起來在這裡，網子要往哪撈？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743200"/>
            <a:ext cx="3291840" cy="1234440"/>
          </a:xfrm>
          <a:prstGeom prst="roundRect">
            <a:avLst>
              <a:gd name="adj" fmla="val 25000"/>
            </a:avLst>
          </a:prstGeom>
          <a:solidFill>
            <a:srgbClr val="1F8FD0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⬆ 看到的地方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743200"/>
            <a:ext cx="3291840" cy="1234440"/>
          </a:xfrm>
          <a:prstGeom prst="roundRect">
            <a:avLst>
              <a:gd name="adj" fmla="val 25000"/>
            </a:avLst>
          </a:prstGeom>
          <a:solidFill>
            <a:srgbClr val="D0306F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⬇ 再深一點</a:t>
            </a:r>
          </a:p>
        </p:txBody>
      </p:sp>
      <p:pic>
        <p:nvPicPr>
          <p:cNvPr id="11" name="Picture 10" descr="koko_th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572000"/>
            <a:ext cx="2286000" cy="2286000"/>
          </a:xfrm>
          <a:prstGeom prst="rect">
            <a:avLst/>
          </a:prstGeom>
        </p:spPr>
      </p:pic>
      <p:sp>
        <p:nvSpPr>
          <p:cNvPr id="12" name="Rounded Rectangular Callout 11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你夜市撈過金魚嗎？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5440680"/>
            <a:ext cx="8808415" cy="1005840"/>
          </a:xfrm>
          <a:prstGeom prst="roundRect">
            <a:avLst>
              <a:gd name="adj" fmla="val 25000"/>
            </a:avLst>
          </a:prstGeom>
          <a:solidFill>
            <a:srgbClr val="FFC93C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800" b="1">
                <a:solidFill>
                  <a:srgbClr val="2A1700"/>
                </a:solidFill>
                <a:latin typeface="微軟正黑體"/>
                <a:ea typeface="微軟正黑體"/>
                <a:cs typeface="微軟正黑體"/>
              </a:rPr>
              <a:t>再深一點！魚真的位置比看起來深</a:t>
            </a:r>
          </a:p>
        </p:txBody>
      </p:sp>
      <p:sp>
        <p:nvSpPr>
          <p:cNvPr id="14" name="Rounded Rectangular Callout 13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往深一點撈，才撈得到！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2" presetClass="entr" presetSubtype="1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30"/>
                            </p:stCondLst>
                            <p:childTnLst>
                              <p:par>
                                <p:cTn id="15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1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60"/>
                            </p:stCondLst>
                            <p:childTnLst>
                              <p:par>
                                <p:cTn id="2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10"/>
                            </p:stCondLst>
                            <p:childTnLst>
                              <p:par>
                                <p:cTn id="32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410"/>
                            </p:stCondLst>
                            <p:childTnLst>
                              <p:par>
                                <p:cTn id="3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2081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2081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57055" y="182880"/>
            <a:ext cx="2651760" cy="411480"/>
          </a:xfrm>
          <a:prstGeom prst="roundRect">
            <a:avLst>
              <a:gd name="adj" fmla="val 25000"/>
            </a:avLst>
          </a:prstGeom>
          <a:solidFill>
            <a:srgbClr val="000000">
              <a:alpha val="55000"/>
            </a:srgbClr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📷 真實照片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82880"/>
            <a:ext cx="2304288" cy="502920"/>
          </a:xfrm>
          <a:prstGeom prst="roundRect">
            <a:avLst>
              <a:gd name="adj" fmla="val 25000"/>
            </a:avLst>
          </a:prstGeom>
          <a:solidFill>
            <a:srgbClr val="FF3F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生活案件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600" b="1">
                <a:ln w="44450">
                  <a:solidFill>
                    <a:srgbClr val="14B8E6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554480"/>
            <a:ext cx="9265615" cy="777240"/>
          </a:xfrm>
          <a:prstGeom prst="roundRect">
            <a:avLst>
              <a:gd name="adj" fmla="val 25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水滴放在字上，字怎麼了？</a:t>
            </a:r>
          </a:p>
        </p:txBody>
      </p:sp>
      <p:pic>
        <p:nvPicPr>
          <p:cNvPr id="9" name="Picture 8" descr="koko_th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572000"/>
            <a:ext cx="2286000" cy="2286000"/>
          </a:xfrm>
          <a:prstGeom prst="rect">
            <a:avLst/>
          </a:prstGeom>
        </p:spPr>
      </p:pic>
      <p:sp>
        <p:nvSpPr>
          <p:cNvPr id="10" name="Rounded Rectangular Callout 9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這是下一個任務的線索……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5440680"/>
            <a:ext cx="8808415" cy="1005840"/>
          </a:xfrm>
          <a:prstGeom prst="roundRect">
            <a:avLst>
              <a:gd name="adj" fmla="val 25000"/>
            </a:avLst>
          </a:prstGeom>
          <a:solidFill>
            <a:srgbClr val="FFC93C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800" b="1">
                <a:solidFill>
                  <a:srgbClr val="2A1700"/>
                </a:solidFill>
                <a:latin typeface="微軟正黑體"/>
                <a:ea typeface="微軟正黑體"/>
                <a:cs typeface="微軟正黑體"/>
              </a:rPr>
              <a:t>字變大了！圓圓的水滴讓光換方向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這就是下一課「透鏡」的祕密！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2" presetClass="entr" presetSubtype="1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30"/>
                            </p:stCondLst>
                            <p:childTnLst>
                              <p:par>
                                <p:cTn id="15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10"/>
                            </p:stCondLst>
                            <p:childTnLst>
                              <p:par>
                                <p:cTn id="20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1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2081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2081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57055" y="182880"/>
            <a:ext cx="2651760" cy="411480"/>
          </a:xfrm>
          <a:prstGeom prst="roundRect">
            <a:avLst>
              <a:gd name="adj" fmla="val 25000"/>
            </a:avLst>
          </a:prstGeom>
          <a:solidFill>
            <a:srgbClr val="000000">
              <a:alpha val="55000"/>
            </a:srgbClr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📷 真實照片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82880"/>
            <a:ext cx="1463040" cy="502920"/>
          </a:xfrm>
          <a:prstGeom prst="roundRect">
            <a:avLst>
              <a:gd name="adj" fmla="val 25000"/>
            </a:avLst>
          </a:prstGeom>
          <a:solidFill>
            <a:srgbClr val="FF3F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實驗室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600" b="1">
                <a:ln w="44450">
                  <a:solidFill>
                    <a:srgbClr val="14B8E6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折射生活闖關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554480"/>
            <a:ext cx="9265615" cy="777240"/>
          </a:xfrm>
          <a:prstGeom prst="roundRect">
            <a:avLst>
              <a:gd name="adj" fmla="val 25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撈魚・泳池・魚缸・水滴・眼鏡</a:t>
            </a:r>
          </a:p>
        </p:txBody>
      </p:sp>
      <p:pic>
        <p:nvPicPr>
          <p:cNvPr id="9" name="Picture 8" descr="koko_hap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572000"/>
            <a:ext cx="2286000" cy="2286000"/>
          </a:xfrm>
          <a:prstGeom prst="rect">
            <a:avLst/>
          </a:prstGeom>
        </p:spPr>
      </p:pic>
      <p:sp>
        <p:nvSpPr>
          <p:cNvPr id="10" name="Rounded Rectangular Callout 9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用手指玩玩看！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3566160" y="5394960"/>
            <a:ext cx="6949440" cy="960120"/>
          </a:xfrm>
          <a:prstGeom prst="roundRect">
            <a:avLst>
              <a:gd name="adj" fmla="val 25000"/>
            </a:avLst>
          </a:prstGeom>
          <a:solidFill>
            <a:srgbClr val="1FBFA8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04302A"/>
                </a:solidFill>
                <a:latin typeface="微軟正黑體"/>
                <a:ea typeface="微軟正黑體"/>
                <a:cs typeface="微軟正黑體"/>
              </a:rPr>
              <a:t>🎣 開啟實驗室第 5 站　▶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2" presetClass="entr" presetSubtype="1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30"/>
                            </p:stCondLst>
                            <p:childTnLst>
                              <p:par>
                                <p:cTn id="15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10"/>
                            </p:stCondLst>
                            <p:childTnLst>
                              <p:par>
                                <p:cTn id="20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1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190"/>
                            </p:stCondLst>
                            <p:childTnLst>
                              <p:par>
                                <p:cTn id="3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2081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2081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57055" y="182880"/>
            <a:ext cx="2651760" cy="411480"/>
          </a:xfrm>
          <a:prstGeom prst="roundRect">
            <a:avLst>
              <a:gd name="adj" fmla="val 25000"/>
            </a:avLst>
          </a:prstGeom>
          <a:solidFill>
            <a:srgbClr val="000000">
              <a:alpha val="55000"/>
            </a:srgbClr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📷 真實照片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82880"/>
            <a:ext cx="1463040" cy="502920"/>
          </a:xfrm>
          <a:prstGeom prst="roundRect">
            <a:avLst>
              <a:gd name="adj" fmla="val 25000"/>
            </a:avLst>
          </a:prstGeom>
          <a:solidFill>
            <a:srgbClr val="FF3F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搶答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600" b="1">
                <a:ln w="44450">
                  <a:solidFill>
                    <a:srgbClr val="14B8E6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折射大搶答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554480"/>
            <a:ext cx="9265615" cy="777240"/>
          </a:xfrm>
          <a:prstGeom prst="roundRect">
            <a:avLst>
              <a:gd name="adj" fmla="val 25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兩隊搶答，答錯沒關係！</a:t>
            </a:r>
          </a:p>
        </p:txBody>
      </p:sp>
      <p:pic>
        <p:nvPicPr>
          <p:cNvPr id="9" name="Picture 8" descr="koko_w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572000"/>
            <a:ext cx="2286000" cy="2286000"/>
          </a:xfrm>
          <a:prstGeom prst="rect">
            <a:avLst/>
          </a:prstGeom>
        </p:spPr>
      </p:pic>
      <p:sp>
        <p:nvSpPr>
          <p:cNvPr id="10" name="Rounded Rectangular Callout 9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準備好按鈴了嗎？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3566160" y="5394960"/>
            <a:ext cx="6949440" cy="960120"/>
          </a:xfrm>
          <a:prstGeom prst="roundRect">
            <a:avLst>
              <a:gd name="adj" fmla="val 25000"/>
            </a:avLst>
          </a:prstGeom>
          <a:solidFill>
            <a:srgbClr val="1FBFA8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04302A"/>
                </a:solidFill>
                <a:latin typeface="微軟正黑體"/>
                <a:ea typeface="微軟正黑體"/>
                <a:cs typeface="微軟正黑體"/>
              </a:rPr>
              <a:t>🏆 開始搶答　▶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2" presetClass="entr" presetSubtype="1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30"/>
                            </p:stCondLst>
                            <p:childTnLst>
                              <p:par>
                                <p:cTn id="15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10"/>
                            </p:stCondLst>
                            <p:childTnLst>
                              <p:par>
                                <p:cTn id="20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1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190"/>
                            </p:stCondLst>
                            <p:childTnLst>
                              <p:par>
                                <p:cTn id="3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s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2081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2081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810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57055" y="182880"/>
            <a:ext cx="2651760" cy="411480"/>
          </a:xfrm>
          <a:prstGeom prst="roundRect">
            <a:avLst>
              <a:gd name="adj" fmla="val 25000"/>
            </a:avLst>
          </a:prstGeom>
          <a:solidFill>
            <a:srgbClr val="000000">
              <a:alpha val="55000"/>
            </a:srgbClr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📷 真實照片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82880"/>
            <a:ext cx="1719072" cy="502920"/>
          </a:xfrm>
          <a:prstGeom prst="roundRect">
            <a:avLst>
              <a:gd name="adj" fmla="val 25000"/>
            </a:avLst>
          </a:prstGeom>
          <a:solidFill>
            <a:srgbClr val="FF3F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結案報告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"/>
            <a:ext cx="11094415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600" b="1">
                <a:ln w="44450">
                  <a:solidFill>
                    <a:srgbClr val="14B8E6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懸案破解！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11460175" cy="1463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000" b="1">
                <a:ln w="38100">
                  <a:solidFill>
                    <a:srgbClr val="FF3FB0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</a:t>
            </a:r>
          </a:p>
        </p:txBody>
      </p:sp>
      <p:pic>
        <p:nvPicPr>
          <p:cNvPr id="10" name="Picture 9" descr="koko_w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572000"/>
            <a:ext cx="2286000" cy="2286000"/>
          </a:xfrm>
          <a:prstGeom prst="rect">
            <a:avLst/>
          </a:prstGeom>
        </p:spPr>
      </p:pic>
      <p:sp>
        <p:nvSpPr>
          <p:cNvPr id="11" name="Rounded Rectangular Callout 10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偵探們，任務完成！Snap！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4526280"/>
            <a:ext cx="8808415" cy="1005840"/>
          </a:xfrm>
          <a:prstGeom prst="roundRect">
            <a:avLst>
              <a:gd name="adj" fmla="val 25000"/>
            </a:avLst>
          </a:prstGeom>
          <a:solidFill>
            <a:srgbClr val="FFC93C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800" b="1">
                <a:solidFill>
                  <a:srgbClr val="2A1700"/>
                </a:solidFill>
                <a:latin typeface="微軟正黑體"/>
                <a:ea typeface="微軟正黑體"/>
                <a:cs typeface="微軟正黑體"/>
              </a:rPr>
              <a:t>＝ 折射！吸管沒斷、硬幣沒動、池子更深</a:t>
            </a:r>
          </a:p>
        </p:txBody>
      </p:sp>
      <p:sp>
        <p:nvSpPr>
          <p:cNvPr id="13" name="Rounded Rectangular Callout 12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下一個任務：透鏡！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2" presetClass="entr" presetSubtype="1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3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30"/>
                            </p:stCondLst>
                            <p:childTnLst>
                              <p:par>
                                <p:cTn id="21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130"/>
                            </p:stCondLst>
                            <p:childTnLst>
                              <p:par>
                                <p:cTn id="2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s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2081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2081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57055" y="182880"/>
            <a:ext cx="2651760" cy="411480"/>
          </a:xfrm>
          <a:prstGeom prst="roundRect">
            <a:avLst>
              <a:gd name="adj" fmla="val 25000"/>
            </a:avLst>
          </a:prstGeom>
          <a:solidFill>
            <a:srgbClr val="000000">
              <a:alpha val="55000"/>
            </a:srgbClr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📷 真實照片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82880"/>
            <a:ext cx="1719072" cy="502920"/>
          </a:xfrm>
          <a:prstGeom prst="roundRect">
            <a:avLst>
              <a:gd name="adj" fmla="val 25000"/>
            </a:avLst>
          </a:prstGeom>
          <a:solidFill>
            <a:srgbClr val="FF3F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結案慶祝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600" b="1">
                <a:ln w="44450">
                  <a:solidFill>
                    <a:srgbClr val="14B8E6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554480"/>
            <a:ext cx="9265615" cy="777240"/>
          </a:xfrm>
          <a:prstGeom prst="roundRect">
            <a:avLst>
              <a:gd name="adj" fmla="val 25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全班大合唱！</a:t>
            </a:r>
          </a:p>
        </p:txBody>
      </p:sp>
      <p:pic>
        <p:nvPicPr>
          <p:cNvPr id="9" name="Picture 8" descr="koko_w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572000"/>
            <a:ext cx="2286000" cy="2286000"/>
          </a:xfrm>
          <a:prstGeom prst="rect">
            <a:avLst/>
          </a:prstGeom>
        </p:spPr>
      </p:pic>
      <p:sp>
        <p:nvSpPr>
          <p:cNvPr id="10" name="Rounded Rectangular Callout 9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準備好手指了嗎？Snap！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3566160" y="5394960"/>
            <a:ext cx="6949440" cy="960120"/>
          </a:xfrm>
          <a:prstGeom prst="roundRect">
            <a:avLst>
              <a:gd name="adj" fmla="val 25000"/>
            </a:avLst>
          </a:prstGeom>
          <a:solidFill>
            <a:srgbClr val="1FBFA8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04302A"/>
                </a:solidFill>
                <a:latin typeface="微軟正黑體"/>
                <a:ea typeface="微軟正黑體"/>
                <a:cs typeface="微軟正黑體"/>
              </a:rPr>
              <a:t>🎵 播放 MV　▶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2" presetClass="entr" presetSubtype="1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30"/>
                            </p:stCondLst>
                            <p:childTnLst>
                              <p:par>
                                <p:cTn id="15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10"/>
                            </p:stCondLst>
                            <p:childTnLst>
                              <p:par>
                                <p:cTn id="20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1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190"/>
                            </p:stCondLst>
                            <p:childTnLst>
                              <p:par>
                                <p:cTn id="3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2081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2081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57055" y="182880"/>
            <a:ext cx="2651760" cy="411480"/>
          </a:xfrm>
          <a:prstGeom prst="roundRect">
            <a:avLst>
              <a:gd name="adj" fmla="val 25000"/>
            </a:avLst>
          </a:prstGeom>
          <a:solidFill>
            <a:srgbClr val="000000">
              <a:alpha val="55000"/>
            </a:srgbClr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📷 真實照片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" y="182880"/>
            <a:ext cx="1463040" cy="502920"/>
          </a:xfrm>
          <a:prstGeom prst="roundRect">
            <a:avLst>
              <a:gd name="adj" fmla="val 25000"/>
            </a:avLst>
          </a:prstGeom>
          <a:solidFill>
            <a:srgbClr val="FF3FB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謝幕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"/>
            <a:ext cx="11094415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4600" b="1">
                <a:ln w="44450">
                  <a:solidFill>
                    <a:srgbClr val="14B8E6"/>
                  </a:solidFill>
                </a:ln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謝幕・蓋章！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554480"/>
            <a:ext cx="9265615" cy="777240"/>
          </a:xfrm>
          <a:prstGeom prst="roundRect">
            <a:avLst>
              <a:gd name="adj" fmla="val 25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點一張臉：上完課，心情怎麼樣？</a:t>
            </a:r>
          </a:p>
        </p:txBody>
      </p:sp>
      <p:pic>
        <p:nvPicPr>
          <p:cNvPr id="9" name="Picture 8" descr="koko_w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" y="4572000"/>
            <a:ext cx="2286000" cy="2286000"/>
          </a:xfrm>
          <a:prstGeom prst="rect">
            <a:avLst/>
          </a:prstGeom>
        </p:spPr>
      </p:pic>
      <p:sp>
        <p:nvSpPr>
          <p:cNvPr id="10" name="Rounded Rectangular Callout 9"/>
          <p:cNvSpPr/>
          <p:nvPr/>
        </p:nvSpPr>
        <p:spPr>
          <a:xfrm>
            <a:off x="228600" y="3703320"/>
            <a:ext cx="3566160" cy="868680"/>
          </a:xfrm>
          <a:prstGeom prst="wedgeRoundRectCallout">
            <a:avLst>
              <a:gd name="adj1" fmla="val -25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14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700" b="1">
                <a:solidFill>
                  <a:srgbClr val="14233A"/>
                </a:solidFill>
                <a:latin typeface="微軟正黑體"/>
                <a:ea typeface="微軟正黑體"/>
                <a:cs typeface="微軟正黑體"/>
              </a:rPr>
              <a:t>今天的偵探們超棒！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3566160" y="5394960"/>
            <a:ext cx="6949440" cy="960120"/>
          </a:xfrm>
          <a:prstGeom prst="roundRect">
            <a:avLst>
              <a:gd name="adj" fmla="val 25000"/>
            </a:avLst>
          </a:prstGeom>
          <a:solidFill>
            <a:srgbClr val="1FBFA8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600" b="1">
                <a:solidFill>
                  <a:srgbClr val="04302A"/>
                </a:solidFill>
                <a:latin typeface="微軟正黑體"/>
                <a:ea typeface="微軟正黑體"/>
                <a:cs typeface="微軟正黑體"/>
              </a:rPr>
              <a:t>🌙 開啟謝幕打卡　▶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50"/>
                            </p:stCondLst>
                            <p:childTnLst>
                              <p:par>
                                <p:cTn id="10" presetID="2" presetClass="entr" presetSubtype="1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30"/>
                            </p:stCondLst>
                            <p:childTnLst>
                              <p:par>
                                <p:cTn id="15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710"/>
                            </p:stCondLst>
                            <p:childTnLst>
                              <p:par>
                                <p:cTn id="20" presetID="2" presetClass="entr" presetSubtype="4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1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190"/>
                            </p:stCondLst>
                            <p:childTnLst>
                              <p:par>
                                <p:cTn id="3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