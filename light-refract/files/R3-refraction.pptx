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sstools1020.github.io/games/checkin.html" TargetMode="External"/><Relationship Id="rId3" Type="http://schemas.openxmlformats.org/officeDocument/2006/relationships/hyperlink" Target="https://classtools1020.github.io/light-refract/mv.html" TargetMode="External"/><Relationship Id="rId4" Type="http://schemas.openxmlformats.org/officeDocument/2006/relationships/slide" Target="slide3.xml"/><Relationship Id="rId5" Type="http://schemas.openxmlformats.org/officeDocument/2006/relationships/slide" Target="slide5.xml"/><Relationship Id="rId6" Type="http://schemas.openxmlformats.org/officeDocument/2006/relationships/hyperlink" Target="https://classtools1020.github.io/light-town/#refract" TargetMode="External"/><Relationship Id="rId7" Type="http://schemas.openxmlformats.org/officeDocument/2006/relationships/hyperlink" Target="https://classtools1020.github.io/games/light-refract-quiz.html" TargetMode="Externa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0" Type="http://schemas.openxmlformats.org/officeDocument/2006/relationships/hyperlink" Target="https://classtools1020.github.io/games/checkin.html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hyperlink" Target="https://classtools1020.github.io/light-town/#refract" TargetMode="External"/><Relationship Id="rId4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2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hyperlink" Target="https://classtools1020.github.io/games/light-refract-quiz.html" TargetMode="External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5.png"/><Relationship Id="rId4" Type="http://schemas.openxmlformats.org/officeDocument/2006/relationships/hyperlink" Target="https://classtools1020.github.io/light-refract/files/04_&#25240;&#23556;_&#23416;&#32722;&#21934;_&#29031;&#29255;&#29256;.pdf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2.xml"/><Relationship Id="rId4" Type="http://schemas.openxmlformats.org/officeDocument/2006/relationships/hyperlink" Target="https://classtools1020.github.io/light-refract/mv.html" TargetMode="External"/><Relationship Id="rId5" Type="http://schemas.openxmlformats.org/officeDocument/2006/relationships/hyperlink" Target="https://classtools1020.github.io/games/checkin.html#en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任務四・光的折射｜第 3 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7607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折射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動手做！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今天的目標：自己做出「吸管斷掉」「硬幣浮上來」，說出光在水面折一下。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98932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乙班｜10/14（三）第 4 節</a:t>
            </a:r>
          </a:p>
        </p:txBody>
      </p:sp>
      <p:sp>
        <p:nvSpPr>
          <p:cNvPr id="7" name="Rectangle 6"/>
          <p:cNvSpPr/>
          <p:nvPr/>
        </p:nvSpPr>
        <p:spPr>
          <a:xfrm rot="120000">
            <a:off x="6729983" y="914400"/>
            <a:ext cx="4937760" cy="52120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">
            <a:off x="6675120" y="822960"/>
            <a:ext cx="4937760" cy="5212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andson.jpg"/>
          <p:cNvPicPr>
            <a:picLocks noChangeAspect="1"/>
          </p:cNvPicPr>
          <p:nvPr/>
        </p:nvPicPr>
        <p:blipFill>
          <a:blip r:embed="rId2"/>
          <a:srcRect l="23626" r="23626"/>
          <a:stretch>
            <a:fillRect/>
          </a:stretch>
        </p:blipFill>
        <p:spPr>
          <a:xfrm rot="120000">
            <a:off x="6784848" y="932688"/>
            <a:ext cx="4718304" cy="499262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今天的流程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先猜→動手做→改答案→生活結案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9751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🧘  心情打卡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640080" y="27432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28895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432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🎵  MV〈折一下 Snap!〉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640080" y="36576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8039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576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🔎  折射偵探守則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640080" y="45720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7" y="47183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720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✋  動手做三個實驗</a:t>
            </a:r>
          </a:p>
        </p:txBody>
      </p:sp>
      <p:sp>
        <p:nvSpPr>
          <p:cNvPr id="17" name="Rounded Rectangle 16">
            <a:hlinkClick r:id="rId6"/>
          </p:cNvPr>
          <p:cNvSpPr/>
          <p:nvPr/>
        </p:nvSpPr>
        <p:spPr>
          <a:xfrm>
            <a:off x="640080" y="54864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7" y="56327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864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🏙️  光線小鎮・折射任務</a:t>
            </a:r>
          </a:p>
        </p:txBody>
      </p:sp>
      <p:sp>
        <p:nvSpPr>
          <p:cNvPr id="20" name="Rounded Rectangle 19">
            <a:hlinkClick r:id="rId7"/>
          </p:cNvPr>
          <p:cNvSpPr/>
          <p:nvPr/>
        </p:nvSpPr>
        <p:spPr>
          <a:xfrm>
            <a:off x="6309360" y="18288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19751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8288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🚆  折射環島搶答</a:t>
            </a:r>
          </a:p>
        </p:txBody>
      </p:sp>
      <p:sp>
        <p:nvSpPr>
          <p:cNvPr id="23" name="Rounded Rectangle 22">
            <a:hlinkClick action="ppaction://hlinksldjump" r:id="rId8"/>
          </p:cNvPr>
          <p:cNvSpPr/>
          <p:nvPr/>
        </p:nvSpPr>
        <p:spPr>
          <a:xfrm>
            <a:off x="6309360" y="27432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28895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7432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📝  學習單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309360" y="36576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10528" y="38039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6576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🏆  結案報告</a:t>
            </a:r>
          </a:p>
        </p:txBody>
      </p:sp>
      <p:sp>
        <p:nvSpPr>
          <p:cNvPr id="29" name="Rounded Rectangle 28">
            <a:hlinkClick r:id="rId10"/>
          </p:cNvPr>
          <p:cNvSpPr/>
          <p:nvPr/>
        </p:nvSpPr>
        <p:spPr>
          <a:xfrm>
            <a:off x="6309360" y="4572000"/>
            <a:ext cx="53949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0528" y="4718304"/>
            <a:ext cx="475488" cy="475488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57200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🌙  謝幕打卡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6355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點任何一列可以直接跳過去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複習：折射偵探守則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為什麼眼睛會被騙？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00" cy="4572000"/>
          </a:xfrm>
          <a:prstGeom prst="rect">
            <a:avLst/>
          </a:prstGeom>
          <a:solidFill>
            <a:srgbClr val="FBF8F2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6400800" cy="2423160"/>
          </a:xfrm>
          <a:prstGeom prst="rect">
            <a:avLst/>
          </a:prstGeom>
          <a:solidFill>
            <a:srgbClr val="CD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3977639"/>
            <a:ext cx="6400800" cy="0"/>
          </a:xfrm>
          <a:prstGeom prst="line">
            <a:avLst/>
          </a:prstGeom>
          <a:ln w="38100">
            <a:solidFill>
              <a:srgbClr val="1F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520440"/>
            <a:ext cx="1097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空氣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1097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水</a:t>
            </a:r>
          </a:p>
        </p:txBody>
      </p:sp>
      <p:sp>
        <p:nvSpPr>
          <p:cNvPr id="11" name="Oval 10"/>
          <p:cNvSpPr/>
          <p:nvPr/>
        </p:nvSpPr>
        <p:spPr>
          <a:xfrm>
            <a:off x="4709159" y="5532120"/>
            <a:ext cx="822960" cy="3657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5468112" y="5532120"/>
            <a:ext cx="320040" cy="365760"/>
          </a:xfrm>
          <a:prstGeom prst="triangl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9436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B85A00"/>
                </a:solidFill>
                <a:latin typeface="微軟正黑體"/>
                <a:ea typeface="微軟正黑體"/>
                <a:cs typeface="微軟正黑體"/>
              </a:rPr>
              <a:t>真的魚</a:t>
            </a:r>
          </a:p>
        </p:txBody>
      </p:sp>
      <p:sp>
        <p:nvSpPr>
          <p:cNvPr id="14" name="Oval 13"/>
          <p:cNvSpPr/>
          <p:nvPr/>
        </p:nvSpPr>
        <p:spPr>
          <a:xfrm>
            <a:off x="1124712" y="2130551"/>
            <a:ext cx="585216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2240279"/>
            <a:ext cx="182880" cy="18288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645919"/>
            <a:ext cx="1280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眼睛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657600" y="3977639"/>
            <a:ext cx="1463040" cy="1737361"/>
          </a:xfrm>
          <a:prstGeom prst="line">
            <a:avLst/>
          </a:prstGeom>
          <a:ln w="889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83280" y="3703320"/>
            <a:ext cx="548640" cy="548640"/>
          </a:xfrm>
          <a:prstGeom prst="ellipse">
            <a:avLst/>
          </a:prstGeom>
          <a:noFill/>
          <a:ln w="50800">
            <a:solidFill>
              <a:srgbClr val="C83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291839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折一下！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645920" y="2496312"/>
            <a:ext cx="2011680" cy="1481327"/>
          </a:xfrm>
          <a:prstGeom prst="line">
            <a:avLst/>
          </a:prstGeom>
          <a:ln w="889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57600" y="3977639"/>
            <a:ext cx="1344168" cy="987553"/>
          </a:xfrm>
          <a:prstGeom prst="line">
            <a:avLst/>
          </a:prstGeom>
          <a:ln w="38100">
            <a:solidFill>
              <a:srgbClr val="C837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681727" y="4828031"/>
            <a:ext cx="822960" cy="365760"/>
          </a:xfrm>
          <a:prstGeom prst="ellipse">
            <a:avLst/>
          </a:prstGeom>
          <a:solidFill>
            <a:srgbClr val="F28C28">
              <a:alpha val="35000"/>
            </a:srgbClr>
          </a:solidFill>
          <a:ln w="25400">
            <a:solidFill>
              <a:srgbClr val="C837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5440679" y="4828031"/>
            <a:ext cx="320040" cy="365760"/>
          </a:xfrm>
          <a:prstGeom prst="triangle">
            <a:avLst/>
          </a:prstGeom>
          <a:solidFill>
            <a:srgbClr val="F28C28">
              <a:alpha val="35000"/>
            </a:srgbClr>
          </a:solidFill>
          <a:ln w="25400">
            <a:solidFill>
              <a:srgbClr val="C837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4325112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看起來的魚</a:t>
            </a:r>
          </a:p>
        </p:txBody>
      </p:sp>
      <p:sp>
        <p:nvSpPr>
          <p:cNvPr id="25" name="Oval 24"/>
          <p:cNvSpPr/>
          <p:nvPr/>
        </p:nvSpPr>
        <p:spPr>
          <a:xfrm>
            <a:off x="7452360" y="1965960"/>
            <a:ext cx="566928" cy="566928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874519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光走直線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2441448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一直往前走</a:t>
            </a:r>
          </a:p>
        </p:txBody>
      </p:sp>
      <p:sp>
        <p:nvSpPr>
          <p:cNvPr id="28" name="Oval 27"/>
          <p:cNvSpPr/>
          <p:nvPr/>
        </p:nvSpPr>
        <p:spPr>
          <a:xfrm>
            <a:off x="7452360" y="3429000"/>
            <a:ext cx="566928" cy="566928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337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碰到水面，折一下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3904487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換個方向，再繼續直直走</a:t>
            </a:r>
          </a:p>
        </p:txBody>
      </p:sp>
      <p:sp>
        <p:nvSpPr>
          <p:cNvPr id="31" name="Oval 30"/>
          <p:cNvSpPr/>
          <p:nvPr/>
        </p:nvSpPr>
        <p:spPr>
          <a:xfrm>
            <a:off x="7452360" y="4892040"/>
            <a:ext cx="566928" cy="566928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80060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眼睛以為光是直直來的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5367528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所以東西看起來「跑位置」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動手做之前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偵探的三個約定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5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水不打翻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93192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打翻了說一聲，用抹布擦乾就好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47472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5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手電筒不照眼睛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只照水、照桌子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011680"/>
            <a:ext cx="347472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19456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5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246120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兩人一組，輪流做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393192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一個人做，一個人看，再交換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623560"/>
            <a:ext cx="12191695" cy="9144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每個實驗都是：先猜 → 動手做 → 改答案（猜錯沒關係，換一張貼紙）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Rectangle 3"/>
          <p:cNvSpPr/>
          <p:nvPr/>
        </p:nvSpPr>
        <p:spPr>
          <a:xfrm rot="21528000">
            <a:off x="557784" y="1005840"/>
            <a:ext cx="6035040" cy="512064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528000">
            <a:off x="502920" y="914400"/>
            <a:ext cx="6035040" cy="5120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w.jpg"/>
          <p:cNvPicPr>
            <a:picLocks noChangeAspect="1"/>
          </p:cNvPicPr>
          <p:nvPr/>
        </p:nvPicPr>
        <p:blipFill>
          <a:blip r:embed="rId3"/>
          <a:srcRect l="16887" r="16887"/>
          <a:stretch>
            <a:fillRect/>
          </a:stretch>
        </p:blipFill>
        <p:spPr>
          <a:xfrm rot="21528000">
            <a:off x="612648" y="1024128"/>
            <a:ext cx="5815583" cy="4901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54864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實驗 1｜先猜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91440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🧋 吸管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417320"/>
            <a:ext cx="48463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吸管放進水裡，</a:t>
            </a: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從旁邊看會怎樣？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246120"/>
            <a:ext cx="480060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78040" y="3442715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246120"/>
            <a:ext cx="3703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在水面看起來斷掉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389120"/>
            <a:ext cx="480060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458571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89120"/>
            <a:ext cx="3703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還是直直的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200400"/>
            <a:ext cx="4892040" cy="1051560"/>
          </a:xfrm>
          <a:prstGeom prst="roundRect">
            <a:avLst>
              <a:gd name="adj" fmla="val 18000"/>
            </a:avLst>
          </a:prstGeom>
          <a:noFill/>
          <a:ln w="63500">
            <a:solidFill>
              <a:srgbClr val="2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8560" y="2971800"/>
            <a:ext cx="685800" cy="685800"/>
          </a:xfrm>
          <a:prstGeom prst="ellipse">
            <a:avLst/>
          </a:prstGeom>
          <a:solidFill>
            <a:srgbClr val="2F8A4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562356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動手做看看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實驗 1｜動手做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吸管斷掉了嗎？</a:t>
            </a:r>
          </a:p>
        </p:txBody>
      </p:sp>
      <p:sp>
        <p:nvSpPr>
          <p:cNvPr id="6" name="Rectangle 5"/>
          <p:cNvSpPr/>
          <p:nvPr/>
        </p:nvSpPr>
        <p:spPr>
          <a:xfrm rot="21510000">
            <a:off x="694944" y="1920240"/>
            <a:ext cx="3474720" cy="24688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10000">
            <a:off x="640080" y="182880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lass.jpg"/>
          <p:cNvPicPr>
            <a:picLocks noChangeAspect="1"/>
          </p:cNvPicPr>
          <p:nvPr/>
        </p:nvPicPr>
        <p:blipFill>
          <a:blip r:embed="rId3"/>
          <a:srcRect l="9615" r="9615"/>
          <a:stretch>
            <a:fillRect/>
          </a:stretch>
        </p:blipFill>
        <p:spPr>
          <a:xfrm rot="21510000">
            <a:off x="749808" y="1938528"/>
            <a:ext cx="3255263" cy="224942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02919" y="1645920"/>
            <a:ext cx="640080" cy="640080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杯子倒水到一半</a:t>
            </a:r>
          </a:p>
        </p:txBody>
      </p:sp>
      <p:sp>
        <p:nvSpPr>
          <p:cNvPr id="11" name="Rectangle 10"/>
          <p:cNvSpPr/>
          <p:nvPr/>
        </p:nvSpPr>
        <p:spPr>
          <a:xfrm rot="60000">
            <a:off x="4443983" y="1920240"/>
            <a:ext cx="3474720" cy="24688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60000">
            <a:off x="4389120" y="182880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raw.jpg"/>
          <p:cNvPicPr>
            <a:picLocks noChangeAspect="1"/>
          </p:cNvPicPr>
          <p:nvPr/>
        </p:nvPicPr>
        <p:blipFill>
          <a:blip r:embed="rId4"/>
          <a:srcRect l="9615" r="9615"/>
          <a:stretch>
            <a:fillRect/>
          </a:stretch>
        </p:blipFill>
        <p:spPr>
          <a:xfrm rot="60000">
            <a:off x="4498848" y="1938528"/>
            <a:ext cx="3255263" cy="2249424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251959" y="1645920"/>
            <a:ext cx="640080" cy="640080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348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吸管斜斜放進去</a:t>
            </a:r>
          </a:p>
        </p:txBody>
      </p:sp>
      <p:sp>
        <p:nvSpPr>
          <p:cNvPr id="16" name="Rectangle 15"/>
          <p:cNvSpPr/>
          <p:nvPr/>
        </p:nvSpPr>
        <p:spPr>
          <a:xfrm rot="21540000">
            <a:off x="8193023" y="1920240"/>
            <a:ext cx="3474720" cy="24688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540000">
            <a:off x="8138159" y="182880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_straw.png"/>
          <p:cNvPicPr>
            <a:picLocks noChangeAspect="1"/>
          </p:cNvPicPr>
          <p:nvPr/>
        </p:nvPicPr>
        <p:blipFill>
          <a:blip r:embed="rId5"/>
          <a:srcRect l="9299" r="9299"/>
          <a:stretch>
            <a:fillRect/>
          </a:stretch>
        </p:blipFill>
        <p:spPr>
          <a:xfrm rot="21540000">
            <a:off x="8247887" y="1938528"/>
            <a:ext cx="3255263" cy="2249424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000999" y="1645920"/>
            <a:ext cx="640080" cy="640080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44348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蹲低，從旁邊看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66928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看起來在水面斷掉——拿出來還是直的！光在水面折一下。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Rectangle 3"/>
          <p:cNvSpPr/>
          <p:nvPr/>
        </p:nvSpPr>
        <p:spPr>
          <a:xfrm rot="21528000">
            <a:off x="557784" y="1005840"/>
            <a:ext cx="6035040" cy="512064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528000">
            <a:off x="502920" y="914400"/>
            <a:ext cx="6035040" cy="5120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owl-empty.jpg"/>
          <p:cNvPicPr>
            <a:picLocks noChangeAspect="1"/>
          </p:cNvPicPr>
          <p:nvPr/>
        </p:nvPicPr>
        <p:blipFill>
          <a:blip r:embed="rId3"/>
          <a:srcRect l="16886" r="16886"/>
          <a:stretch>
            <a:fillRect/>
          </a:stretch>
        </p:blipFill>
        <p:spPr>
          <a:xfrm rot="21528000">
            <a:off x="612648" y="1024128"/>
            <a:ext cx="5815583" cy="4901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54864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實驗 2｜先猜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91440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🪙 硬幣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417320"/>
            <a:ext cx="48463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退到剛好看不到硬幣，</a:t>
            </a: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倒水以後呢？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246120"/>
            <a:ext cx="480060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78040" y="3442715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246120"/>
            <a:ext cx="3703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看得到了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389120"/>
            <a:ext cx="480060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458571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89120"/>
            <a:ext cx="37033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還是看不到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200400"/>
            <a:ext cx="4892040" cy="1051560"/>
          </a:xfrm>
          <a:prstGeom prst="roundRect">
            <a:avLst>
              <a:gd name="adj" fmla="val 18000"/>
            </a:avLst>
          </a:prstGeom>
          <a:noFill/>
          <a:ln w="63500">
            <a:solidFill>
              <a:srgbClr val="2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8560" y="2971800"/>
            <a:ext cx="685800" cy="685800"/>
          </a:xfrm>
          <a:prstGeom prst="ellipse">
            <a:avLst/>
          </a:prstGeom>
          <a:solidFill>
            <a:srgbClr val="2F8A4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562356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動手做看看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實驗 2｜動手做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硬幣浮上來了！？</a:t>
            </a:r>
          </a:p>
        </p:txBody>
      </p:sp>
      <p:sp>
        <p:nvSpPr>
          <p:cNvPr id="6" name="Rectangle 5"/>
          <p:cNvSpPr/>
          <p:nvPr/>
        </p:nvSpPr>
        <p:spPr>
          <a:xfrm rot="21510000">
            <a:off x="694944" y="1920240"/>
            <a:ext cx="3474720" cy="24688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10000">
            <a:off x="640080" y="182880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wl-empty.jpg"/>
          <p:cNvPicPr>
            <a:picLocks noChangeAspect="1"/>
          </p:cNvPicPr>
          <p:nvPr/>
        </p:nvPicPr>
        <p:blipFill>
          <a:blip r:embed="rId3"/>
          <a:srcRect l="9614" r="9614"/>
          <a:stretch>
            <a:fillRect/>
          </a:stretch>
        </p:blipFill>
        <p:spPr>
          <a:xfrm rot="21510000">
            <a:off x="749808" y="1938528"/>
            <a:ext cx="3255263" cy="224942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02919" y="1645920"/>
            <a:ext cx="640080" cy="640080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硬幣放碗底，慢慢往後退，退到剛好看不到</a:t>
            </a:r>
          </a:p>
        </p:txBody>
      </p:sp>
      <p:sp>
        <p:nvSpPr>
          <p:cNvPr id="11" name="Rectangle 10"/>
          <p:cNvSpPr/>
          <p:nvPr/>
        </p:nvSpPr>
        <p:spPr>
          <a:xfrm rot="60000">
            <a:off x="4443983" y="1920240"/>
            <a:ext cx="3474720" cy="24688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60000">
            <a:off x="4389120" y="182880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in.jpg"/>
          <p:cNvPicPr>
            <a:picLocks noChangeAspect="1"/>
          </p:cNvPicPr>
          <p:nvPr/>
        </p:nvPicPr>
        <p:blipFill>
          <a:blip r:embed="rId4"/>
          <a:srcRect l="9615" r="9615"/>
          <a:stretch>
            <a:fillRect/>
          </a:stretch>
        </p:blipFill>
        <p:spPr>
          <a:xfrm rot="60000">
            <a:off x="4498848" y="1938528"/>
            <a:ext cx="3255263" cy="2249424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251959" y="1645920"/>
            <a:ext cx="640080" cy="640080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348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眼睛不動，同學慢慢倒水</a:t>
            </a:r>
          </a:p>
        </p:txBody>
      </p:sp>
      <p:sp>
        <p:nvSpPr>
          <p:cNvPr id="16" name="Rectangle 15"/>
          <p:cNvSpPr/>
          <p:nvPr/>
        </p:nvSpPr>
        <p:spPr>
          <a:xfrm rot="21540000">
            <a:off x="8193023" y="1920240"/>
            <a:ext cx="3474720" cy="24688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540000">
            <a:off x="8138159" y="182880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_coin.png"/>
          <p:cNvPicPr>
            <a:picLocks noChangeAspect="1"/>
          </p:cNvPicPr>
          <p:nvPr/>
        </p:nvPicPr>
        <p:blipFill>
          <a:blip r:embed="rId5"/>
          <a:srcRect l="9299" r="9299"/>
          <a:stretch>
            <a:fillRect/>
          </a:stretch>
        </p:blipFill>
        <p:spPr>
          <a:xfrm rot="21540000">
            <a:off x="8247887" y="1938528"/>
            <a:ext cx="3255263" cy="2249424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000999" y="1645920"/>
            <a:ext cx="640080" cy="640080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44348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看到了！硬幣「浮」上來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66928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硬幣沒有動！光在水面折一下，硬幣看起來變高了。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實驗 3｜老師示範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看見光「折一下」</a:t>
            </a:r>
          </a:p>
        </p:txBody>
      </p:sp>
      <p:sp>
        <p:nvSpPr>
          <p:cNvPr id="6" name="Rectangle 5"/>
          <p:cNvSpPr/>
          <p:nvPr/>
        </p:nvSpPr>
        <p:spPr>
          <a:xfrm rot="21540000">
            <a:off x="694944" y="1920240"/>
            <a:ext cx="5120640" cy="329184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40000">
            <a:off x="640080" y="1828800"/>
            <a:ext cx="51206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am.jpg"/>
          <p:cNvPicPr>
            <a:picLocks noChangeAspect="1"/>
          </p:cNvPicPr>
          <p:nvPr/>
        </p:nvPicPr>
        <p:blipFill>
          <a:blip r:embed="rId3"/>
          <a:srcRect l="5482" r="5482"/>
          <a:stretch>
            <a:fillRect/>
          </a:stretch>
        </p:blipFill>
        <p:spPr>
          <a:xfrm rot="21540000">
            <a:off x="749808" y="1938528"/>
            <a:ext cx="4901183" cy="307238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09360" y="1993392"/>
            <a:ext cx="548640" cy="54864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920240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關燈前，老師說「3、2、1」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953512"/>
            <a:ext cx="548640" cy="54864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手電筒斜斜照進加了牛奶的水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3913632"/>
            <a:ext cx="548640" cy="54864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840480"/>
            <a:ext cx="47548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看光在水面怎麼走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84632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光是「彎彎地轉彎」，還是「折一下」？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4206240" cy="50292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實驗 3｜證據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11490"/>
            <a:ext cx="5257668" cy="2788871"/>
          </a:xfrm>
          <a:prstGeom prst="line">
            <a:avLst/>
          </a:prstGeom>
          <a:ln w="101600">
            <a:solidFill>
              <a:srgbClr val="FFF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57668" y="2800361"/>
            <a:ext cx="3505112" cy="3642296"/>
          </a:xfrm>
          <a:prstGeom prst="line">
            <a:avLst/>
          </a:prstGeom>
          <a:ln w="101600">
            <a:solidFill>
              <a:srgbClr val="FFF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754748" y="2297441"/>
            <a:ext cx="1005840" cy="1005840"/>
          </a:xfrm>
          <a:prstGeom prst="ellipse">
            <a:avLst/>
          </a:prstGeom>
          <a:noFill/>
          <a:ln w="63500">
            <a:solidFill>
              <a:srgbClr val="FF3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9649" y="3242306"/>
            <a:ext cx="2560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600" b="1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折一下！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光走直線，碰到水面折一下，再繼續直直走。</a:t>
            </a:r>
          </a:p>
          <a:p>
            <a:pPr algn="l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不是彎彎地轉彎喔！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闖關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光線小鎮・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折射任務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吸管、福德祠硬幣、游泳池、竹東溪撈魚、一滴水——把剛剛做的實驗，搬到竹東街上！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出發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u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生活案件整理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四個案件，同一個原因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26060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raw.jpg"/>
          <p:cNvPicPr>
            <a:picLocks noChangeAspect="1"/>
          </p:cNvPicPr>
          <p:nvPr/>
        </p:nvPicPr>
        <p:blipFill>
          <a:blip r:embed="rId3"/>
          <a:srcRect l="4478" r="4478"/>
          <a:stretch>
            <a:fillRect/>
          </a:stretch>
        </p:blipFill>
        <p:spPr>
          <a:xfrm>
            <a:off x="749808" y="1892807"/>
            <a:ext cx="2386584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4290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吸管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看起來：看起來斷掉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其實：其實是直的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26060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ol.jpg"/>
          <p:cNvPicPr>
            <a:picLocks noChangeAspect="1"/>
          </p:cNvPicPr>
          <p:nvPr/>
        </p:nvPicPr>
        <p:blipFill>
          <a:blip r:embed="rId4"/>
          <a:srcRect l="4478" r="4478"/>
          <a:stretch>
            <a:fillRect/>
          </a:stretch>
        </p:blipFill>
        <p:spPr>
          <a:xfrm>
            <a:off x="3538728" y="1892807"/>
            <a:ext cx="2386584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66160" y="34290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游泳池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93192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看起來：看起來很淺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70916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其實：其實比較深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26060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et.jpg"/>
          <p:cNvPicPr>
            <a:picLocks noChangeAspect="1"/>
          </p:cNvPicPr>
          <p:nvPr/>
        </p:nvPicPr>
        <p:blipFill>
          <a:blip r:embed="rId5"/>
          <a:srcRect l="4478" r="4478"/>
          <a:stretch>
            <a:fillRect/>
          </a:stretch>
        </p:blipFill>
        <p:spPr>
          <a:xfrm>
            <a:off x="6327648" y="1892807"/>
            <a:ext cx="2386584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34290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撈魚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3192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看起來：魚看起來比較高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0916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其實：其實在更深的地方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39" y="1783080"/>
            <a:ext cx="26060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rop.jpg"/>
          <p:cNvPicPr>
            <a:picLocks noChangeAspect="1"/>
          </p:cNvPicPr>
          <p:nvPr/>
        </p:nvPicPr>
        <p:blipFill>
          <a:blip r:embed="rId6"/>
          <a:srcRect l="4478" r="4478"/>
          <a:stretch>
            <a:fillRect/>
          </a:stretch>
        </p:blipFill>
        <p:spPr>
          <a:xfrm>
            <a:off x="9116567" y="1892807"/>
            <a:ext cx="2386584" cy="1463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3999" y="34290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一滴水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393192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看起來：字看起來變大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470916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其實：水滴讓光換方向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光走直線，碰到水面折一下——眼睛就被騙了！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搶答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折射環島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紅隊、藍隊搶答，答對就把這一站變成你們隊的顏色！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開始搶答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寫寫看</a:t>
            </a:r>
          </a:p>
        </p:txBody>
      </p:sp>
      <p:sp>
        <p:nvSpPr>
          <p:cNvPr id="5" name="Rectangle 4"/>
          <p:cNvSpPr/>
          <p:nvPr/>
        </p:nvSpPr>
        <p:spPr>
          <a:xfrm rot="21450000">
            <a:off x="877824" y="914400"/>
            <a:ext cx="4206240" cy="576072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50000">
            <a:off x="822960" y="822960"/>
            <a:ext cx="4206240" cy="5760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_r3.png"/>
          <p:cNvPicPr>
            <a:picLocks noChangeAspect="1"/>
          </p:cNvPicPr>
          <p:nvPr/>
        </p:nvPicPr>
        <p:blipFill>
          <a:blip r:embed="rId3"/>
          <a:srcRect t="1048" b="1048"/>
          <a:stretch>
            <a:fillRect/>
          </a:stretch>
        </p:blipFill>
        <p:spPr>
          <a:xfrm rot="21450000">
            <a:off x="896112" y="896112"/>
            <a:ext cx="4059935" cy="56144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868680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學習單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8" y="1691640"/>
            <a:ext cx="5852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看照片，想想剛剛做的實驗：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5146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5146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🔵 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146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圈出看起來的樣子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4290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4290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🟠 進階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4290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寫出「光在水面折一下」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3434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⭐ 挑戰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3434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說一個生活裡的折射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5760720" y="5577840"/>
            <a:ext cx="2926080" cy="68580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📄  打開學習單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結案報告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說說看：今天學到什麼？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光走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4832" y="321868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直線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7744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，碰到水面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9712" y="3218688"/>
            <a:ext cx="213969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7744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折一下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37744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吸管看起來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0752" y="454456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斷掉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70332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硬幣看起來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0752" y="5870448"/>
            <a:ext cx="213969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502920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浮上來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5" grpId="0" animBg="1"/>
      <p:bldP spid="1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0880000">
            <a:off x="8503920" y="1097280"/>
            <a:ext cx="2560320" cy="2560320"/>
          </a:xfrm>
          <a:prstGeom prst="ellipse">
            <a:avLst/>
          </a:prstGeom>
          <a:noFill/>
          <a:ln w="101600">
            <a:solidFill>
              <a:srgbClr val="FF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5A5A"/>
                </a:solidFill>
                <a:latin typeface="微軟正黑體"/>
                <a:ea typeface="微軟正黑體"/>
                <a:cs typeface="微軟正黑體"/>
              </a:rPr>
              <a:t>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折射偵探，結案！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>
                <a:solidFill>
                  <a:srgbClr val="FFE9A8"/>
                </a:solidFill>
                <a:latin typeface="微軟正黑體"/>
                <a:ea typeface="微軟正黑體"/>
                <a:cs typeface="微軟正黑體"/>
              </a:rPr>
              <a:t>下一站：用透鏡讓光換方向。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777240" y="4389120"/>
            <a:ext cx="3108960" cy="731520"/>
          </a:xfrm>
          <a:prstGeom prst="roundRect">
            <a:avLst>
              <a:gd name="adj" fmla="val 30000"/>
            </a:avLst>
          </a:prstGeom>
          <a:solidFill>
            <a:srgbClr val="FFE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🎵  MV 全班合唱</a:t>
            </a:r>
          </a:p>
        </p:txBody>
      </p:sp>
      <p:sp>
        <p:nvSpPr>
          <p:cNvPr id="10" name="Rounded Rectangle 9">
            <a:hlinkClick r:id="rId5"/>
          </p:cNvPr>
          <p:cNvSpPr/>
          <p:nvPr/>
        </p:nvSpPr>
        <p:spPr>
          <a:xfrm>
            <a:off x="4114800" y="4389120"/>
            <a:ext cx="292608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🌙  謝幕打卡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4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2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