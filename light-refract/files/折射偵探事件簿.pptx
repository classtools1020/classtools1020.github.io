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ra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2596896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CASE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折射偵探事件簿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懸案：吸管真的斷了嗎？</a:t>
            </a:r>
          </a:p>
        </p:txBody>
      </p:sp>
      <p:pic>
        <p:nvPicPr>
          <p:cNvPr id="9" name="Picture 8" descr="koko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偵探們！上次的懸案還沒破，跟我來！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ra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線索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從旁邊看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水裡的吸管，怎麼了？</a:t>
            </a:r>
          </a:p>
        </p:txBody>
      </p:sp>
      <p:pic>
        <p:nvPicPr>
          <p:cNvPr id="9" name="Picture 8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眼睛靠近一點，仔細看……</a:t>
            </a:r>
          </a:p>
        </p:txBody>
      </p:sp>
      <p:sp>
        <p:nvSpPr>
          <p:cNvPr id="11" name="Oval 10"/>
          <p:cNvSpPr/>
          <p:nvPr/>
        </p:nvSpPr>
        <p:spPr>
          <a:xfrm>
            <a:off x="7391192" y="2042935"/>
            <a:ext cx="1828800" cy="1225296"/>
          </a:xfrm>
          <a:prstGeom prst="ellipse">
            <a:avLst/>
          </a:prstGeom>
          <a:noFill/>
          <a:ln w="63500">
            <a:solidFill>
              <a:srgbClr val="FF3F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看起來——斷掉了！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哇！真的歪掉了！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la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線索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拿出來看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把吸管拿出來呢？</a:t>
            </a:r>
          </a:p>
        </p:txBody>
      </p:sp>
      <p:pic>
        <p:nvPicPr>
          <p:cNvPr id="9" name="Picture 8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慢慢拿出來——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直直的，根本沒斷！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吸管沒壞！那是誰在騙我們？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ra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線索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斷在哪裡？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斷掉的地方，剛好在哪一條線上？</a:t>
            </a:r>
          </a:p>
        </p:txBody>
      </p:sp>
      <p:pic>
        <p:nvPicPr>
          <p:cNvPr id="9" name="Picture 8" descr="koko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用手指指給我看！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19649" y="2655583"/>
            <a:ext cx="4800480" cy="0"/>
          </a:xfrm>
          <a:prstGeom prst="line">
            <a:avLst/>
          </a:prstGeom>
          <a:ln w="88900">
            <a:solidFill>
              <a:srgbClr val="2CE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881074" y="1962170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600" b="1">
                <a:ln w="31750">
                  <a:solidFill>
                    <a:srgbClr val="000000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空氣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074" y="2876554"/>
            <a:ext cx="10972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600" b="1">
                <a:ln w="31750">
                  <a:solidFill>
                    <a:srgbClr val="000000"/>
                  </a:solidFill>
                </a:ln>
                <a:solidFill>
                  <a:srgbClr val="9FE3FF"/>
                </a:solidFill>
                <a:latin typeface="微軟正黑體"/>
                <a:ea typeface="微軟正黑體"/>
                <a:cs typeface="微軟正黑體"/>
              </a:rPr>
              <a:t>水</a:t>
            </a:r>
          </a:p>
        </p:txBody>
      </p:sp>
      <p:sp>
        <p:nvSpPr>
          <p:cNvPr id="14" name="Oval 13"/>
          <p:cNvSpPr/>
          <p:nvPr/>
        </p:nvSpPr>
        <p:spPr>
          <a:xfrm>
            <a:off x="7391192" y="2042935"/>
            <a:ext cx="1828800" cy="1225296"/>
          </a:xfrm>
          <a:prstGeom prst="ellipse">
            <a:avLst/>
          </a:prstGeom>
          <a:noFill/>
          <a:ln w="63500">
            <a:solidFill>
              <a:srgbClr val="FF3F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水面！空氣和水的交界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就是這條線！犯人躲在這裡！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規則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光怎麼走？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在同一種東西裡，光怎麼走？</a:t>
            </a:r>
          </a:p>
        </p:txBody>
      </p:sp>
      <p:pic>
        <p:nvPicPr>
          <p:cNvPr id="9" name="Picture 8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還記得任務一嗎？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直直走！（走直線）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舞台燈的光，一條一條都是直線！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s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規則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碰到水面呢？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這是真的雷射照進水裡</a:t>
            </a:r>
          </a:p>
        </p:txBody>
      </p:sp>
      <p:pic>
        <p:nvPicPr>
          <p:cNvPr id="9" name="Picture 8" descr="koko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看那條綠色的光——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11490"/>
            <a:ext cx="5257668" cy="2788871"/>
          </a:xfrm>
          <a:prstGeom prst="line">
            <a:avLst/>
          </a:prstGeom>
          <a:ln w="101600">
            <a:solidFill>
              <a:srgbClr val="FFF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257668" y="2800361"/>
            <a:ext cx="3505112" cy="3642296"/>
          </a:xfrm>
          <a:prstGeom prst="line">
            <a:avLst/>
          </a:prstGeom>
          <a:ln w="101600">
            <a:solidFill>
              <a:srgbClr val="FFF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754748" y="2297441"/>
            <a:ext cx="1005840" cy="1005840"/>
          </a:xfrm>
          <a:prstGeom prst="ellipse">
            <a:avLst/>
          </a:prstGeom>
          <a:noFill/>
          <a:ln w="63500">
            <a:solidFill>
              <a:srgbClr val="FF3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9649" y="3242306"/>
            <a:ext cx="25603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600" b="1">
                <a:ln w="38100">
                  <a:solidFill>
                    <a:srgbClr val="FF3FB0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折一下！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在水面「折一下」，再繼續直直走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直線→折一下→直線！不是彎彎的喔！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reet.jpg"/>
          <p:cNvPicPr>
            <a:picLocks noChangeAspect="1"/>
          </p:cNvPicPr>
          <p:nvPr/>
        </p:nvPicPr>
        <p:blipFill>
          <a:blip r:embed="rId2"/>
          <a:srcRect l="25000" r="25000"/>
          <a:stretch>
            <a:fillRect/>
          </a:stretch>
        </p:blipFill>
        <p:spPr>
          <a:xfrm>
            <a:off x="0" y="26729"/>
            <a:ext cx="6095847" cy="6804540"/>
          </a:xfrm>
          <a:prstGeom prst="rect">
            <a:avLst/>
          </a:prstGeom>
        </p:spPr>
      </p:pic>
      <p:pic>
        <p:nvPicPr>
          <p:cNvPr id="3" name="Picture 2" descr="beach.jpg"/>
          <p:cNvPicPr>
            <a:picLocks noChangeAspect="1"/>
          </p:cNvPicPr>
          <p:nvPr/>
        </p:nvPicPr>
        <p:blipFill>
          <a:blip r:embed="rId3"/>
          <a:srcRect l="25000" r="25000"/>
          <a:stretch>
            <a:fillRect/>
          </a:stretch>
        </p:blipFill>
        <p:spPr>
          <a:xfrm>
            <a:off x="6095847" y="26729"/>
            <a:ext cx="6095847" cy="68045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為什麼？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柏油路 vs 沙灘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在哪裡跑比較快？</a:t>
            </a:r>
          </a:p>
        </p:txBody>
      </p:sp>
      <p:pic>
        <p:nvPicPr>
          <p:cNvPr id="11" name="Picture 10" descr="koko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2" name="Rounded Rectangular Callout 11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你在沙灘跑過步嗎？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光在空氣跑得快，進到水裡變慢了！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速度一變，方向就換了！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ea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身體實驗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換你們當光！</a:t>
            </a:r>
          </a:p>
        </p:txBody>
      </p:sp>
      <p:pic>
        <p:nvPicPr>
          <p:cNvPr id="9" name="Picture 8" descr="koko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按「揭曉」一條一條出現！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600200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① 兩位偵探手牽手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441448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② 斜斜地走向巧拼「沙灘」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282696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③ 先踩到沙灘的人——變慢！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4123944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④ 看！隊伍的方向換了！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3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rror.jpg"/>
          <p:cNvPicPr>
            <a:picLocks noChangeAspect="1"/>
          </p:cNvPicPr>
          <p:nvPr/>
        </p:nvPicPr>
        <p:blipFill>
          <a:blip r:embed="rId2"/>
          <a:srcRect l="25000" r="25000"/>
          <a:stretch>
            <a:fillRect/>
          </a:stretch>
        </p:blipFill>
        <p:spPr>
          <a:xfrm>
            <a:off x="0" y="26729"/>
            <a:ext cx="6095847" cy="6804540"/>
          </a:xfrm>
          <a:prstGeom prst="rect">
            <a:avLst/>
          </a:prstGeom>
        </p:spPr>
      </p:pic>
      <p:pic>
        <p:nvPicPr>
          <p:cNvPr id="3" name="Picture 2" descr="laser.jpg"/>
          <p:cNvPicPr>
            <a:picLocks noChangeAspect="1"/>
          </p:cNvPicPr>
          <p:nvPr/>
        </p:nvPicPr>
        <p:blipFill>
          <a:blip r:embed="rId3"/>
          <a:srcRect l="25000" r="25000"/>
          <a:stretch>
            <a:fillRect/>
          </a:stretch>
        </p:blipFill>
        <p:spPr>
          <a:xfrm>
            <a:off x="6095847" y="26729"/>
            <a:ext cx="6095847" cy="68045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095847" y="0"/>
            <a:ext cx="0" cy="685800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8288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分清楚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反射 vs 折射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光碰到鏡子 vs 碰到水面</a:t>
            </a:r>
          </a:p>
        </p:txBody>
      </p:sp>
      <p:pic>
        <p:nvPicPr>
          <p:cNvPr id="11" name="Picture 10" descr="koko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2" name="Rounded Rectangular Callout 11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這兩個很像，偵探要分清楚！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鏡子：彈回來＝反射　水面：穿進去、折一下＝折射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彈回來是反射，穿進去是折射！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s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破案！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這個魔法的名字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11460175" cy="2103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0" b="1">
                <a:ln w="63500">
                  <a:solidFill>
                    <a:srgbClr val="FF3FB0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折射</a:t>
            </a:r>
          </a:p>
        </p:txBody>
      </p:sp>
      <p:pic>
        <p:nvPicPr>
          <p:cNvPr id="10" name="Picture 9" descr="koko_w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1" name="Rounded Rectangular Callout 10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折，就是「折一下」的折！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光碰到水面「折一下」＝ 折射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跟我念三次：折——射！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30"/>
                            </p:stCondLst>
                            <p:childTnLst>
                              <p:par>
                                <p:cTn id="21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3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ra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真相大白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眼睛為什麼被騙？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大腦以為光一直走直線……</a:t>
            </a:r>
          </a:p>
        </p:txBody>
      </p:sp>
      <p:pic>
        <p:nvPicPr>
          <p:cNvPr id="9" name="Picture 8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光在水面折了一下，大腦卻不知道！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315017" y="2655583"/>
            <a:ext cx="495287" cy="2705053"/>
          </a:xfrm>
          <a:prstGeom prst="line">
            <a:avLst/>
          </a:prstGeom>
          <a:ln w="101600">
            <a:solidFill>
              <a:srgbClr val="FFF2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55756" y="4629124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400" b="1">
                <a:ln w="31750">
                  <a:solidFill>
                    <a:srgbClr val="000000"/>
                  </a:solidFill>
                </a:ln>
                <a:solidFill>
                  <a:srgbClr val="FFF27A"/>
                </a:solidFill>
                <a:latin typeface="微軟正黑體"/>
                <a:ea typeface="微軟正黑體"/>
                <a:cs typeface="微軟正黑體"/>
              </a:rPr>
              <a:t>真的位置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991375" y="3608066"/>
            <a:ext cx="0" cy="685788"/>
          </a:xfrm>
          <a:prstGeom prst="line">
            <a:avLst/>
          </a:prstGeom>
          <a:ln w="76200">
            <a:solidFill>
              <a:srgbClr val="FF3F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945626" y="3714740"/>
            <a:ext cx="23774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ln w="31750">
                  <a:solidFill>
                    <a:srgbClr val="FF3FB0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看起來被抬高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42316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所以把水裡的吸管算「高」了 → 看起來斷掉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吸管沒斷，是大腦算錯了位置！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w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魔術預測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消失的硬幣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倒水之後，看得到碗裡的硬幣嗎？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743200"/>
            <a:ext cx="3291840" cy="1234440"/>
          </a:xfrm>
          <a:prstGeom prst="roundRect">
            <a:avLst>
              <a:gd name="adj" fmla="val 25000"/>
            </a:avLst>
          </a:prstGeom>
          <a:solidFill>
            <a:srgbClr val="1F8FD0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👀 看得到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3291840" cy="1234440"/>
          </a:xfrm>
          <a:prstGeom prst="roundRect">
            <a:avLst>
              <a:gd name="adj" fmla="val 25000"/>
            </a:avLst>
          </a:prstGeom>
          <a:solidFill>
            <a:srgbClr val="D0306F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🙈 看不到</a:t>
            </a:r>
          </a:p>
        </p:txBody>
      </p:sp>
      <p:pic>
        <p:nvPicPr>
          <p:cNvPr id="11" name="Picture 10" descr="koko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2" name="Rounded Rectangular Callout 11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先猜！猜錯沒關係～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6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10"/>
                            </p:stCondLst>
                            <p:childTnLst>
                              <p:par>
                                <p:cTn id="32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1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ow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實驗時間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眼睛不要動！</a:t>
            </a:r>
          </a:p>
        </p:txBody>
      </p:sp>
      <p:pic>
        <p:nvPicPr>
          <p:cNvPr id="9" name="Picture 8" descr="koko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準備好就按倒數！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600200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① 一位偵探坐到前面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441448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② 眼睛和碗邊一樣高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282696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③ 看不到硬幣就停住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4123944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④ 老師慢慢倒水……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3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揭曉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硬幣浮上來了！？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硬幣有動嗎？</a:t>
            </a:r>
          </a:p>
        </p:txBody>
      </p:sp>
      <p:pic>
        <p:nvPicPr>
          <p:cNvPr id="9" name="Picture 8" descr="koko_w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硬幣自己浮上來了！？</a:t>
            </a:r>
          </a:p>
        </p:txBody>
      </p:sp>
      <p:sp>
        <p:nvSpPr>
          <p:cNvPr id="11" name="Oval 10"/>
          <p:cNvSpPr/>
          <p:nvPr/>
        </p:nvSpPr>
        <p:spPr>
          <a:xfrm>
            <a:off x="6354902" y="4379193"/>
            <a:ext cx="1463040" cy="438912"/>
          </a:xfrm>
          <a:prstGeom prst="ellipse">
            <a:avLst/>
          </a:prstGeom>
          <a:noFill/>
          <a:ln w="63500">
            <a:solidFill>
              <a:srgbClr val="FFF2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142" y="4872969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400" b="1">
                <a:ln w="31750">
                  <a:solidFill>
                    <a:srgbClr val="000000"/>
                  </a:solidFill>
                </a:ln>
                <a:solidFill>
                  <a:srgbClr val="FFF27A"/>
                </a:solidFill>
                <a:latin typeface="微軟正黑體"/>
                <a:ea typeface="微軟正黑體"/>
                <a:cs typeface="微軟正黑體"/>
              </a:rPr>
              <a:t>真的位置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229394" y="3836662"/>
            <a:ext cx="0" cy="761987"/>
          </a:xfrm>
          <a:prstGeom prst="line">
            <a:avLst/>
          </a:prstGeom>
          <a:ln w="76200">
            <a:solidFill>
              <a:srgbClr val="FF3F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92205" y="3714740"/>
            <a:ext cx="25603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ln w="31750">
                  <a:solidFill>
                    <a:srgbClr val="FF3FB0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看起來的位置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242316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沒有！光在水面折一下，把硬幣「抬高」了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魔術師就是——折射！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1463040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挑戰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筷子撈硬幣</a:t>
            </a:r>
          </a:p>
        </p:txBody>
      </p:sp>
      <p:pic>
        <p:nvPicPr>
          <p:cNvPr id="9" name="Picture 8" descr="koko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不能試探，一次夾下去！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600200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硬幣「看起來」在這裡……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441448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真的位置更深一點！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282696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往下、往前一點再夾！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3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514537" y="2541285"/>
            <a:ext cx="0" cy="1447775"/>
          </a:xfrm>
          <a:prstGeom prst="line">
            <a:avLst/>
          </a:prstGeom>
          <a:ln w="114300">
            <a:solidFill>
              <a:srgbClr val="FFE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83017" y="1924071"/>
            <a:ext cx="14630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400" b="1">
                <a:ln w="31750">
                  <a:solidFill>
                    <a:srgbClr val="000000"/>
                  </a:solidFill>
                </a:ln>
                <a:solidFill>
                  <a:srgbClr val="FFE14D"/>
                </a:solidFill>
                <a:latin typeface="微軟正黑體"/>
                <a:ea typeface="微軟正黑體"/>
                <a:cs typeface="微軟正黑體"/>
              </a:rPr>
              <a:t>看起來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82880"/>
            <a:ext cx="2304288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生活案件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游泳池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看起來淺淺的，真的淺嗎？</a:t>
            </a:r>
          </a:p>
        </p:txBody>
      </p:sp>
      <p:pic>
        <p:nvPicPr>
          <p:cNvPr id="11" name="Picture 10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2" name="Rounded Rectangular Callout 11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池底看起來好近喔……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81310" y="2541285"/>
            <a:ext cx="0" cy="3276543"/>
          </a:xfrm>
          <a:prstGeom prst="line">
            <a:avLst/>
          </a:prstGeom>
          <a:ln w="127000">
            <a:solidFill>
              <a:srgbClr val="FF3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41230" y="1924071"/>
            <a:ext cx="12801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400" b="1">
                <a:ln w="31750">
                  <a:solidFill>
                    <a:srgbClr val="000000"/>
                  </a:solidFill>
                </a:ln>
                <a:solidFill>
                  <a:srgbClr val="FF8FA8"/>
                </a:solidFill>
                <a:latin typeface="微軟正黑體"/>
                <a:ea typeface="微軟正黑體"/>
                <a:cs typeface="微軟正黑體"/>
              </a:rPr>
              <a:t>真的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不是！其實更深！先看深度、大人在旁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看起來淺，其實更深！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2304288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生活案件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溪邊撈魚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魚看起來在這裡，網子要往哪撈？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2743200"/>
            <a:ext cx="3291840" cy="1234440"/>
          </a:xfrm>
          <a:prstGeom prst="roundRect">
            <a:avLst>
              <a:gd name="adj" fmla="val 25000"/>
            </a:avLst>
          </a:prstGeom>
          <a:solidFill>
            <a:srgbClr val="1F8FD0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⬆ 看到的地方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3291840" cy="1234440"/>
          </a:xfrm>
          <a:prstGeom prst="roundRect">
            <a:avLst>
              <a:gd name="adj" fmla="val 25000"/>
            </a:avLst>
          </a:prstGeom>
          <a:solidFill>
            <a:srgbClr val="D0306F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⬇ 再深一點</a:t>
            </a:r>
          </a:p>
        </p:txBody>
      </p:sp>
      <p:pic>
        <p:nvPicPr>
          <p:cNvPr id="11" name="Picture 10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2" name="Rounded Rectangular Callout 11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你夜市撈過金魚嗎？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再深一點！魚真的位置比看起來深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往深一點撈，才撈得到！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6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10"/>
                            </p:stCondLst>
                            <p:childTnLst>
                              <p:par>
                                <p:cTn id="32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41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2304288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生活案件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一滴水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水滴放在字上，字怎麼了？</a:t>
            </a:r>
          </a:p>
        </p:txBody>
      </p:sp>
      <p:pic>
        <p:nvPicPr>
          <p:cNvPr id="9" name="Picture 8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這是下一個任務的線索……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字變大了！圓圓的水滴讓光換方向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這就是下一課「透鏡」的祕密！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2011680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光線新聞台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📺 看新聞練習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今天的新聞，是真的發生過的事</a:t>
            </a:r>
          </a:p>
        </p:txBody>
      </p:sp>
      <p:pic>
        <p:nvPicPr>
          <p:cNvPr id="9" name="Picture 8" descr="koko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我是主播光光！先告訴你：主角最後平安獲救！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w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頭條新聞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阿姨河邊泡腳　一腳踩空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靠「仰漂」撐了將近 1 小時，平安獲救！</a:t>
            </a:r>
          </a:p>
        </p:txBody>
      </p:sp>
      <p:pic>
        <p:nvPicPr>
          <p:cNvPr id="9" name="Picture 8" descr="koko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標題，就是新聞最重要的一句話！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6446520"/>
            <a:ext cx="6400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CFE8FF"/>
                </a:solidFill>
                <a:latin typeface="微軟正黑體"/>
                <a:ea typeface="微軟正黑體"/>
                <a:cs typeface="微軟正黑體"/>
              </a:rPr>
              <a:t>新聞來源：改寫自三立新聞網、光明網（2026 年 8 月）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w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新聞 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天氣好熱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一位 50 多歲的阿姨，到公園的河邊散步</a:t>
            </a:r>
          </a:p>
        </p:txBody>
      </p:sp>
      <p:pic>
        <p:nvPicPr>
          <p:cNvPr id="9" name="Picture 8" descr="koko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地點在中國江蘇的蘇州。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6446520"/>
            <a:ext cx="6400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CFE8FF"/>
                </a:solidFill>
                <a:latin typeface="微軟正黑體"/>
                <a:ea typeface="微軟正黑體"/>
                <a:cs typeface="微軟正黑體"/>
              </a:rPr>
              <a:t>新聞來源：改寫自三立新聞網、光明網（2026 年 8 月）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d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新聞 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她想泡泡腳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水看起來很淺，她就走下石階，把腳泡進水裡</a:t>
            </a:r>
          </a:p>
        </p:txBody>
      </p:sp>
      <p:pic>
        <p:nvPicPr>
          <p:cNvPr id="9" name="Picture 8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水清清的，看起來好淺……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6446520"/>
            <a:ext cx="6400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CFE8FF"/>
                </a:solidFill>
                <a:latin typeface="微軟正黑體"/>
                <a:ea typeface="微軟正黑體"/>
                <a:cs typeface="微軟正黑體"/>
              </a:rPr>
              <a:t>新聞來源：改寫自三立新聞網、光明網（2026 年 8 月）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sl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新聞 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一腳踩空！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水底突然變深，她掉進深水區——她不會游泳！</a:t>
            </a:r>
          </a:p>
        </p:txBody>
      </p:sp>
      <p:pic>
        <p:nvPicPr>
          <p:cNvPr id="9" name="Picture 8" descr="koko_w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好危險！！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6446520"/>
            <a:ext cx="6400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CFE8FF"/>
                </a:solidFill>
                <a:latin typeface="微軟正黑體"/>
                <a:ea typeface="微軟正黑體"/>
                <a:cs typeface="微軟正黑體"/>
              </a:rPr>
              <a:t>新聞來源：改寫自三立新聞網、光明網（2026 年 8 月）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flo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新聞 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她做了一件對的事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躺在水上「仰漂」：臉朝上、口鼻露出水面、不亂動</a:t>
            </a:r>
          </a:p>
        </p:txBody>
      </p:sp>
      <p:pic>
        <p:nvPicPr>
          <p:cNvPr id="9" name="Picture 8" descr="koko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不亂動，才能保存體力！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6446520"/>
            <a:ext cx="6400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CFE8FF"/>
                </a:solidFill>
                <a:latin typeface="微軟正黑體"/>
                <a:ea typeface="微軟正黑體"/>
                <a:cs typeface="微軟正黑體"/>
              </a:rPr>
              <a:t>新聞來源：改寫自三立新聞網、光明網（2026 年 8 月）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resc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新聞 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平安獲救！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快 1 小時後，路人發現她、報警，她被救上岸</a:t>
            </a:r>
          </a:p>
        </p:txBody>
      </p:sp>
      <p:pic>
        <p:nvPicPr>
          <p:cNvPr id="9" name="Picture 8" descr="koko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大家都說這是「教科書級」的自救！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6446520"/>
            <a:ext cx="64008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1">
                <a:solidFill>
                  <a:srgbClr val="CFE8FF"/>
                </a:solidFill>
                <a:latin typeface="微軟正黑體"/>
                <a:ea typeface="微軟正黑體"/>
                <a:cs typeface="微軟正黑體"/>
              </a:rPr>
              <a:t>新聞來源：改寫自三立新聞網、光明網（2026 年 8 月）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flo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偵探時間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抓出五個線索</a:t>
            </a:r>
          </a:p>
        </p:txBody>
      </p:sp>
      <p:pic>
        <p:nvPicPr>
          <p:cNvPr id="9" name="Picture 8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先讓同學說說看，再按揭曉！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463040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👤 誰？ → 一位 50 多歲的阿姨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304288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📍 在哪裡？ → 公園的河邊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145536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💥 發生什麼？ → 泡腳時一腳踩空，掉進深水區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3986784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❓ 為什麼？ → 她以為水很淺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4828032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🛟 怎麼辦？ → 仰漂，等人來救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3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w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偵探連結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為什麼以為水很淺？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光從水底出來，在水面折一下……</a:t>
            </a:r>
          </a:p>
        </p:txBody>
      </p:sp>
      <p:pic>
        <p:nvPicPr>
          <p:cNvPr id="9" name="Picture 8" descr="koko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跟碗裡的硬幣一樣喔！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水底看起來被「抬高」了 → 其實更深！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看起來淺，其實更深！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float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保命技能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仰漂三步驟</a:t>
            </a:r>
          </a:p>
        </p:txBody>
      </p:sp>
      <p:pic>
        <p:nvPicPr>
          <p:cNvPr id="9" name="Picture 8" descr="koko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體育課我們可以練習！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600200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① 躺下，臉朝天空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441448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② 放輕鬆，手腳張開像星星 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282696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③ 口鼻露出來，慢慢呼吸、等人救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3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resc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2304288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看到有人落水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救人口訣</a:t>
            </a:r>
          </a:p>
        </p:txBody>
      </p:sp>
      <p:pic>
        <p:nvPicPr>
          <p:cNvPr id="9" name="Picture 8" descr="koko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保護好自己，才能幫助別人！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600200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🚫 不要自己跳下去救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441448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📣 大聲叫大人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282696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📞 打 119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4123944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🛟 丟會浮的東西給他（寶特瓶、救生圈）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3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3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🧊 3D 模擬（示意）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安全口令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跟光光喊三次！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11460175" cy="1463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00" b="1">
                <a:ln w="38100">
                  <a:solidFill>
                    <a:srgbClr val="FF3FB0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看起來淺，其實更深！</a:t>
            </a:r>
          </a:p>
        </p:txBody>
      </p:sp>
      <p:pic>
        <p:nvPicPr>
          <p:cNvPr id="10" name="Picture 9" descr="koko_w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1" name="Rounded Rectangular Callout 10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最大聲的那一組加分！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45262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先看深度・大人在旁・掉下去了仰漂等待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太大聲了！我耳朵在震！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30"/>
                            </p:stCondLst>
                            <p:childTnLst>
                              <p:par>
                                <p:cTn id="21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3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la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2011680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動手做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先猜！</a:t>
            </a:r>
          </a:p>
        </p:txBody>
      </p:sp>
      <p:pic>
        <p:nvPicPr>
          <p:cNvPr id="9" name="Picture 8" descr="koko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猜錯沒關係，等一下可以改！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600200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拿到預測貼紙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441448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吸管放進水裡會怎樣？貼！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282696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硬幣倒水後會怎樣？貼！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3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ra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2011680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動手做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兩人一組</a:t>
            </a:r>
          </a:p>
        </p:txBody>
      </p:sp>
      <p:pic>
        <p:nvPicPr>
          <p:cNvPr id="9" name="Picture 8" descr="koko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一人做、一人看，再交換！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1600200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① 吸管放進水，從旁邊看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2441448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② 拿出來看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3282696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③ 硬幣放碗裡，眼睛在碗邊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4123944"/>
            <a:ext cx="7863840" cy="713232"/>
          </a:xfrm>
          <a:prstGeom prst="roundRect">
            <a:avLst>
              <a:gd name="adj" fmla="val 25000"/>
            </a:avLst>
          </a:prstGeom>
          <a:solidFill>
            <a:srgbClr val="0B1D30">
              <a:alpha val="90000"/>
            </a:srgbClr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④ 另一人慢慢倒水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3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decel="10000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s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2011680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動手做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改答案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1554480"/>
            <a:ext cx="9265615" cy="777240"/>
          </a:xfrm>
          <a:prstGeom prst="roundRect">
            <a:avLst>
              <a:gd name="adj" fmla="val 25000"/>
            </a:avLst>
          </a:prstGeom>
          <a:solidFill>
            <a:srgbClr val="FFFFFF">
              <a:alpha val="88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6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你的預測對嗎？</a:t>
            </a:r>
          </a:p>
        </p:txBody>
      </p:sp>
      <p:pic>
        <p:nvPicPr>
          <p:cNvPr id="10" name="Picture 9" descr="koko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1" name="Rounded Rectangular Callout 10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改答案超勇敢！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54406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對的畫圈，不對的改貼——會改答案的人，就是真正的科學家！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你們都是真正的科學家！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0"/>
                            </p:stCondLst>
                            <p:childTnLst>
                              <p:par>
                                <p:cTn id="20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91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s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29"/>
            <a:ext cx="12191695" cy="6804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2081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2081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0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055" y="182880"/>
            <a:ext cx="2651760" cy="411480"/>
          </a:xfrm>
          <a:prstGeom prst="roundRect">
            <a:avLst>
              <a:gd name="adj" fmla="val 25000"/>
            </a:avLst>
          </a:prstGeom>
          <a:solidFill>
            <a:srgbClr val="000000">
              <a:alpha val="55000"/>
            </a:srgbClr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📷 真實照片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182880"/>
            <a:ext cx="1719072" cy="502920"/>
          </a:xfrm>
          <a:prstGeom prst="roundRect">
            <a:avLst>
              <a:gd name="adj" fmla="val 25000"/>
            </a:avLst>
          </a:prstGeom>
          <a:solidFill>
            <a:srgbClr val="FF3FB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結案報告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1094415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600" b="1">
                <a:ln w="44450">
                  <a:solidFill>
                    <a:srgbClr val="14B8E6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懸案破解！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11460175" cy="1463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00" b="1">
                <a:ln w="38100">
                  <a:solidFill>
                    <a:srgbClr val="FF3FB0"/>
                  </a:solidFill>
                </a:ln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光走直線，碰到水面折一下</a:t>
            </a:r>
          </a:p>
        </p:txBody>
      </p:sp>
      <p:pic>
        <p:nvPicPr>
          <p:cNvPr id="10" name="Picture 9" descr="koko_w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4572000"/>
            <a:ext cx="2286000" cy="2286000"/>
          </a:xfrm>
          <a:prstGeom prst="rect">
            <a:avLst/>
          </a:prstGeom>
        </p:spPr>
      </p:pic>
      <p:sp>
        <p:nvSpPr>
          <p:cNvPr id="11" name="Rounded Rectangular Callout 10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偵探們，任務完成！Snap！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4526280"/>
            <a:ext cx="8808415" cy="1005840"/>
          </a:xfrm>
          <a:prstGeom prst="roundRect">
            <a:avLst>
              <a:gd name="adj" fmla="val 25000"/>
            </a:avLst>
          </a:prstGeom>
          <a:solidFill>
            <a:srgbClr val="FFC93C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2800" b="1">
                <a:solidFill>
                  <a:srgbClr val="2A1700"/>
                </a:solidFill>
                <a:latin typeface="微軟正黑體"/>
                <a:ea typeface="微軟正黑體"/>
                <a:cs typeface="微軟正黑體"/>
              </a:rPr>
              <a:t>＝ 折射！吸管沒斷、硬幣沒動、池子更深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228600" y="3703320"/>
            <a:ext cx="3566160" cy="868680"/>
          </a:xfrm>
          <a:prstGeom prst="wedgeRoundRectCallout">
            <a:avLst>
              <a:gd name="adj1" fmla="val -25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142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/>
            <a:r>
              <a:rPr sz="1700" b="1">
                <a:solidFill>
                  <a:srgbClr val="14233A"/>
                </a:solidFill>
                <a:latin typeface="微軟正黑體"/>
                <a:ea typeface="微軟正黑體"/>
                <a:cs typeface="微軟正黑體"/>
              </a:rPr>
              <a:t>下一個任務：透鏡！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"/>
                            </p:stCondLst>
                            <p:childTnLst>
                              <p:par>
                                <p:cTn id="10" presetID="2" presetClass="entr" presetSubtype="1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3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30"/>
                            </p:stCondLst>
                            <p:childTnLst>
                              <p:par>
                                <p:cTn id="21" presetID="2" presetClass="entr" presetSubtype="4" fill="hold" decel="10000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3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