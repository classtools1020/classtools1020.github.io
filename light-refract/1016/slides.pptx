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slide" Target="slide2.xml"/><Relationship Id="rId4" Type="http://schemas.openxmlformats.org/officeDocument/2006/relationships/slide" Target="slide7.xml"/><Relationship Id="rId5" Type="http://schemas.openxmlformats.org/officeDocument/2006/relationships/slide" Target="slide1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slide" Target="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slide" Target="slide1.xml"/><Relationship Id="rId4" Type="http://schemas.openxmlformats.org/officeDocument/2006/relationships/hyperlink" Target="https://classtools1020.github.io/light-refract/mv.htm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slide" Target="slide1.xml"/><Relationship Id="rId4" Type="http://schemas.openxmlformats.org/officeDocument/2006/relationships/hyperlink" Target="https://classtools1020.github.io/light-lens/lab.html#lesson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slide" Target="slide1.xml"/><Relationship Id="rId4" Type="http://schemas.openxmlformats.org/officeDocument/2006/relationships/hyperlink" Target="https://classtools1020.github.io/light-refract/1016/treasure.pdf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slide" Target="slide1.xml"/><Relationship Id="rId4" Type="http://schemas.openxmlformats.org/officeDocument/2006/relationships/hyperlink" Target="https://classtools1020.github.io/games/light-refract-quiz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slide" Target="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slide" Target="slide1.xml"/><Relationship Id="rId4" Type="http://schemas.openxmlformats.org/officeDocument/2006/relationships/hyperlink" Target="https://classtools1020.github.io/light-refract/mv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slide" Target="slide1.xml"/><Relationship Id="rId4" Type="http://schemas.openxmlformats.org/officeDocument/2006/relationships/hyperlink" Target="https://classtools1020.github.io/games/taiwan-train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slide" Target="slide1.xml"/><Relationship Id="rId4" Type="http://schemas.openxmlformats.org/officeDocument/2006/relationships/hyperlink" Target="https://classtools1020.github.io/games/light-refract-quiz.ht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slide" Target="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slide" Target="slide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slide" Target="slide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slide" Target="slide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slide" Target="slide1.xml"/><Relationship Id="rId4" Type="http://schemas.openxmlformats.org/officeDocument/2006/relationships/hyperlink" Target="https://classtools1020.github.io/light-refract/1016/treasure.pdf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slide" Target="slide1.xml"/><Relationship Id="rId4" Type="http://schemas.openxmlformats.org/officeDocument/2006/relationships/hyperlink" Target="https://classtools1020.github.io/light-refract/1016/draw.pdf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slide" Target="slide1.xml"/><Relationship Id="rId4" Type="http://schemas.openxmlformats.org/officeDocument/2006/relationships/hyperlink" Target="https://classtools1020.github.io/light-refract/mv.html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gnifier.jpg"/>
          <p:cNvPicPr>
            <a:picLocks noChangeAspect="1"/>
          </p:cNvPicPr>
          <p:nvPr/>
        </p:nvPicPr>
        <p:blipFill>
          <a:blip r:embed="rId2"/>
          <a:srcRect l="389" r="38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92000"/>
                </a:srgbClr>
              </a:gs>
              <a:gs pos="50000">
                <a:srgbClr val="05090F">
                  <a:alpha val="82000"/>
                </a:srgbClr>
              </a:gs>
              <a:gs pos="100000">
                <a:srgbClr val="05090F">
                  <a:alpha val="6000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9144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10/16（五）自然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32588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光線特勤隊・今天三節課</a:t>
            </a:r>
          </a:p>
        </p:txBody>
      </p:sp>
      <p:sp>
        <p:nvSpPr>
          <p:cNvPr id="6" name="TextBox 5">
            <a:hlinkClick action="ppaction://hlinksldjump" r:id="rId3"/>
          </p:cNvPr>
          <p:cNvSpPr txBox="1"/>
          <p:nvPr/>
        </p:nvSpPr>
        <p:spPr>
          <a:xfrm>
            <a:off x="685800" y="233172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甲班　第 5 節　13:10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063240"/>
            <a:ext cx="3474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630168"/>
            <a:ext cx="3474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　透鏡實驗室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197096"/>
            <a:ext cx="3474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　放大鏡尋寶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64024"/>
            <a:ext cx="3474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　折射大搶答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926080"/>
            <a:ext cx="3291839" cy="0"/>
          </a:xfrm>
          <a:prstGeom prst="line">
            <a:avLst/>
          </a:prstGeom>
          <a:ln w="19050">
            <a:solidFill>
              <a:srgbClr val="FFC2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hlinkClick action="ppaction://hlinksldjump" r:id="rId4"/>
          </p:cNvPr>
          <p:cNvSpPr txBox="1"/>
          <p:nvPr/>
        </p:nvSpPr>
        <p:spPr>
          <a:xfrm>
            <a:off x="4434840" y="233172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乙班　第 6 節　14:05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3063240"/>
            <a:ext cx="3474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3630168"/>
            <a:ext cx="3474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　光之環島列車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4197096"/>
            <a:ext cx="3474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　折射大搶答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434840" y="2926080"/>
            <a:ext cx="3291839" cy="0"/>
          </a:xfrm>
          <a:prstGeom prst="line">
            <a:avLst/>
          </a:prstGeom>
          <a:ln w="19050">
            <a:solidFill>
              <a:srgbClr val="FFC2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hlinkClick action="ppaction://hlinksldjump" r:id="rId5"/>
          </p:cNvPr>
          <p:cNvSpPr txBox="1"/>
          <p:nvPr/>
        </p:nvSpPr>
        <p:spPr>
          <a:xfrm>
            <a:off x="8183879" y="233172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乙班　第 7 節　15:00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3063240"/>
            <a:ext cx="3474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　生活裡的折射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3630168"/>
            <a:ext cx="3474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　水滴放大鏡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4197096"/>
            <a:ext cx="3474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　我看到的光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4764024"/>
            <a:ext cx="3474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　MV 再唱一次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183879" y="2926080"/>
            <a:ext cx="3291840" cy="0"/>
          </a:xfrm>
          <a:prstGeom prst="line">
            <a:avLst/>
          </a:prstGeom>
          <a:ln w="19050">
            <a:solidFill>
              <a:srgbClr val="FFC2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13232" y="580644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點班級名稱可以直接跳到那一節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gnifier.jpg"/>
          <p:cNvPicPr>
            <a:picLocks noChangeAspect="1"/>
          </p:cNvPicPr>
          <p:nvPr/>
        </p:nvPicPr>
        <p:blipFill>
          <a:blip r:embed="rId2"/>
          <a:srcRect l="389" r="38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8000"/>
                </a:srgbClr>
              </a:gs>
              <a:gs pos="50000">
                <a:srgbClr val="05090F">
                  <a:alpha val="5500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今天的課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73152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6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甲班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7315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第 5 節　13:10–13:55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17520"/>
            <a:ext cx="5669280" cy="585216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0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1　MV〈折一下 Snap!〉　（5 分）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30752"/>
            <a:ext cx="5669280" cy="585216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0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2　透鏡實驗室　（12 分）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443983"/>
            <a:ext cx="5669280" cy="585216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0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3　放大鏡尋寶　（15 分）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157216"/>
            <a:ext cx="5669280" cy="585216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0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4　折射大搶答　（10 分）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0644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準備：放大鏡、尋寶單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60"/>
                            </p:stCondLst>
                            <p:childTnLst>
                              <p:par>
                                <p:cTn id="13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740"/>
                            </p:stCondLst>
                            <p:childTnLst>
                              <p:par>
                                <p:cTn id="18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920"/>
                            </p:stCondLst>
                            <p:childTnLst>
                              <p:par>
                                <p:cTn id="23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100"/>
                            </p:stCondLst>
                            <p:childTnLst>
                              <p:par>
                                <p:cTn id="28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aser.jpg"/>
          <p:cNvPicPr>
            <a:picLocks noChangeAspect="1"/>
          </p:cNvPicPr>
          <p:nvPr/>
        </p:nvPicPr>
        <p:blipFill>
          <a:blip r:embed="rId2"/>
          <a:srcRect l="390" r="390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8000"/>
                </a:srgbClr>
              </a:gs>
              <a:gs pos="50000">
                <a:srgbClr val="05090F">
                  <a:alpha val="5500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甲班・1 / 4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67665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108960"/>
            <a:ext cx="6400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8" name="Rounded Rectangle 7">
            <a:hlinkClick r:id="rId4"/>
          </p:cNvPr>
          <p:cNvSpPr/>
          <p:nvPr/>
        </p:nvSpPr>
        <p:spPr>
          <a:xfrm>
            <a:off x="731520" y="5715000"/>
            <a:ext cx="3291840" cy="713232"/>
          </a:xfrm>
          <a:prstGeom prst="roundRect">
            <a:avLst>
              <a:gd name="adj" fmla="val 50000"/>
            </a:avLst>
          </a:prstGeom>
          <a:solidFill>
            <a:srgbClr val="FFC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200" b="1">
                <a:solidFill>
                  <a:srgbClr val="1A1200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gnifier.jpg"/>
          <p:cNvPicPr>
            <a:picLocks noChangeAspect="1"/>
          </p:cNvPicPr>
          <p:nvPr/>
        </p:nvPicPr>
        <p:blipFill>
          <a:blip r:embed="rId2"/>
          <a:srcRect l="389" r="38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8000"/>
                </a:srgbClr>
              </a:gs>
              <a:gs pos="50000">
                <a:srgbClr val="05090F">
                  <a:alpha val="5500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甲班・2 / 4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67665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透鏡實驗室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240279"/>
            <a:ext cx="6400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放大鏡的中間，是厚的還是薄的？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657600"/>
            <a:ext cx="8412480" cy="868680"/>
          </a:xfrm>
          <a:prstGeom prst="roundRect">
            <a:avLst>
              <a:gd name="adj" fmla="val 50000"/>
            </a:avLst>
          </a:prstGeom>
          <a:solidFill>
            <a:srgbClr val="FFC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400" b="1">
                <a:solidFill>
                  <a:srgbClr val="1A1200"/>
                </a:solidFill>
                <a:latin typeface="微軟正黑體"/>
                <a:ea typeface="微軟正黑體"/>
                <a:cs typeface="微軟正黑體"/>
              </a:rPr>
              <a:t>  中間厚 → 讓光換方向 → 東西看起來變大</a:t>
            </a:r>
          </a:p>
        </p:txBody>
      </p:sp>
      <p:sp>
        <p:nvSpPr>
          <p:cNvPr id="9" name="Rounded Rectangle 8">
            <a:hlinkClick r:id="rId4"/>
          </p:cNvPr>
          <p:cNvSpPr/>
          <p:nvPr/>
        </p:nvSpPr>
        <p:spPr>
          <a:xfrm>
            <a:off x="731520" y="5715000"/>
            <a:ext cx="3291840" cy="713232"/>
          </a:xfrm>
          <a:prstGeom prst="roundRect">
            <a:avLst>
              <a:gd name="adj" fmla="val 50000"/>
            </a:avLst>
          </a:prstGeom>
          <a:solidFill>
            <a:srgbClr val="FFC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200" b="1">
                <a:solidFill>
                  <a:srgbClr val="1A1200"/>
                </a:solidFill>
                <a:latin typeface="微軟正黑體"/>
                <a:ea typeface="微軟正黑體"/>
                <a:cs typeface="微軟正黑體"/>
              </a:rPr>
              <a:t>▶  打開實驗室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reasure.jpg"/>
          <p:cNvPicPr>
            <a:picLocks noChangeAspect="1"/>
          </p:cNvPicPr>
          <p:nvPr/>
        </p:nvPicPr>
        <p:blipFill>
          <a:blip r:embed="rId2"/>
          <a:srcRect l="389" r="38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8000"/>
                </a:srgbClr>
              </a:gs>
              <a:gs pos="50000">
                <a:srgbClr val="05090F">
                  <a:alpha val="5500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甲班・3 / 4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67665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240279"/>
            <a:ext cx="6400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用放大鏡找一找，找到就打勾！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71800"/>
            <a:ext cx="548640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2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1 星　找到 4 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58184"/>
            <a:ext cx="548640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2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2 星　找到 8 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44568"/>
            <a:ext cx="548640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2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3 星　寫一句：放大鏡讓＿＿變大</a:t>
            </a:r>
          </a:p>
        </p:txBody>
      </p:sp>
      <p:sp>
        <p:nvSpPr>
          <p:cNvPr id="11" name="Rounded Rectangle 10">
            <a:hlinkClick r:id="rId4"/>
          </p:cNvPr>
          <p:cNvSpPr/>
          <p:nvPr/>
        </p:nvSpPr>
        <p:spPr>
          <a:xfrm>
            <a:off x="731520" y="5715000"/>
            <a:ext cx="3291840" cy="713232"/>
          </a:xfrm>
          <a:prstGeom prst="roundRect">
            <a:avLst>
              <a:gd name="adj" fmla="val 50000"/>
            </a:avLst>
          </a:prstGeom>
          <a:solidFill>
            <a:srgbClr val="FFC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200" b="1">
                <a:solidFill>
                  <a:srgbClr val="1A1200"/>
                </a:solidFill>
                <a:latin typeface="微軟正黑體"/>
                <a:ea typeface="微軟正黑體"/>
                <a:cs typeface="微軟正黑體"/>
              </a:rPr>
              <a:t>尋寶單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5870448"/>
            <a:ext cx="6858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放大鏡不對著太陽、不對著別人的眼睛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uzzer.jpg"/>
          <p:cNvPicPr>
            <a:picLocks noChangeAspect="1"/>
          </p:cNvPicPr>
          <p:nvPr/>
        </p:nvPicPr>
        <p:blipFill>
          <a:blip r:embed="rId2"/>
          <a:srcRect l="389" r="38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8000"/>
                </a:srgbClr>
              </a:gs>
              <a:gs pos="50000">
                <a:srgbClr val="05090F">
                  <a:alpha val="5500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甲班・4 / 4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67665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折射大搶答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240279"/>
            <a:ext cx="6400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分兩隊，答錯沒關係，再想一次！</a:t>
            </a:r>
          </a:p>
        </p:txBody>
      </p:sp>
      <p:sp>
        <p:nvSpPr>
          <p:cNvPr id="8" name="Rounded Rectangle 7">
            <a:hlinkClick r:id="rId4"/>
          </p:cNvPr>
          <p:cNvSpPr/>
          <p:nvPr/>
        </p:nvSpPr>
        <p:spPr>
          <a:xfrm>
            <a:off x="731520" y="5715000"/>
            <a:ext cx="3291840" cy="713232"/>
          </a:xfrm>
          <a:prstGeom prst="roundRect">
            <a:avLst>
              <a:gd name="adj" fmla="val 50000"/>
            </a:avLst>
          </a:prstGeom>
          <a:solidFill>
            <a:srgbClr val="FFC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200" b="1">
                <a:solidFill>
                  <a:srgbClr val="1A1200"/>
                </a:solidFill>
                <a:latin typeface="微軟正黑體"/>
                <a:ea typeface="微軟正黑體"/>
                <a:cs typeface="微軟正黑體"/>
              </a:rPr>
              <a:t>▶  開始搶答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rain.jpg"/>
          <p:cNvPicPr>
            <a:picLocks noChangeAspect="1"/>
          </p:cNvPicPr>
          <p:nvPr/>
        </p:nvPicPr>
        <p:blipFill>
          <a:blip r:embed="rId2"/>
          <a:srcRect l="390" r="390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8000"/>
                </a:srgbClr>
              </a:gs>
              <a:gs pos="50000">
                <a:srgbClr val="05090F">
                  <a:alpha val="5500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今天的課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73152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6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乙班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7315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第 6 節　14:05–14:50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17520"/>
            <a:ext cx="5669280" cy="585216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0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1　MV〈折一下 Snap!〉　（5 分）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30752"/>
            <a:ext cx="5669280" cy="585216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0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2　光之環島列車　（22 分）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443983"/>
            <a:ext cx="5669280" cy="585216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0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3　折射大搶答　（15 分）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60"/>
                            </p:stCondLst>
                            <p:childTnLst>
                              <p:par>
                                <p:cTn id="13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740"/>
                            </p:stCondLst>
                            <p:childTnLst>
                              <p:par>
                                <p:cTn id="18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920"/>
                            </p:stCondLst>
                            <p:childTnLst>
                              <p:par>
                                <p:cTn id="23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age.jpg"/>
          <p:cNvPicPr>
            <a:picLocks noChangeAspect="1"/>
          </p:cNvPicPr>
          <p:nvPr/>
        </p:nvPicPr>
        <p:blipFill>
          <a:blip r:embed="rId2"/>
          <a:srcRect l="390" r="390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8000"/>
                </a:srgbClr>
              </a:gs>
              <a:gs pos="50000">
                <a:srgbClr val="05090F">
                  <a:alpha val="5500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乙班 第6節・1 / 3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67665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108960"/>
            <a:ext cx="6400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8" name="Rounded Rectangle 7">
            <a:hlinkClick r:id="rId4"/>
          </p:cNvPr>
          <p:cNvSpPr/>
          <p:nvPr/>
        </p:nvSpPr>
        <p:spPr>
          <a:xfrm>
            <a:off x="731520" y="5715000"/>
            <a:ext cx="3291840" cy="713232"/>
          </a:xfrm>
          <a:prstGeom prst="roundRect">
            <a:avLst>
              <a:gd name="adj" fmla="val 50000"/>
            </a:avLst>
          </a:prstGeom>
          <a:solidFill>
            <a:srgbClr val="FFC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200" b="1">
                <a:solidFill>
                  <a:srgbClr val="1A1200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aiwan-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875" y="0"/>
            <a:ext cx="51435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0"/>
                </a:srgbClr>
              </a:gs>
              <a:gs pos="50000">
                <a:srgbClr val="05090F">
                  <a:alpha val="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乙班 第6節・2 / 3</a:t>
            </a:r>
          </a:p>
        </p:txBody>
      </p:sp>
      <p:sp>
        <p:nvSpPr>
          <p:cNvPr id="6" name="TextBox 5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34440"/>
            <a:ext cx="67665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光之環島列車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240279"/>
            <a:ext cx="6400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從台北出發，每一站答一題光的問題</a:t>
            </a:r>
          </a:p>
        </p:txBody>
      </p:sp>
      <p:sp>
        <p:nvSpPr>
          <p:cNvPr id="9" name="Rounded Rectangle 8">
            <a:hlinkClick r:id="rId4"/>
          </p:cNvPr>
          <p:cNvSpPr/>
          <p:nvPr/>
        </p:nvSpPr>
        <p:spPr>
          <a:xfrm>
            <a:off x="731520" y="5715000"/>
            <a:ext cx="3291840" cy="713232"/>
          </a:xfrm>
          <a:prstGeom prst="roundRect">
            <a:avLst>
              <a:gd name="adj" fmla="val 50000"/>
            </a:avLst>
          </a:prstGeom>
          <a:solidFill>
            <a:srgbClr val="FFC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200" b="1">
                <a:solidFill>
                  <a:srgbClr val="1A1200"/>
                </a:solidFill>
                <a:latin typeface="微軟正黑體"/>
                <a:ea typeface="微軟正黑體"/>
                <a:cs typeface="微軟正黑體"/>
              </a:rPr>
              <a:t>▶  出發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uzzer.jpg"/>
          <p:cNvPicPr>
            <a:picLocks noChangeAspect="1"/>
          </p:cNvPicPr>
          <p:nvPr/>
        </p:nvPicPr>
        <p:blipFill>
          <a:blip r:embed="rId2"/>
          <a:srcRect l="389" r="38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8000"/>
                </a:srgbClr>
              </a:gs>
              <a:gs pos="50000">
                <a:srgbClr val="05090F">
                  <a:alpha val="5500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乙班 第6節・3 / 3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67665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折射大搶答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240279"/>
            <a:ext cx="6400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分兩隊，答錯沒關係，再想一次！</a:t>
            </a:r>
          </a:p>
        </p:txBody>
      </p:sp>
      <p:sp>
        <p:nvSpPr>
          <p:cNvPr id="8" name="Rounded Rectangle 7">
            <a:hlinkClick r:id="rId4"/>
          </p:cNvPr>
          <p:cNvSpPr/>
          <p:nvPr/>
        </p:nvSpPr>
        <p:spPr>
          <a:xfrm>
            <a:off x="731520" y="5715000"/>
            <a:ext cx="3291840" cy="713232"/>
          </a:xfrm>
          <a:prstGeom prst="roundRect">
            <a:avLst>
              <a:gd name="adj" fmla="val 50000"/>
            </a:avLst>
          </a:prstGeom>
          <a:solidFill>
            <a:srgbClr val="FFC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200" b="1">
                <a:solidFill>
                  <a:srgbClr val="1A1200"/>
                </a:solidFill>
                <a:latin typeface="微軟正黑體"/>
                <a:ea typeface="微軟正黑體"/>
                <a:cs typeface="微軟正黑體"/>
              </a:rPr>
              <a:t>▶  開始搶答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.jpg"/>
          <p:cNvPicPr>
            <a:picLocks noChangeAspect="1"/>
          </p:cNvPicPr>
          <p:nvPr/>
        </p:nvPicPr>
        <p:blipFill>
          <a:blip r:embed="rId2"/>
          <a:srcRect l="390" r="390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8000"/>
                </a:srgbClr>
              </a:gs>
              <a:gs pos="50000">
                <a:srgbClr val="05090F">
                  <a:alpha val="5500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今天的課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73152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6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乙班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7315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第 7 節　15:00–15:45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17520"/>
            <a:ext cx="5669280" cy="585216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0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1　生活裡的折射　（10 分）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30752"/>
            <a:ext cx="5669280" cy="585216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0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2　水滴放大鏡　（15 分）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443983"/>
            <a:ext cx="5669280" cy="585216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0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3　我看到的光　（13 分）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157216"/>
            <a:ext cx="5669280" cy="585216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0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4　MV 再唱一次　（5 分）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0644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準備：透明片、滴管、一杯水、尋寶單、畫卡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60"/>
                            </p:stCondLst>
                            <p:childTnLst>
                              <p:par>
                                <p:cTn id="13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740"/>
                            </p:stCondLst>
                            <p:childTnLst>
                              <p:par>
                                <p:cTn id="18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920"/>
                            </p:stCondLst>
                            <p:childTnLst>
                              <p:par>
                                <p:cTn id="23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100"/>
                            </p:stCondLst>
                            <p:childTnLst>
                              <p:par>
                                <p:cTn id="28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ool.jpg"/>
          <p:cNvPicPr>
            <a:picLocks noChangeAspect="1"/>
          </p:cNvPicPr>
          <p:nvPr/>
        </p:nvPicPr>
        <p:blipFill>
          <a:blip r:embed="rId2"/>
          <a:srcRect l="390" r="390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8000"/>
                </a:srgbClr>
              </a:gs>
              <a:gs pos="50000">
                <a:srgbClr val="05090F">
                  <a:alpha val="5500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乙班 第7節・1 / 4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67665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游泳池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240279"/>
            <a:ext cx="6400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看起來淺淺的……真的淺嗎？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657600"/>
            <a:ext cx="8412480" cy="868680"/>
          </a:xfrm>
          <a:prstGeom prst="roundRect">
            <a:avLst>
              <a:gd name="adj" fmla="val 50000"/>
            </a:avLst>
          </a:prstGeom>
          <a:solidFill>
            <a:srgbClr val="FFC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400" b="1">
                <a:solidFill>
                  <a:srgbClr val="1A1200"/>
                </a:solidFill>
                <a:latin typeface="微軟正黑體"/>
                <a:ea typeface="微軟正黑體"/>
                <a:cs typeface="微軟正黑體"/>
              </a:rPr>
              <a:t>  其實更深！光在水面折一下，池底看起來變淺了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t.jpg"/>
          <p:cNvPicPr>
            <a:picLocks noChangeAspect="1"/>
          </p:cNvPicPr>
          <p:nvPr/>
        </p:nvPicPr>
        <p:blipFill>
          <a:blip r:embed="rId2"/>
          <a:srcRect l="390" r="390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8000"/>
                </a:srgbClr>
              </a:gs>
              <a:gs pos="50000">
                <a:srgbClr val="05090F">
                  <a:alpha val="5500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乙班 第7節・1 / 4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67665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撈魚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240279"/>
            <a:ext cx="6400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魚看起來在這裡，網子要往哪裡撈？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657600"/>
            <a:ext cx="8412480" cy="868680"/>
          </a:xfrm>
          <a:prstGeom prst="roundRect">
            <a:avLst>
              <a:gd name="adj" fmla="val 50000"/>
            </a:avLst>
          </a:prstGeom>
          <a:solidFill>
            <a:srgbClr val="FFC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400" b="1">
                <a:solidFill>
                  <a:srgbClr val="1A1200"/>
                </a:solidFill>
                <a:latin typeface="微軟正黑體"/>
                <a:ea typeface="微軟正黑體"/>
                <a:cs typeface="微軟正黑體"/>
              </a:rPr>
              <a:t>  再深一點！魚真正的位置比看起來深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.jpg"/>
          <p:cNvPicPr>
            <a:picLocks noChangeAspect="1"/>
          </p:cNvPicPr>
          <p:nvPr/>
        </p:nvPicPr>
        <p:blipFill>
          <a:blip r:embed="rId2"/>
          <a:srcRect l="390" r="390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8000"/>
                </a:srgbClr>
              </a:gs>
              <a:gs pos="50000">
                <a:srgbClr val="05090F">
                  <a:alpha val="5500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乙班 第7節・1 / 4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67665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一滴水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240279"/>
            <a:ext cx="6400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水滴放在字上，字怎麼了？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657600"/>
            <a:ext cx="8412480" cy="868680"/>
          </a:xfrm>
          <a:prstGeom prst="roundRect">
            <a:avLst>
              <a:gd name="adj" fmla="val 50000"/>
            </a:avLst>
          </a:prstGeom>
          <a:solidFill>
            <a:srgbClr val="FFC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400" b="1">
                <a:solidFill>
                  <a:srgbClr val="1A1200"/>
                </a:solidFill>
                <a:latin typeface="微軟正黑體"/>
                <a:ea typeface="微軟正黑體"/>
                <a:cs typeface="微軟正黑體"/>
              </a:rPr>
              <a:t>  字變大了！圓圓的水滴讓光換方向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-text.jpg"/>
          <p:cNvPicPr>
            <a:picLocks noChangeAspect="1"/>
          </p:cNvPicPr>
          <p:nvPr/>
        </p:nvPicPr>
        <p:blipFill>
          <a:blip r:embed="rId2"/>
          <a:srcRect l="389" r="38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8000"/>
                </a:srgbClr>
              </a:gs>
              <a:gs pos="50000">
                <a:srgbClr val="05090F">
                  <a:alpha val="5500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乙班 第7節・2 / 4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67665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水滴放大鏡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240279"/>
            <a:ext cx="6400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自己做一個放大鏡！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71800"/>
            <a:ext cx="548640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2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1　透明片放在尋寶單的字上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58184"/>
            <a:ext cx="548640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2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2　用滴管滴一滴水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44568"/>
            <a:ext cx="548640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2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3　看！字變大了</a:t>
            </a:r>
          </a:p>
        </p:txBody>
      </p:sp>
      <p:sp>
        <p:nvSpPr>
          <p:cNvPr id="11" name="Rounded Rectangle 10">
            <a:hlinkClick r:id="rId4"/>
          </p:cNvPr>
          <p:cNvSpPr/>
          <p:nvPr/>
        </p:nvSpPr>
        <p:spPr>
          <a:xfrm>
            <a:off x="731520" y="5715000"/>
            <a:ext cx="3291840" cy="713232"/>
          </a:xfrm>
          <a:prstGeom prst="roundRect">
            <a:avLst>
              <a:gd name="adj" fmla="val 50000"/>
            </a:avLst>
          </a:prstGeom>
          <a:solidFill>
            <a:srgbClr val="FFC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200" b="1">
                <a:solidFill>
                  <a:srgbClr val="1A1200"/>
                </a:solidFill>
                <a:latin typeface="微軟正黑體"/>
                <a:ea typeface="微軟正黑體"/>
                <a:cs typeface="微軟正黑體"/>
              </a:rPr>
              <a:t>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aw.jpg"/>
          <p:cNvPicPr>
            <a:picLocks noChangeAspect="1"/>
          </p:cNvPicPr>
          <p:nvPr/>
        </p:nvPicPr>
        <p:blipFill>
          <a:blip r:embed="rId2"/>
          <a:srcRect l="389" r="38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8000"/>
                </a:srgbClr>
              </a:gs>
              <a:gs pos="50000">
                <a:srgbClr val="05090F">
                  <a:alpha val="5500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乙班 第7節・3 / 4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67665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我看到的光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240279"/>
            <a:ext cx="6400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畫下今天最神奇的發現，再說一句話</a:t>
            </a:r>
          </a:p>
        </p:txBody>
      </p:sp>
      <p:sp>
        <p:nvSpPr>
          <p:cNvPr id="8" name="Rounded Rectangle 7">
            <a:hlinkClick r:id="rId4"/>
          </p:cNvPr>
          <p:cNvSpPr/>
          <p:nvPr/>
        </p:nvSpPr>
        <p:spPr>
          <a:xfrm>
            <a:off x="731520" y="5715000"/>
            <a:ext cx="3291840" cy="713232"/>
          </a:xfrm>
          <a:prstGeom prst="roundRect">
            <a:avLst>
              <a:gd name="adj" fmla="val 50000"/>
            </a:avLst>
          </a:prstGeom>
          <a:solidFill>
            <a:srgbClr val="FFC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200" b="1">
                <a:solidFill>
                  <a:srgbClr val="1A1200"/>
                </a:solidFill>
                <a:latin typeface="微軟正黑體"/>
                <a:ea typeface="微軟正黑體"/>
                <a:cs typeface="微軟正黑體"/>
              </a:rPr>
              <a:t>畫卡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age.jpg"/>
          <p:cNvPicPr>
            <a:picLocks noChangeAspect="1"/>
          </p:cNvPicPr>
          <p:nvPr/>
        </p:nvPicPr>
        <p:blipFill>
          <a:blip r:embed="rId2"/>
          <a:srcRect l="390" r="390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8000"/>
                </a:srgbClr>
              </a:gs>
              <a:gs pos="50000">
                <a:srgbClr val="05090F">
                  <a:alpha val="5500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乙班 第7節・4 / 4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67665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再唱一次！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108960"/>
            <a:ext cx="6400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光走直線，碰到水面——Snap! 折一下</a:t>
            </a:r>
          </a:p>
        </p:txBody>
      </p:sp>
      <p:sp>
        <p:nvSpPr>
          <p:cNvPr id="8" name="Rounded Rectangle 7">
            <a:hlinkClick r:id="rId4"/>
          </p:cNvPr>
          <p:cNvSpPr/>
          <p:nvPr/>
        </p:nvSpPr>
        <p:spPr>
          <a:xfrm>
            <a:off x="731520" y="5715000"/>
            <a:ext cx="3291840" cy="713232"/>
          </a:xfrm>
          <a:prstGeom prst="roundRect">
            <a:avLst>
              <a:gd name="adj" fmla="val 50000"/>
            </a:avLst>
          </a:prstGeom>
          <a:solidFill>
            <a:srgbClr val="FFC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200" b="1">
                <a:solidFill>
                  <a:srgbClr val="1A1200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age.jpg"/>
          <p:cNvPicPr>
            <a:picLocks noChangeAspect="1"/>
          </p:cNvPicPr>
          <p:nvPr/>
        </p:nvPicPr>
        <p:blipFill>
          <a:blip r:embed="rId2"/>
          <a:srcRect l="390" r="390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0000"/>
                </a:srgbClr>
              </a:gs>
              <a:gs pos="50000">
                <a:srgbClr val="05090F">
                  <a:alpha val="60000"/>
                </a:srgbClr>
              </a:gs>
              <a:gs pos="100000">
                <a:srgbClr val="05090F">
                  <a:alpha val="3000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19456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下課囉！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今天的光線特勤隊，表現超棒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8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