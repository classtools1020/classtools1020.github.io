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hyperlink" Target="https://classtools1020.github.io/light-refract/mv.html" TargetMode="Externa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hyperlink" Target="https://classtools1020.github.io/light-refract/1016/show/" TargetMode="External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image" Target="../media/image4.png"/><Relationship Id="rId4" Type="http://schemas.openxmlformats.org/officeDocument/2006/relationships/hyperlink" Target="https://classtools1020.github.io/light-refract/1016/treasure.pdf?v=1008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hyperlink" Target="https://classtools1020.github.io/games/light-refract-quiz.html" TargetMode="External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光線特勤隊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10/16（五）自然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58487" y="2057400"/>
            <a:ext cx="3474720" cy="434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easure.jpg"/>
          <p:cNvPicPr>
            <a:picLocks noChangeAspect="1"/>
          </p:cNvPicPr>
          <p:nvPr/>
        </p:nvPicPr>
        <p:blipFill>
          <a:blip r:embed="rId2"/>
          <a:srcRect t="6488" b="6488"/>
          <a:stretch>
            <a:fillRect/>
          </a:stretch>
        </p:blipFill>
        <p:spPr>
          <a:xfrm>
            <a:off x="4495647" y="2194560"/>
            <a:ext cx="3200400" cy="1554480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3"/>
          </p:cNvPr>
          <p:cNvSpPr txBox="1"/>
          <p:nvPr/>
        </p:nvSpPr>
        <p:spPr>
          <a:xfrm>
            <a:off x="4541367" y="38404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　第 5 節　13:10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1367" y="420624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放大鏡偵探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1367" y="480060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1　MV〈折一下 Snap!〉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1367" y="5175504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2　放大鏡偵探（簡報）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555040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3　放大鏡尋寶單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592531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4　折射環島搶答（挑戰）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甲班｜第 5 節　13:10–13:55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8521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放大鏡偵探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7A8C"/>
                </a:solidFill>
                <a:latin typeface="微軟正黑體"/>
                <a:ea typeface="微軟正黑體"/>
                <a:cs typeface="微軟正黑體"/>
              </a:rPr>
              <a:t>今天的目標：說出放大鏡中間厚，讓東西看起來變大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6032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MV〈折一下 Snap!〉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300984"/>
            <a:ext cx="457200" cy="45720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55263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放大鏡偵探（簡報）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995928"/>
            <a:ext cx="457200" cy="45720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50208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放大鏡尋寶單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690872"/>
            <a:ext cx="457200" cy="45720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645152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折射環島搶答（挑戰）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準備：放大鏡、尋寶單</a:t>
            </a:r>
          </a:p>
        </p:txBody>
      </p:sp>
      <p:sp>
        <p:nvSpPr>
          <p:cNvPr id="16" name="Rectangle 15"/>
          <p:cNvSpPr/>
          <p:nvPr/>
        </p:nvSpPr>
        <p:spPr>
          <a:xfrm rot="120000">
            <a:off x="6867144" y="1097280"/>
            <a:ext cx="4754880" cy="484632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20000">
            <a:off x="6812280" y="1005840"/>
            <a:ext cx="475488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reasure.jpg"/>
          <p:cNvPicPr>
            <a:picLocks noChangeAspect="1"/>
          </p:cNvPicPr>
          <p:nvPr/>
        </p:nvPicPr>
        <p:blipFill>
          <a:blip r:embed="rId3"/>
          <a:srcRect l="22645" r="22645"/>
          <a:stretch>
            <a:fillRect/>
          </a:stretch>
        </p:blipFill>
        <p:spPr>
          <a:xfrm rot="120000">
            <a:off x="6922008" y="1115568"/>
            <a:ext cx="4535424" cy="462686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"/>
                            </p:stCondLst>
                            <p:childTnLst>
                              <p:par>
                                <p:cTn id="21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0"/>
                            </p:stCondLst>
                            <p:childTnLst>
                              <p:par>
                                <p:cTn id="26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30"/>
                            </p:stCondLst>
                            <p:childTnLst>
                              <p:par>
                                <p:cTn id="31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30"/>
                            </p:stCondLst>
                            <p:childTnLst>
                              <p:par>
                                <p:cTn id="36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80"/>
                            </p:stCondLst>
                            <p:childTnLst>
                              <p:par>
                                <p:cTn id="41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80"/>
                            </p:stCondLst>
                            <p:childTnLst>
                              <p:par>
                                <p:cTn id="46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30"/>
                            </p:stCondLst>
                            <p:childTnLst>
                              <p:par>
                                <p:cTn id="51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30"/>
                            </p:stCondLst>
                            <p:childTnLst>
                              <p:par>
                                <p:cTn id="56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甲班｜暖身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MV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〈折一下 Snap!〉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5212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唱到 Snap，全班一起彈指！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658368" y="3840480"/>
            <a:ext cx="3657600" cy="73152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▶  播放 MV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051560"/>
            <a:ext cx="5715000" cy="4114800"/>
          </a:xfrm>
          <a:prstGeom prst="roundRect">
            <a:avLst>
              <a:gd name="adj" fmla="val 6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_mv.png"/>
          <p:cNvPicPr>
            <a:picLocks noChangeAspect="1"/>
          </p:cNvPicPr>
          <p:nvPr/>
        </p:nvPicPr>
        <p:blipFill>
          <a:blip r:embed="rId4"/>
          <a:srcRect l="21000" t="7000" r="21000" b="35000"/>
          <a:stretch>
            <a:fillRect/>
          </a:stretch>
        </p:blipFill>
        <p:spPr>
          <a:xfrm>
            <a:off x="6172200" y="1234440"/>
            <a:ext cx="5349240" cy="3008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5166360"/>
            <a:ext cx="685800" cy="91440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5230368"/>
            <a:ext cx="1783080" cy="109728"/>
          </a:xfrm>
          <a:prstGeom prst="roundRect">
            <a:avLst>
              <a:gd name="adj" fmla="val 50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甲班｜放大鏡偵探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放大鏡偵探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5212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先看影片，再先猜後揭曉：字變大？景色倒過來？一直按「下一步」。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658368" y="3840480"/>
            <a:ext cx="3657600" cy="73152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▶  打開簡報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051560"/>
            <a:ext cx="5715000" cy="4114800"/>
          </a:xfrm>
          <a:prstGeom prst="roundRect">
            <a:avLst>
              <a:gd name="adj" fmla="val 6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_lenssh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34440"/>
            <a:ext cx="5349240" cy="3008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5166360"/>
            <a:ext cx="685800" cy="91440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5230368"/>
            <a:ext cx="1783080" cy="109728"/>
          </a:xfrm>
          <a:prstGeom prst="roundRect">
            <a:avLst>
              <a:gd name="adj" fmla="val 50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甲班｜放大鏡尋寶</a:t>
            </a:r>
          </a:p>
        </p:txBody>
      </p:sp>
      <p:sp>
        <p:nvSpPr>
          <p:cNvPr id="5" name="Rectangle 4"/>
          <p:cNvSpPr/>
          <p:nvPr/>
        </p:nvSpPr>
        <p:spPr>
          <a:xfrm rot="21450000">
            <a:off x="877824" y="914400"/>
            <a:ext cx="4114800" cy="576072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50000">
            <a:off x="822960" y="822960"/>
            <a:ext cx="4114800" cy="5760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_treasure.png"/>
          <p:cNvPicPr>
            <a:picLocks noChangeAspect="1"/>
          </p:cNvPicPr>
          <p:nvPr/>
        </p:nvPicPr>
        <p:blipFill>
          <a:blip r:embed="rId3"/>
          <a:srcRect t="39" b="39"/>
          <a:stretch>
            <a:fillRect/>
          </a:stretch>
        </p:blipFill>
        <p:spPr>
          <a:xfrm rot="21450000">
            <a:off x="896112" y="896112"/>
            <a:ext cx="3968496" cy="56144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0" y="868680"/>
            <a:ext cx="6035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放大鏡尋寶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1691640"/>
            <a:ext cx="5852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用放大鏡找一找，找到就打勾！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5146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🔵 基礎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5146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找到 4 個，打勾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4290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4290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🟠 進階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4290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找到 8 個，勾出它是什麼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3434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3434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⭐ 挑戰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3434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勾出「變大」和「厚」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534924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⚠ 放大鏡不對著太陽、不對著別人的眼睛</a:t>
            </a:r>
          </a:p>
        </p:txBody>
      </p:sp>
      <p:sp>
        <p:nvSpPr>
          <p:cNvPr id="20" name="Rounded Rectangle 19">
            <a:hlinkClick r:id="rId4"/>
          </p:cNvPr>
          <p:cNvSpPr/>
          <p:nvPr/>
        </p:nvSpPr>
        <p:spPr>
          <a:xfrm>
            <a:off x="5669280" y="5897880"/>
            <a:ext cx="2743200" cy="658368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📄  尋寶單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甲班｜挑戰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折射環島搶答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5212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紅隊、藍隊搶答，答對就把這一站變成你們隊的顏色！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658368" y="3840480"/>
            <a:ext cx="3657600" cy="73152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▶  開始搶答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051560"/>
            <a:ext cx="5715000" cy="4114800"/>
          </a:xfrm>
          <a:prstGeom prst="roundRect">
            <a:avLst>
              <a:gd name="adj" fmla="val 6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_qui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34440"/>
            <a:ext cx="5349240" cy="3008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5166360"/>
            <a:ext cx="685800" cy="91440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5230368"/>
            <a:ext cx="1783080" cy="109728"/>
          </a:xfrm>
          <a:prstGeom prst="roundRect">
            <a:avLst>
              <a:gd name="adj" fmla="val 50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甲班｜小結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說說看：今天學到什麼？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放大鏡中間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0752" y="3218688"/>
            <a:ext cx="186537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37744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37744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371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讓光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84832" y="4544568"/>
            <a:ext cx="213969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70332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換方向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70332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東西看起來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0752" y="5870448"/>
            <a:ext cx="186537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502920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變大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02920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下課囉！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FE9A8"/>
                </a:solidFill>
                <a:latin typeface="微軟正黑體"/>
                <a:ea typeface="微軟正黑體"/>
                <a:cs typeface="微軟正黑體"/>
              </a:rPr>
              <a:t>今天的光線特勤隊，表現超棒。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8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