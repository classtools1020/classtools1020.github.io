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slide" Target="slide2.xml"/><Relationship Id="rId6" Type="http://schemas.openxmlformats.org/officeDocument/2006/relationships/slide" Target="slide9.xml"/><Relationship Id="rId7" Type="http://schemas.openxmlformats.org/officeDocument/2006/relationships/slide" Target="slide14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lens/lab.html#lesson" TargetMode="External"/><Relationship Id="rId4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6.png"/><Relationship Id="rId4" Type="http://schemas.openxmlformats.org/officeDocument/2006/relationships/hyperlink" Target="https://classtools1020.github.io/light-refract/1016/treasure.pdf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dispatch.html" TargetMode="External"/><Relationship Id="rId4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taiwan-train.html" TargetMode="External"/><Relationship Id="rId4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games/light-dispatch.html" TargetMode="External"/><Relationship Id="rId4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3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slide" Target="slide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slide" Target="slide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1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slide" Target="slide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slide" Target="slide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9.jpg"/><Relationship Id="rId4" Type="http://schemas.openxmlformats.org/officeDocument/2006/relationships/image" Target="../media/image10.jpg"/><Relationship Id="rId5" Type="http://schemas.openxmlformats.org/officeDocument/2006/relationships/image" Target="../media/image11.jpg"/><Relationship Id="rId6" Type="http://schemas.openxmlformats.org/officeDocument/2006/relationships/image" Target="../media/image12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3.jpg"/><Relationship Id="rId4" Type="http://schemas.openxmlformats.org/officeDocument/2006/relationships/image" Target="../media/image14.jpg"/><Relationship Id="rId5" Type="http://schemas.openxmlformats.org/officeDocument/2006/relationships/image" Target="../media/image3.jpg"/><Relationship Id="rId6" Type="http://schemas.openxmlformats.org/officeDocument/2006/relationships/hyperlink" Target="https://classtools1020.github.io/light-refract/1016/treasure.pdf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image" Target="../media/image15.png"/><Relationship Id="rId4" Type="http://schemas.openxmlformats.org/officeDocument/2006/relationships/hyperlink" Target="https://classtools1020.github.io/light-refract/1016/draw.pdf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hyperlink" Target="https://classtools1020.github.io/light-refract/mv.html" TargetMode="External"/><Relationship Id="rId4" Type="http://schemas.openxmlformats.org/officeDocument/2006/relationships/image" Target="../media/image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502920"/>
            <a:ext cx="8229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光線特勤隊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868680"/>
            <a:ext cx="100584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10/16（五）自然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reasure.jpg"/>
          <p:cNvPicPr>
            <a:picLocks noChangeAspect="1"/>
          </p:cNvPicPr>
          <p:nvPr/>
        </p:nvPicPr>
        <p:blipFill>
          <a:blip r:embed="rId2"/>
          <a:srcRect t="6488" b="6488"/>
          <a:stretch>
            <a:fillRect/>
          </a:stretch>
        </p:blipFill>
        <p:spPr>
          <a:xfrm>
            <a:off x="777240" y="2194560"/>
            <a:ext cx="3200400" cy="1554480"/>
          </a:xfrm>
          <a:prstGeom prst="rect">
            <a:avLst/>
          </a:prstGeom>
        </p:spPr>
      </p:pic>
      <p:sp>
        <p:nvSpPr>
          <p:cNvPr id="7" name="TextBox 6">
            <a:hlinkClick action="ppaction://hlinksldjump" r:id="rId5"/>
          </p:cNvPr>
          <p:cNvSpPr txBox="1"/>
          <p:nvPr/>
        </p:nvSpPr>
        <p:spPr>
          <a:xfrm>
            <a:off x="82295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　第 5 節　13:10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5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透鏡快問＋實驗室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放大鏡尋寶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光線特勤隊出勤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89120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ain.jpg"/>
          <p:cNvPicPr>
            <a:picLocks noChangeAspect="1"/>
          </p:cNvPicPr>
          <p:nvPr/>
        </p:nvPicPr>
        <p:blipFill>
          <a:blip r:embed="rId3"/>
          <a:srcRect t="6487" b="6487"/>
          <a:stretch>
            <a:fillRect/>
          </a:stretch>
        </p:blipFill>
        <p:spPr>
          <a:xfrm>
            <a:off x="4526280" y="2194560"/>
            <a:ext cx="3200400" cy="1554480"/>
          </a:xfrm>
          <a:prstGeom prst="rect">
            <a:avLst/>
          </a:prstGeom>
        </p:spPr>
      </p:pic>
      <p:sp>
        <p:nvSpPr>
          <p:cNvPr id="15" name="TextBox 14">
            <a:hlinkClick action="ppaction://hlinksldjump" r:id="rId6"/>
          </p:cNvPr>
          <p:cNvSpPr txBox="1"/>
          <p:nvPr/>
        </p:nvSpPr>
        <p:spPr>
          <a:xfrm>
            <a:off x="4572000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6 節　14:05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MV〈折一下 Snap!〉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光之環島列車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光線特勤隊出勤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38159" y="2057400"/>
            <a:ext cx="3474720" cy="43434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drop-text.jpg"/>
          <p:cNvPicPr>
            <a:picLocks noChangeAspect="1"/>
          </p:cNvPicPr>
          <p:nvPr/>
        </p:nvPicPr>
        <p:blipFill>
          <a:blip r:embed="rId4"/>
          <a:srcRect t="6488" b="6488"/>
          <a:stretch>
            <a:fillRect/>
          </a:stretch>
        </p:blipFill>
        <p:spPr>
          <a:xfrm>
            <a:off x="8275319" y="2194560"/>
            <a:ext cx="3200400" cy="1554480"/>
          </a:xfrm>
          <a:prstGeom prst="rect">
            <a:avLst/>
          </a:prstGeom>
        </p:spPr>
      </p:pic>
      <p:sp>
        <p:nvSpPr>
          <p:cNvPr id="22" name="TextBox 21">
            <a:hlinkClick action="ppaction://hlinksldjump" r:id="rId7"/>
          </p:cNvPr>
          <p:cNvSpPr txBox="1"/>
          <p:nvPr/>
        </p:nvSpPr>
        <p:spPr>
          <a:xfrm>
            <a:off x="8321039" y="3840480"/>
            <a:ext cx="31089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　第 7 節　15:00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1039" y="4206240"/>
            <a:ext cx="3108960" cy="5029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39" y="4800600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1　折射偵探守則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39" y="5175504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2　四個生活案件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39" y="5550408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3　水滴放大鏡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39" y="5925312"/>
            <a:ext cx="310896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4　我看到的光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甲班｜第 5 節　13:10–13:55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放大鏡偵探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今天的目標：說出放大鏡中間厚，讓東西看起來變大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透鏡快問＋透鏡實驗室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準備：放大鏡、尋寶單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treasure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甲班｜透鏡快問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放大鏡的鏡片，長什麼樣子？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2948940" y="2286000"/>
            <a:ext cx="777240" cy="3108960"/>
          </a:xfrm>
          <a:custGeom>
            <a:avLst/>
            <a:gdLst/>
            <a:ahLst/>
            <a:cxnLst/>
            <a:rect l="l" t="t" r="r" b="b"/>
            <a:pathLst>
              <a:path w="777240" h="3108960">
                <a:moveTo>
                  <a:pt x="470916" y="0"/>
                </a:moveTo>
                <a:lnTo>
                  <a:pt x="519842" y="129540"/>
                </a:lnTo>
                <a:lnTo>
                  <a:pt x="564515" y="259080"/>
                </a:lnTo>
                <a:lnTo>
                  <a:pt x="604932" y="388620"/>
                </a:lnTo>
                <a:lnTo>
                  <a:pt x="641096" y="518160"/>
                </a:lnTo>
                <a:lnTo>
                  <a:pt x="673004" y="647700"/>
                </a:lnTo>
                <a:lnTo>
                  <a:pt x="700659" y="777240"/>
                </a:lnTo>
                <a:lnTo>
                  <a:pt x="724058" y="906780"/>
                </a:lnTo>
                <a:lnTo>
                  <a:pt x="743203" y="1036320"/>
                </a:lnTo>
                <a:lnTo>
                  <a:pt x="758094" y="1165860"/>
                </a:lnTo>
                <a:lnTo>
                  <a:pt x="768731" y="1295400"/>
                </a:lnTo>
                <a:lnTo>
                  <a:pt x="775112" y="1424940"/>
                </a:lnTo>
                <a:lnTo>
                  <a:pt x="777240" y="1554480"/>
                </a:lnTo>
                <a:lnTo>
                  <a:pt x="775112" y="1684020"/>
                </a:lnTo>
                <a:lnTo>
                  <a:pt x="768731" y="1813560"/>
                </a:lnTo>
                <a:lnTo>
                  <a:pt x="758094" y="1943100"/>
                </a:lnTo>
                <a:lnTo>
                  <a:pt x="743203" y="2072640"/>
                </a:lnTo>
                <a:lnTo>
                  <a:pt x="724058" y="2202180"/>
                </a:lnTo>
                <a:lnTo>
                  <a:pt x="700659" y="2331720"/>
                </a:lnTo>
                <a:lnTo>
                  <a:pt x="673004" y="2461260"/>
                </a:lnTo>
                <a:lnTo>
                  <a:pt x="641096" y="2590800"/>
                </a:lnTo>
                <a:lnTo>
                  <a:pt x="604932" y="2720340"/>
                </a:lnTo>
                <a:lnTo>
                  <a:pt x="564515" y="2849880"/>
                </a:lnTo>
                <a:lnTo>
                  <a:pt x="519842" y="2979420"/>
                </a:lnTo>
                <a:lnTo>
                  <a:pt x="470916" y="3108960"/>
                </a:lnTo>
                <a:lnTo>
                  <a:pt x="306324" y="3108960"/>
                </a:lnTo>
                <a:lnTo>
                  <a:pt x="257397" y="2979420"/>
                </a:lnTo>
                <a:lnTo>
                  <a:pt x="212725" y="2849880"/>
                </a:lnTo>
                <a:lnTo>
                  <a:pt x="172307" y="2720340"/>
                </a:lnTo>
                <a:lnTo>
                  <a:pt x="136144" y="2590800"/>
                </a:lnTo>
                <a:lnTo>
                  <a:pt x="104235" y="2461260"/>
                </a:lnTo>
                <a:lnTo>
                  <a:pt x="76581" y="2331720"/>
                </a:lnTo>
                <a:lnTo>
                  <a:pt x="53181" y="2202180"/>
                </a:lnTo>
                <a:lnTo>
                  <a:pt x="34036" y="2072640"/>
                </a:lnTo>
                <a:lnTo>
                  <a:pt x="19145" y="1943100"/>
                </a:lnTo>
                <a:lnTo>
                  <a:pt x="8509" y="1813560"/>
                </a:lnTo>
                <a:lnTo>
                  <a:pt x="2127" y="1684020"/>
                </a:lnTo>
                <a:lnTo>
                  <a:pt x="0" y="1554480"/>
                </a:lnTo>
                <a:lnTo>
                  <a:pt x="2127" y="1424940"/>
                </a:lnTo>
                <a:lnTo>
                  <a:pt x="8509" y="1295400"/>
                </a:lnTo>
                <a:lnTo>
                  <a:pt x="19145" y="1165860"/>
                </a:lnTo>
                <a:lnTo>
                  <a:pt x="34036" y="1036320"/>
                </a:lnTo>
                <a:lnTo>
                  <a:pt x="53181" y="906780"/>
                </a:lnTo>
                <a:lnTo>
                  <a:pt x="76581" y="777240"/>
                </a:lnTo>
                <a:lnTo>
                  <a:pt x="104235" y="647700"/>
                </a:lnTo>
                <a:lnTo>
                  <a:pt x="136144" y="518160"/>
                </a:lnTo>
                <a:lnTo>
                  <a:pt x="172307" y="388620"/>
                </a:lnTo>
                <a:lnTo>
                  <a:pt x="212725" y="259080"/>
                </a:lnTo>
                <a:lnTo>
                  <a:pt x="257397" y="129540"/>
                </a:lnTo>
                <a:lnTo>
                  <a:pt x="306324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　中間厚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2011680"/>
            <a:ext cx="4846320" cy="4206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Freeform 9"/>
          <p:cNvSpPr/>
          <p:nvPr/>
        </p:nvSpPr>
        <p:spPr>
          <a:xfrm>
            <a:off x="8481060" y="2286000"/>
            <a:ext cx="685800" cy="3108960"/>
          </a:xfrm>
          <a:custGeom>
            <a:avLst/>
            <a:gdLst/>
            <a:ahLst/>
            <a:cxnLst/>
            <a:rect l="l" t="t" r="r" b="b"/>
            <a:pathLst>
              <a:path w="685800" h="3108960">
                <a:moveTo>
                  <a:pt x="685800" y="0"/>
                </a:moveTo>
                <a:lnTo>
                  <a:pt x="647096" y="129540"/>
                </a:lnTo>
                <a:lnTo>
                  <a:pt x="611759" y="259080"/>
                </a:lnTo>
                <a:lnTo>
                  <a:pt x="579786" y="388620"/>
                </a:lnTo>
                <a:lnTo>
                  <a:pt x="551180" y="518160"/>
                </a:lnTo>
                <a:lnTo>
                  <a:pt x="525938" y="647700"/>
                </a:lnTo>
                <a:lnTo>
                  <a:pt x="504063" y="777240"/>
                </a:lnTo>
                <a:lnTo>
                  <a:pt x="485552" y="906780"/>
                </a:lnTo>
                <a:lnTo>
                  <a:pt x="470408" y="1036320"/>
                </a:lnTo>
                <a:lnTo>
                  <a:pt x="458628" y="1165860"/>
                </a:lnTo>
                <a:lnTo>
                  <a:pt x="450215" y="1295400"/>
                </a:lnTo>
                <a:lnTo>
                  <a:pt x="445166" y="1424940"/>
                </a:lnTo>
                <a:lnTo>
                  <a:pt x="443484" y="1554480"/>
                </a:lnTo>
                <a:lnTo>
                  <a:pt x="445166" y="1684020"/>
                </a:lnTo>
                <a:lnTo>
                  <a:pt x="450215" y="1813560"/>
                </a:lnTo>
                <a:lnTo>
                  <a:pt x="458628" y="1943100"/>
                </a:lnTo>
                <a:lnTo>
                  <a:pt x="470408" y="2072640"/>
                </a:lnTo>
                <a:lnTo>
                  <a:pt x="485552" y="2202180"/>
                </a:lnTo>
                <a:lnTo>
                  <a:pt x="504063" y="2331720"/>
                </a:lnTo>
                <a:lnTo>
                  <a:pt x="525938" y="2461260"/>
                </a:lnTo>
                <a:lnTo>
                  <a:pt x="551180" y="2590800"/>
                </a:lnTo>
                <a:lnTo>
                  <a:pt x="579786" y="2720340"/>
                </a:lnTo>
                <a:lnTo>
                  <a:pt x="611759" y="2849880"/>
                </a:lnTo>
                <a:lnTo>
                  <a:pt x="647096" y="2979420"/>
                </a:lnTo>
                <a:lnTo>
                  <a:pt x="685800" y="3108960"/>
                </a:lnTo>
                <a:lnTo>
                  <a:pt x="0" y="3108960"/>
                </a:lnTo>
                <a:lnTo>
                  <a:pt x="38703" y="2979420"/>
                </a:lnTo>
                <a:lnTo>
                  <a:pt x="74041" y="2849880"/>
                </a:lnTo>
                <a:lnTo>
                  <a:pt x="106013" y="2720340"/>
                </a:lnTo>
                <a:lnTo>
                  <a:pt x="134620" y="2590800"/>
                </a:lnTo>
                <a:lnTo>
                  <a:pt x="159861" y="2461260"/>
                </a:lnTo>
                <a:lnTo>
                  <a:pt x="181737" y="2331720"/>
                </a:lnTo>
                <a:lnTo>
                  <a:pt x="200247" y="2202180"/>
                </a:lnTo>
                <a:lnTo>
                  <a:pt x="215392" y="2072640"/>
                </a:lnTo>
                <a:lnTo>
                  <a:pt x="227171" y="1943100"/>
                </a:lnTo>
                <a:lnTo>
                  <a:pt x="235585" y="1813560"/>
                </a:lnTo>
                <a:lnTo>
                  <a:pt x="240633" y="1684020"/>
                </a:lnTo>
                <a:lnTo>
                  <a:pt x="242316" y="1554480"/>
                </a:lnTo>
                <a:lnTo>
                  <a:pt x="240633" y="1424940"/>
                </a:lnTo>
                <a:lnTo>
                  <a:pt x="235585" y="1295400"/>
                </a:lnTo>
                <a:lnTo>
                  <a:pt x="227171" y="1165860"/>
                </a:lnTo>
                <a:lnTo>
                  <a:pt x="215392" y="1036320"/>
                </a:lnTo>
                <a:lnTo>
                  <a:pt x="200247" y="906780"/>
                </a:lnTo>
                <a:lnTo>
                  <a:pt x="181737" y="777240"/>
                </a:lnTo>
                <a:lnTo>
                  <a:pt x="159861" y="647700"/>
                </a:lnTo>
                <a:lnTo>
                  <a:pt x="134620" y="518160"/>
                </a:lnTo>
                <a:lnTo>
                  <a:pt x="106013" y="388620"/>
                </a:lnTo>
                <a:lnTo>
                  <a:pt x="74041" y="259080"/>
                </a:lnTo>
                <a:lnTo>
                  <a:pt x="38703" y="129540"/>
                </a:lnTo>
                <a:lnTo>
                  <a:pt x="0" y="0"/>
                </a:lnTo>
                <a:close/>
              </a:path>
            </a:pathLst>
          </a:custGeom>
          <a:solidFill>
            <a:srgbClr val="BFE6F5"/>
          </a:solidFill>
          <a:ln w="38100">
            <a:solidFill>
              <a:srgbClr val="2A7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5532120"/>
            <a:ext cx="48463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　中間薄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1965960"/>
            <a:ext cx="4937759" cy="4297679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349240" y="173736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263640"/>
            <a:ext cx="12191695" cy="594360"/>
          </a:xfrm>
          <a:prstGeom prst="rect">
            <a:avLst/>
          </a:prstGeom>
          <a:solidFill>
            <a:srgbClr val="2F8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放大鏡中間厚＝凸透鏡：讓光換方向，東西看起來變大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</p:bld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甲班｜透鏡實驗室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透鏡實驗室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一站一站玩：放大鏡、眼鏡、相機，都在讓光換方向。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打開實驗室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len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甲班｜放大鏡尋寶</a:t>
            </a:r>
          </a:p>
        </p:txBody>
      </p:sp>
      <p:sp>
        <p:nvSpPr>
          <p:cNvPr id="5" name="Rectangle 4"/>
          <p:cNvSpPr/>
          <p:nvPr/>
        </p:nvSpPr>
        <p:spPr>
          <a:xfrm rot="21450000">
            <a:off x="877824" y="914400"/>
            <a:ext cx="4114800" cy="57607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21450000">
            <a:off x="822960" y="822960"/>
            <a:ext cx="4114800" cy="5760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treasure.png"/>
          <p:cNvPicPr>
            <a:picLocks noChangeAspect="1"/>
          </p:cNvPicPr>
          <p:nvPr/>
        </p:nvPicPr>
        <p:blipFill>
          <a:blip r:embed="rId3"/>
          <a:srcRect t="39" b="39"/>
          <a:stretch>
            <a:fillRect/>
          </a:stretch>
        </p:blipFill>
        <p:spPr>
          <a:xfrm rot="21450000">
            <a:off x="896112" y="896112"/>
            <a:ext cx="3968496" cy="561441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0" y="868680"/>
            <a:ext cx="60350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放大鏡尋寶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87568" y="1691640"/>
            <a:ext cx="58521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用放大鏡找一找，找到就打勾！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0" y="25146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0" y="25146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🔵 基礎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5146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4 個，打勾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0" y="34290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34290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🟠 進階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4290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找到 8 個，勾出它是什麼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0" y="4343400"/>
            <a:ext cx="5852160" cy="74980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52160" y="4343400"/>
            <a:ext cx="173736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⭐ 挑戰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4343400"/>
            <a:ext cx="3931920" cy="749808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勾出「變大」和「厚」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534924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⚠ 放大鏡不對著太陽、不對著別人的眼睛</a:t>
            </a:r>
          </a:p>
        </p:txBody>
      </p:sp>
      <p:sp>
        <p:nvSpPr>
          <p:cNvPr id="20" name="Rounded Rectangle 19">
            <a:hlinkClick r:id="rId4"/>
          </p:cNvPr>
          <p:cNvSpPr/>
          <p:nvPr/>
        </p:nvSpPr>
        <p:spPr>
          <a:xfrm>
            <a:off x="5669280" y="58978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2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按 ◀ ▶ 開特勤車撿光點，到現場轉一轉、點對的證據卡，還能抽夥伴卡！先按「透鏡案件」。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甲班｜小結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放大鏡中間</a:t>
            </a:r>
          </a:p>
        </p:txBody>
      </p:sp>
      <p:sp>
        <p:nvSpPr>
          <p:cNvPr id="7" name="Rectangle 6"/>
          <p:cNvSpPr/>
          <p:nvPr/>
        </p:nvSpPr>
        <p:spPr>
          <a:xfrm>
            <a:off x="373075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讓光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8483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01168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換方向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301752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東西看起來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30752" y="587044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57600" y="502920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502920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3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  <p:bldP spid="16" grpId="0" animBg="1"/>
    </p:bld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6 節　14:05–14:50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光線特勤隊總複習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今天的目標：分辨反射和折射，說出光在水面折一下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MV〈折一下 Snap!〉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光線特勤隊出勤</a:t>
            </a:r>
          </a:p>
        </p:txBody>
      </p:sp>
      <p:sp>
        <p:nvSpPr>
          <p:cNvPr id="13" name="Rectangle 12"/>
          <p:cNvSpPr/>
          <p:nvPr/>
        </p:nvSpPr>
        <p:spPr>
          <a:xfrm rot="2148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 rot="2148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train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2148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乙班｜暖身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〈折一下 Snap!〉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唱到 Snap，全班一起彈指！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乙班｜光與顏色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光之環島列車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從台北出發，每一站答一題光的問題。卡住可以按「看提示」。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trai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乙班｜出勤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光線特勤隊・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出勤！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按 ◀ ▶ 開特勤車撿光點，到現場轉一轉、點對的證據卡，還能抽夥伴卡！先按「折射案件」。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出勤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dispatch.png"/>
          <p:cNvPicPr>
            <a:picLocks noChangeAspect="1"/>
          </p:cNvPicPr>
          <p:nvPr/>
        </p:nvPicPr>
        <p:blipFill>
          <a:blip r:embed="rId4"/>
          <a:srcRect t="17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乙班｜小結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91440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說說看：今天學到什麼？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377440"/>
            <a:ext cx="13716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</a:t>
            </a:r>
          </a:p>
        </p:txBody>
      </p:sp>
      <p:sp>
        <p:nvSpPr>
          <p:cNvPr id="7" name="Rectangle 6"/>
          <p:cNvSpPr/>
          <p:nvPr/>
        </p:nvSpPr>
        <p:spPr>
          <a:xfrm>
            <a:off x="2084832" y="3218688"/>
            <a:ext cx="186537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2377440"/>
            <a:ext cx="20116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0" y="237744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703320"/>
            <a:ext cx="246887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82112" y="4544568"/>
            <a:ext cx="2139696" cy="64008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3703320"/>
            <a:ext cx="22860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42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94960" y="3703320"/>
            <a:ext cx="822959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，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029200"/>
            <a:ext cx="411480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再繼續直直走。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12" grpId="0" animBg="1"/>
    </p:bld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乙班｜第 7 節　15:00–15:45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85216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5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生活裡的折射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28800"/>
            <a:ext cx="5852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今天的目標：找出生活裡的折射，做一個水滴放大鏡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606040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25880" y="2560320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折射偵探守則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300984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25880" y="3255263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四個生活案件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995928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3950208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水滴放大鏡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4690872"/>
            <a:ext cx="457200" cy="45720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4645152"/>
            <a:ext cx="49377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989320"/>
            <a:ext cx="56692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準備：透明片、滴管、一杯水、尋寶單、畫卡</a:t>
            </a:r>
          </a:p>
        </p:txBody>
      </p:sp>
      <p:sp>
        <p:nvSpPr>
          <p:cNvPr id="16" name="Rectangle 15"/>
          <p:cNvSpPr/>
          <p:nvPr/>
        </p:nvSpPr>
        <p:spPr>
          <a:xfrm rot="120000">
            <a:off x="6867144" y="1097280"/>
            <a:ext cx="4754880" cy="484632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120000">
            <a:off x="6812280" y="1005840"/>
            <a:ext cx="4754880" cy="4846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3"/>
          <a:srcRect l="22645" r="22645"/>
          <a:stretch>
            <a:fillRect/>
          </a:stretch>
        </p:blipFill>
        <p:spPr>
          <a:xfrm rot="120000">
            <a:off x="6922008" y="1115568"/>
            <a:ext cx="4535424" cy="4626864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8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8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8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280"/>
                            </p:stCondLst>
                            <p:childTnLst>
                              <p:par>
                                <p:cTn id="2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80"/>
                            </p:stCondLst>
                            <p:childTnLst>
                              <p:par>
                                <p:cTn id="2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8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430"/>
                            </p:stCondLst>
                            <p:childTnLst>
                              <p:par>
                                <p:cTn id="3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430"/>
                            </p:stCondLst>
                            <p:childTnLst>
                              <p:par>
                                <p:cTn id="3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80"/>
                            </p:stCondLst>
                            <p:childTnLst>
                              <p:par>
                                <p:cTn id="4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80"/>
                            </p:stCondLst>
                            <p:childTnLst>
                              <p:par>
                                <p:cTn id="4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8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9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730"/>
                            </p:stCondLst>
                            <p:childTnLst>
                              <p:par>
                                <p:cTn id="51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3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4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730"/>
                            </p:stCondLst>
                            <p:childTnLst>
                              <p:par>
                                <p:cTn id="56" presetID="2" presetClass="entr" presetSubtype="8" fill="hold" decel="100000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8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6" grpId="0" animBg="1"/>
      <p:bldP spid="17" grpId="0" animBg="1"/>
    </p:bld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乙班｜折射偵探守則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0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為什麼眼睛會被騙？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828800"/>
            <a:ext cx="6400800" cy="4572000"/>
          </a:xfrm>
          <a:prstGeom prst="rect">
            <a:avLst/>
          </a:prstGeom>
          <a:solidFill>
            <a:srgbClr val="FBF8F2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3977639"/>
            <a:ext cx="6400800" cy="2423160"/>
          </a:xfrm>
          <a:prstGeom prst="rect">
            <a:avLst/>
          </a:prstGeom>
          <a:solidFill>
            <a:srgbClr val="CD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>
            <a:off x="640080" y="3977639"/>
            <a:ext cx="6400800" cy="0"/>
          </a:xfrm>
          <a:prstGeom prst="line">
            <a:avLst/>
          </a:prstGeom>
          <a:ln w="38100">
            <a:solidFill>
              <a:srgbClr val="1F7A8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77240" y="352044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空氣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069080"/>
            <a:ext cx="10972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水</a:t>
            </a:r>
          </a:p>
        </p:txBody>
      </p:sp>
      <p:sp>
        <p:nvSpPr>
          <p:cNvPr id="11" name="Oval 10"/>
          <p:cNvSpPr/>
          <p:nvPr/>
        </p:nvSpPr>
        <p:spPr>
          <a:xfrm>
            <a:off x="4709159" y="5532120"/>
            <a:ext cx="822960" cy="365760"/>
          </a:xfrm>
          <a:prstGeom prst="ellips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Isosceles Triangle 11"/>
          <p:cNvSpPr/>
          <p:nvPr/>
        </p:nvSpPr>
        <p:spPr>
          <a:xfrm rot="5400000">
            <a:off x="5468112" y="5532120"/>
            <a:ext cx="320040" cy="365760"/>
          </a:xfrm>
          <a:prstGeom prst="triangle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0" y="5943600"/>
            <a:ext cx="14630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B85A00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Oval 13"/>
          <p:cNvSpPr/>
          <p:nvPr/>
        </p:nvSpPr>
        <p:spPr>
          <a:xfrm>
            <a:off x="1124712" y="2130551"/>
            <a:ext cx="585216" cy="40233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325880" y="2240279"/>
            <a:ext cx="182880" cy="182880"/>
          </a:xfrm>
          <a:prstGeom prst="ellipse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1645919"/>
            <a:ext cx="12801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3657600" y="3977639"/>
            <a:ext cx="1463040" cy="1737361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Oval 17"/>
          <p:cNvSpPr/>
          <p:nvPr/>
        </p:nvSpPr>
        <p:spPr>
          <a:xfrm>
            <a:off x="3383280" y="3703320"/>
            <a:ext cx="548640" cy="548640"/>
          </a:xfrm>
          <a:prstGeom prst="ellipse">
            <a:avLst/>
          </a:prstGeom>
          <a:noFill/>
          <a:ln w="50800">
            <a:solidFill>
              <a:srgbClr val="C83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31920" y="3291839"/>
            <a:ext cx="201168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折一下！</a:t>
            </a:r>
          </a:p>
        </p:txBody>
      </p:sp>
      <p:cxnSp>
        <p:nvCxnSpPr>
          <p:cNvPr id="20" name="Connector 19"/>
          <p:cNvCxnSpPr/>
          <p:nvPr/>
        </p:nvCxnSpPr>
        <p:spPr>
          <a:xfrm flipH="1" flipV="1">
            <a:off x="1645920" y="2496312"/>
            <a:ext cx="2011680" cy="1481327"/>
          </a:xfrm>
          <a:prstGeom prst="line">
            <a:avLst/>
          </a:prstGeom>
          <a:ln w="88900">
            <a:solidFill>
              <a:srgbClr val="D99A2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3657600" y="3977639"/>
            <a:ext cx="1344168" cy="987553"/>
          </a:xfrm>
          <a:prstGeom prst="line">
            <a:avLst/>
          </a:prstGeom>
          <a:ln w="38100">
            <a:solidFill>
              <a:srgbClr val="C8372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4681727" y="4828031"/>
            <a:ext cx="822960" cy="365760"/>
          </a:xfrm>
          <a:prstGeom prst="ellips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Isosceles Triangle 22"/>
          <p:cNvSpPr/>
          <p:nvPr/>
        </p:nvSpPr>
        <p:spPr>
          <a:xfrm rot="5400000">
            <a:off x="5440679" y="4828031"/>
            <a:ext cx="320040" cy="365760"/>
          </a:xfrm>
          <a:prstGeom prst="triangle">
            <a:avLst/>
          </a:prstGeom>
          <a:solidFill>
            <a:srgbClr val="F28C28">
              <a:alpha val="35000"/>
            </a:srgbClr>
          </a:solidFill>
          <a:ln w="25400">
            <a:solidFill>
              <a:srgbClr val="C8372D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44568" y="4325112"/>
            <a:ext cx="219456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25" name="Oval 24"/>
          <p:cNvSpPr/>
          <p:nvPr/>
        </p:nvSpPr>
        <p:spPr>
          <a:xfrm>
            <a:off x="7452360" y="196596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183879" y="1874519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光走直線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02168" y="244144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一直往前走</a:t>
            </a:r>
          </a:p>
        </p:txBody>
      </p:sp>
      <p:sp>
        <p:nvSpPr>
          <p:cNvPr id="28" name="Oval 27"/>
          <p:cNvSpPr/>
          <p:nvPr/>
        </p:nvSpPr>
        <p:spPr>
          <a:xfrm>
            <a:off x="7452360" y="342900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83879" y="333756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碰到水面，折一下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02168" y="3904487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換個方向，再繼續直直走</a:t>
            </a:r>
          </a:p>
        </p:txBody>
      </p:sp>
      <p:sp>
        <p:nvSpPr>
          <p:cNvPr id="31" name="Oval 30"/>
          <p:cNvSpPr/>
          <p:nvPr/>
        </p:nvSpPr>
        <p:spPr>
          <a:xfrm>
            <a:off x="7452360" y="4892040"/>
            <a:ext cx="566928" cy="566928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83879" y="4800600"/>
            <a:ext cx="36576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眼睛以為光是直直來的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02168" y="5367528"/>
            <a:ext cx="36576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所以東西看起來「跑位置」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6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8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6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400" fill="hold"/>
                                        <p:tgtEl>
                                          <p:spTgt spid="2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4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4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4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400" fill="hold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2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4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traw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🧋 手搖飲的吸管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從旁邊看，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吸管真的斷掉了嗎？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斷掉了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沒有斷，是直的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ra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1｜證據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6095847" y="2541285"/>
            <a:ext cx="4571886" cy="0"/>
          </a:xfrm>
          <a:prstGeom prst="line">
            <a:avLst/>
          </a:prstGeom>
          <a:ln w="76200">
            <a:solidFill>
              <a:srgbClr val="2CE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7574072" y="2038365"/>
            <a:ext cx="1463040" cy="1005840"/>
          </a:xfrm>
          <a:prstGeom prst="ellipse">
            <a:avLst/>
          </a:prstGeom>
          <a:noFill/>
          <a:ln w="635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6629234" y="2541285"/>
            <a:ext cx="1676358" cy="2743152"/>
          </a:xfrm>
          <a:prstGeom prst="line">
            <a:avLst/>
          </a:prstGeom>
          <a:ln w="76200">
            <a:solidFill>
              <a:srgbClr val="FFE14D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687958" y="4400528"/>
            <a:ext cx="23774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真的吸管在這裡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38" y="1855489"/>
            <a:ext cx="1645920" cy="45720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9FE3FF"/>
                </a:solidFill>
                <a:latin typeface="微軟正黑體"/>
                <a:ea typeface="微軟正黑體"/>
                <a:cs typeface="微軟正黑體"/>
              </a:rPr>
              <a:t>水面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吸管沒有斷！光在水面折一下，眼睛就被騙了。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拿出來看，吸管還是直的。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ool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🏊 學校游泳池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游泳池看起來淺淺的，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真的淺嗎？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真的很淺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其實比較深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o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2｜證據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14537" y="2541285"/>
            <a:ext cx="0" cy="1447775"/>
          </a:xfrm>
          <a:prstGeom prst="line">
            <a:avLst/>
          </a:prstGeom>
          <a:ln w="1270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325817" y="1695471"/>
            <a:ext cx="201168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看起來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581310" y="2541285"/>
            <a:ext cx="0" cy="3276543"/>
          </a:xfrm>
          <a:prstGeom prst="line">
            <a:avLst/>
          </a:prstGeom>
          <a:ln w="127000">
            <a:solidFill>
              <a:srgbClr val="FF3F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3489870" y="1695471"/>
            <a:ext cx="1645920" cy="64008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3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真的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看起來淺，其實更深！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下水前先看水深標示、大人在旁邊。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</p:bldLst>
  </p:timing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net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🐟 竹東溪撈魚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看到水裡有魚，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網子要往哪裡撈？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撈看到的地方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再往深一點撈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4343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4114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ne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3｜證據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0" y="3874762"/>
            <a:ext cx="12191695" cy="0"/>
          </a:xfrm>
          <a:prstGeom prst="line">
            <a:avLst/>
          </a:prstGeom>
          <a:ln w="38100">
            <a:solidFill>
              <a:srgbClr val="9FE3FF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8427499" y="4796762"/>
            <a:ext cx="822960" cy="365760"/>
          </a:xfrm>
          <a:prstGeom prst="ellipse">
            <a:avLst/>
          </a:prstGeom>
          <a:solidFill>
            <a:srgbClr val="F28C28"/>
          </a:solidFill>
          <a:ln w="38100">
            <a:solidFill>
              <a:srgbClr val="F28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71332" y="4301471"/>
            <a:ext cx="822960" cy="365760"/>
          </a:xfrm>
          <a:prstGeom prst="ellipse">
            <a:avLst/>
          </a:prstGeom>
          <a:noFill/>
          <a:ln w="38100">
            <a:solidFill>
              <a:srgbClr val="FF3F6E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 flipV="1">
            <a:off x="8572285" y="3874762"/>
            <a:ext cx="266694" cy="1104880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H="1" flipV="1">
            <a:off x="5333866" y="26729"/>
            <a:ext cx="3238419" cy="3848033"/>
          </a:xfrm>
          <a:prstGeom prst="line">
            <a:avLst/>
          </a:prstGeom>
          <a:ln w="76200">
            <a:solidFill>
              <a:srgbClr val="FFE14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8343685" y="3646162"/>
            <a:ext cx="457200" cy="457200"/>
          </a:xfrm>
          <a:prstGeom prst="ellipse">
            <a:avLst/>
          </a:prstGeom>
          <a:noFill/>
          <a:ln w="50800">
            <a:solidFill>
              <a:srgbClr val="FF3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>
            <a:off x="8572285" y="3874762"/>
            <a:ext cx="510527" cy="609589"/>
          </a:xfrm>
          <a:prstGeom prst="line">
            <a:avLst/>
          </a:prstGeom>
          <a:ln w="38100">
            <a:solidFill>
              <a:srgbClr val="FF3F6E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9341899" y="4705322"/>
            <a:ext cx="182880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B46B"/>
                </a:solidFill>
                <a:latin typeface="微軟正黑體"/>
                <a:ea typeface="微軟正黑體"/>
                <a:cs typeface="微軟正黑體"/>
              </a:rPr>
              <a:t>真的魚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85732" y="4164311"/>
            <a:ext cx="219456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000" b="1">
                <a:ln w="38100">
                  <a:solidFill>
                    <a:srgbClr val="000000"/>
                  </a:solidFill>
                </a:ln>
                <a:solidFill>
                  <a:srgbClr val="FF8FA8"/>
                </a:solidFill>
                <a:latin typeface="微軟正黑體"/>
                <a:ea typeface="微軟正黑體"/>
                <a:cs typeface="微軟正黑體"/>
              </a:rPr>
              <a:t>看起來的魚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魚真正的位置，比看起來更深！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光從水裡出來，在水面折一下。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11" grpId="0" animBg="1"/>
      <p:bldP spid="13" grpId="0" animBg="1"/>
      <p:bldP spid="14" grpId="0" animBg="1"/>
      <p:bldP spid="15" grpId="0" animBg="1"/>
    </p:bldLst>
  </p:timing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Rectangle 3"/>
          <p:cNvSpPr/>
          <p:nvPr/>
        </p:nvSpPr>
        <p:spPr>
          <a:xfrm rot="21528000">
            <a:off x="557784" y="1005840"/>
            <a:ext cx="6035040" cy="512064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 rot="21528000">
            <a:off x="502920" y="914400"/>
            <a:ext cx="6035040" cy="51206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drop.jpg"/>
          <p:cNvPicPr>
            <a:picLocks noChangeAspect="1"/>
          </p:cNvPicPr>
          <p:nvPr/>
        </p:nvPicPr>
        <p:blipFill>
          <a:blip r:embed="rId3"/>
          <a:srcRect l="16887" r="16887"/>
          <a:stretch>
            <a:fillRect/>
          </a:stretch>
        </p:blipFill>
        <p:spPr>
          <a:xfrm rot="21528000">
            <a:off x="612648" y="1024128"/>
            <a:ext cx="5815583" cy="490118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949440" y="54864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乙班｜生活案件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914400"/>
            <a:ext cx="47548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💧 下雨後的報紙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417320"/>
            <a:ext cx="4846320" cy="17373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一滴圓圓的水，</a:t>
            </a:r>
          </a:p>
          <a:p>
            <a:pPr algn="l">
              <a:lnSpc>
                <a:spcPct val="112000"/>
              </a:lnSpc>
            </a:pPr>
            <a:r>
              <a:rPr sz="3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下面的字會怎樣？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246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178040" y="3442715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3246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49440" y="4389120"/>
            <a:ext cx="4800600" cy="96012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2540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178040" y="4585716"/>
            <a:ext cx="566928" cy="566928"/>
          </a:xfrm>
          <a:prstGeom prst="ellipse">
            <a:avLst/>
          </a:prstGeom>
          <a:solidFill>
            <a:srgbClr val="FFFFFF"/>
          </a:solidFill>
          <a:ln w="25400">
            <a:solidFill>
              <a:srgbClr val="1F2A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89120"/>
            <a:ext cx="3703320" cy="9601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變小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200400"/>
            <a:ext cx="4892040" cy="1051560"/>
          </a:xfrm>
          <a:prstGeom prst="roundRect">
            <a:avLst>
              <a:gd name="adj" fmla="val 18000"/>
            </a:avLst>
          </a:prstGeom>
          <a:noFill/>
          <a:ln w="63500">
            <a:solidFill>
              <a:srgbClr val="2F8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338560" y="2971800"/>
            <a:ext cx="685800" cy="685800"/>
          </a:xfrm>
          <a:prstGeom prst="ellipse">
            <a:avLst/>
          </a:prstGeom>
          <a:solidFill>
            <a:srgbClr val="2F8A4C"/>
          </a:solidFill>
          <a:ln w="381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67728" y="5623560"/>
            <a:ext cx="475488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下一頁看證據 →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3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</p:bldLst>
  </p:timing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dro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TextBox 3">
            <a:hlinkClick action="ppaction://hlinksldjump" r:id="rId3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411480"/>
            <a:ext cx="4206240" cy="502920"/>
          </a:xfrm>
          <a:prstGeom prst="roundRect">
            <a:avLst>
              <a:gd name="adj" fmla="val 5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案件 4｜證據</a:t>
            </a:r>
          </a:p>
        </p:txBody>
      </p:sp>
      <p:sp>
        <p:nvSpPr>
          <p:cNvPr id="6" name="Oval 5"/>
          <p:cNvSpPr/>
          <p:nvPr/>
        </p:nvSpPr>
        <p:spPr>
          <a:xfrm>
            <a:off x="4388959" y="2236470"/>
            <a:ext cx="4023360" cy="2286000"/>
          </a:xfrm>
          <a:prstGeom prst="ellipse">
            <a:avLst/>
          </a:prstGeom>
          <a:noFill/>
          <a:ln w="63500">
            <a:solidFill>
              <a:srgbClr val="FFE1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991352" y="895389"/>
            <a:ext cx="329184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600" b="1">
                <a:ln w="38100">
                  <a:solidFill>
                    <a:srgbClr val="000000"/>
                  </a:solidFill>
                </a:ln>
                <a:solidFill>
                  <a:srgbClr val="FFE14D"/>
                </a:solidFill>
                <a:latin typeface="微軟正黑體"/>
                <a:ea typeface="微軟正黑體"/>
                <a:cs typeface="微軟正黑體"/>
              </a:rPr>
              <a:t>字變大了！</a:t>
            </a:r>
          </a:p>
        </p:txBody>
      </p:sp>
      <p:cxnSp>
        <p:nvCxnSpPr>
          <p:cNvPr id="8" name="Connector 7"/>
          <p:cNvCxnSpPr/>
          <p:nvPr/>
        </p:nvCxnSpPr>
        <p:spPr>
          <a:xfrm flipH="1">
            <a:off x="7924601" y="1398305"/>
            <a:ext cx="1523962" cy="1142980"/>
          </a:xfrm>
          <a:prstGeom prst="line">
            <a:avLst/>
          </a:prstGeom>
          <a:ln w="63500">
            <a:solidFill>
              <a:srgbClr val="FFE14D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8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水滴中間厚，讓光換方向，字就變大了。</a:t>
            </a:r>
          </a:p>
          <a:p>
            <a:pPr algn="l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水滴就是一個小小的放大鏡。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8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</p:bldLst>
  </p:timing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乙班｜案件整理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四個案件，同一個原因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traw.jpg"/>
          <p:cNvPicPr>
            <a:picLocks noChangeAspect="1"/>
          </p:cNvPicPr>
          <p:nvPr/>
        </p:nvPicPr>
        <p:blipFill>
          <a:blip r:embed="rId3"/>
          <a:srcRect l="4478" r="4478"/>
          <a:stretch>
            <a:fillRect/>
          </a:stretch>
        </p:blipFill>
        <p:spPr>
          <a:xfrm>
            <a:off x="749808" y="1892807"/>
            <a:ext cx="2386584" cy="14630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吸管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看起來：看起來斷掉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其實：其實是直的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ool.jpg"/>
          <p:cNvPicPr>
            <a:picLocks noChangeAspect="1"/>
          </p:cNvPicPr>
          <p:nvPr/>
        </p:nvPicPr>
        <p:blipFill>
          <a:blip r:embed="rId4"/>
          <a:srcRect l="4478" r="4478"/>
          <a:stretch>
            <a:fillRect/>
          </a:stretch>
        </p:blipFill>
        <p:spPr>
          <a:xfrm>
            <a:off x="3538728" y="1892807"/>
            <a:ext cx="2386584" cy="14630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56616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游泳池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看起來：看起來很淺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其實：其實比較深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et.jpg"/>
          <p:cNvPicPr>
            <a:picLocks noChangeAspect="1"/>
          </p:cNvPicPr>
          <p:nvPr/>
        </p:nvPicPr>
        <p:blipFill>
          <a:blip r:embed="rId5"/>
          <a:srcRect l="4478" r="4478"/>
          <a:stretch>
            <a:fillRect/>
          </a:stretch>
        </p:blipFill>
        <p:spPr>
          <a:xfrm>
            <a:off x="6327648" y="1892807"/>
            <a:ext cx="2386584" cy="14630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355080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撈魚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55080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看起來：魚看起來比較高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其實：其實在更深的地方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06839" y="1783080"/>
            <a:ext cx="2606040" cy="3886200"/>
          </a:xfrm>
          <a:prstGeom prst="rect">
            <a:avLst/>
          </a:prstGeom>
          <a:solidFill>
            <a:srgbClr val="FFFFFF"/>
          </a:solidFill>
          <a:ln w="19050">
            <a:solidFill>
              <a:srgbClr val="D8C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drop.jpg"/>
          <p:cNvPicPr>
            <a:picLocks noChangeAspect="1"/>
          </p:cNvPicPr>
          <p:nvPr/>
        </p:nvPicPr>
        <p:blipFill>
          <a:blip r:embed="rId6"/>
          <a:srcRect l="4478" r="4478"/>
          <a:stretch>
            <a:fillRect/>
          </a:stretch>
        </p:blipFill>
        <p:spPr>
          <a:xfrm>
            <a:off x="9116567" y="1892807"/>
            <a:ext cx="2386584" cy="14630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9143999" y="3429000"/>
            <a:ext cx="237744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一滴水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3999" y="3931920"/>
            <a:ext cx="23774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看起來：字看起來變大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3999" y="4709160"/>
            <a:ext cx="237744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8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其實：水滴讓光換方向</a:t>
            </a:r>
          </a:p>
        </p:txBody>
      </p:sp>
      <p:sp>
        <p:nvSpPr>
          <p:cNvPr id="26" name="Rectangle 25"/>
          <p:cNvSpPr/>
          <p:nvPr/>
        </p:nvSpPr>
        <p:spPr>
          <a:xfrm>
            <a:off x="0" y="5897880"/>
            <a:ext cx="12191695" cy="960120"/>
          </a:xfrm>
          <a:prstGeom prst="rect">
            <a:avLst/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0" rIns="640080"/>
          <a:lstStyle/>
          <a:p>
            <a:pPr algn="l"/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光走直線，碰到水面折一下——眼睛就被騙了！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4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4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4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4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4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4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4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4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4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4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4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4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4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4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4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" presetClass="entr" presetSubtype="4" fill="hold" decel="100000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4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4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400" fill="hold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4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decel="100000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4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95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9" grpId="0" animBg="1"/>
      <p:bldP spid="10" grpId="0" animBg="1"/>
      <p:bldP spid="11" grpId="0" animBg="1"/>
      <p:bldP spid="13" grpId="0" animBg="1"/>
      <p:bldP spid="14" grpId="0" animBg="1"/>
      <p:bldP spid="15" grpId="0" animBg="1"/>
      <p:bldP spid="16" grpId="0" animBg="1"/>
      <p:bldP spid="18" grpId="0" animBg="1"/>
      <p:bldP spid="19" grpId="0" animBg="1"/>
      <p:bldP spid="20" grpId="0" animBg="1"/>
      <p:bldP spid="21" grpId="0" animBg="1"/>
      <p:bldP spid="23" grpId="0" animBg="1"/>
      <p:bldP spid="24" grpId="0" animBg="1"/>
      <p:bldP spid="25" grpId="0" animBg="1"/>
      <p:bldP spid="26" grpId="0" animBg="1"/>
    </p:bldLst>
  </p:timing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乙班｜動手做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8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自己做一個水滴放大鏡</a:t>
            </a:r>
          </a:p>
        </p:txBody>
      </p:sp>
      <p:sp>
        <p:nvSpPr>
          <p:cNvPr id="6" name="Rectangle 5"/>
          <p:cNvSpPr/>
          <p:nvPr/>
        </p:nvSpPr>
        <p:spPr>
          <a:xfrm rot="21510000">
            <a:off x="694944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 rot="21510000">
            <a:off x="64008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heet-on-paper.jpg"/>
          <p:cNvPicPr>
            <a:picLocks noChangeAspect="1"/>
          </p:cNvPicPr>
          <p:nvPr/>
        </p:nvPicPr>
        <p:blipFill>
          <a:blip r:embed="rId3"/>
          <a:srcRect l="10419" r="10419"/>
          <a:stretch>
            <a:fillRect/>
          </a:stretch>
        </p:blipFill>
        <p:spPr>
          <a:xfrm rot="21510000">
            <a:off x="749808" y="1938528"/>
            <a:ext cx="3255263" cy="2295144"/>
          </a:xfrm>
          <a:prstGeom prst="rect">
            <a:avLst/>
          </a:prstGeom>
        </p:spPr>
      </p:pic>
      <p:sp>
        <p:nvSpPr>
          <p:cNvPr id="9" name="Oval 8"/>
          <p:cNvSpPr/>
          <p:nvPr/>
        </p:nvSpPr>
        <p:spPr>
          <a:xfrm>
            <a:off x="50291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透明片放在字上</a:t>
            </a:r>
          </a:p>
        </p:txBody>
      </p:sp>
      <p:sp>
        <p:nvSpPr>
          <p:cNvPr id="11" name="Rectangle 10"/>
          <p:cNvSpPr/>
          <p:nvPr/>
        </p:nvSpPr>
        <p:spPr>
          <a:xfrm rot="60000">
            <a:off x="444398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 rot="60000">
            <a:off x="4389120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ropper.jpg"/>
          <p:cNvPicPr>
            <a:picLocks noChangeAspect="1"/>
          </p:cNvPicPr>
          <p:nvPr/>
        </p:nvPicPr>
        <p:blipFill>
          <a:blip r:embed="rId4"/>
          <a:srcRect l="10419" r="10419"/>
          <a:stretch>
            <a:fillRect/>
          </a:stretch>
        </p:blipFill>
        <p:spPr>
          <a:xfrm rot="60000">
            <a:off x="4498848" y="1938528"/>
            <a:ext cx="3255263" cy="2295144"/>
          </a:xfrm>
          <a:prstGeom prst="rect">
            <a:avLst/>
          </a:prstGeom>
        </p:spPr>
      </p:pic>
      <p:sp>
        <p:nvSpPr>
          <p:cNvPr id="14" name="Oval 13"/>
          <p:cNvSpPr/>
          <p:nvPr/>
        </p:nvSpPr>
        <p:spPr>
          <a:xfrm>
            <a:off x="425195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用滴管滴一滴水</a:t>
            </a:r>
          </a:p>
        </p:txBody>
      </p:sp>
      <p:sp>
        <p:nvSpPr>
          <p:cNvPr id="16" name="Rectangle 15"/>
          <p:cNvSpPr/>
          <p:nvPr/>
        </p:nvSpPr>
        <p:spPr>
          <a:xfrm rot="21540000">
            <a:off x="8193023" y="1920240"/>
            <a:ext cx="3474720" cy="251460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 rot="21540000">
            <a:off x="8138159" y="1828800"/>
            <a:ext cx="3474720" cy="2514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drop-text.jpg"/>
          <p:cNvPicPr>
            <a:picLocks noChangeAspect="1"/>
          </p:cNvPicPr>
          <p:nvPr/>
        </p:nvPicPr>
        <p:blipFill>
          <a:blip r:embed="rId5"/>
          <a:srcRect l="10419" r="10419"/>
          <a:stretch>
            <a:fillRect/>
          </a:stretch>
        </p:blipFill>
        <p:spPr>
          <a:xfrm rot="21540000">
            <a:off x="8247887" y="1938528"/>
            <a:ext cx="3255263" cy="2295144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8000999" y="1645920"/>
            <a:ext cx="640080" cy="640080"/>
          </a:xfrm>
          <a:prstGeom prst="ellipse">
            <a:avLst/>
          </a:prstGeom>
          <a:solidFill>
            <a:srgbClr val="C837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4526280"/>
            <a:ext cx="347472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>
              <a:lnSpc>
                <a:spcPct val="112000"/>
              </a:lnSpc>
            </a:pPr>
            <a:r>
              <a:rPr sz="2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看！字變大了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57800"/>
            <a:ext cx="768096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1F7A8C"/>
                </a:solidFill>
                <a:latin typeface="微軟正黑體"/>
                <a:ea typeface="微軟正黑體"/>
                <a:cs typeface="微軟正黑體"/>
              </a:rPr>
              <a:t>比一比：水滴和放大鏡，哪一個讓字變得比較大？</a:t>
            </a:r>
          </a:p>
        </p:txBody>
      </p:sp>
      <p:sp>
        <p:nvSpPr>
          <p:cNvPr id="22" name="Rounded Rectangle 21">
            <a:hlinkClick r:id="rId6"/>
          </p:cNvPr>
          <p:cNvSpPr/>
          <p:nvPr/>
        </p:nvSpPr>
        <p:spPr>
          <a:xfrm>
            <a:off x="8778240" y="521208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尋寶單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9" grpId="0" animBg="1"/>
      <p:bldP spid="10" grpId="0" animBg="1"/>
      <p:bldP spid="11" grpId="0" animBg="1"/>
      <p:bldP spid="12" grpId="0" animBg="1"/>
      <p:bldP spid="14" grpId="0" animBg="1"/>
      <p:bldP spid="15" grpId="0" animBg="1"/>
      <p:bldP spid="16" grpId="0" animBg="1"/>
      <p:bldP spid="17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乙班｜畫畫看</a:t>
            </a:r>
          </a:p>
        </p:txBody>
      </p:sp>
      <p:sp>
        <p:nvSpPr>
          <p:cNvPr id="5" name="Rectangle 4"/>
          <p:cNvSpPr/>
          <p:nvPr/>
        </p:nvSpPr>
        <p:spPr>
          <a:xfrm rot="150000">
            <a:off x="6821424" y="822960"/>
            <a:ext cx="4206240" cy="5852160"/>
          </a:xfrm>
          <a:prstGeom prst="rect">
            <a:avLst/>
          </a:prstGeom>
          <a:solidFill>
            <a:srgbClr val="000000">
              <a:alpha val="1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 rot="150000">
            <a:off x="6766560" y="731520"/>
            <a:ext cx="4206240" cy="5852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w_draw.png"/>
          <p:cNvPicPr>
            <a:picLocks noChangeAspect="1"/>
          </p:cNvPicPr>
          <p:nvPr/>
        </p:nvPicPr>
        <p:blipFill>
          <a:blip r:embed="rId3"/>
          <a:srcRect b="50000"/>
          <a:stretch>
            <a:fillRect/>
          </a:stretch>
        </p:blipFill>
        <p:spPr>
          <a:xfrm rot="150000">
            <a:off x="6839712" y="804672"/>
            <a:ext cx="4059935" cy="57058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914400"/>
            <a:ext cx="5852160" cy="8229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我看到的光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1783080"/>
            <a:ext cx="56692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畫下今天最神奇的發現。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60604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① 畫下來（也可以貼）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38328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② 勾一勾：今天最神奇的是？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160520"/>
            <a:ext cx="5852160" cy="6400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6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③ 勾一勾：我的心情</a:t>
            </a:r>
          </a:p>
        </p:txBody>
      </p:sp>
      <p:sp>
        <p:nvSpPr>
          <p:cNvPr id="13" name="Rounded Rectangle 12">
            <a:hlinkClick r:id="rId4"/>
          </p:cNvPr>
          <p:cNvSpPr/>
          <p:nvPr/>
        </p:nvSpPr>
        <p:spPr>
          <a:xfrm>
            <a:off x="658368" y="5120640"/>
            <a:ext cx="2743200" cy="658368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0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📄  畫卡</a:t>
            </a:r>
          </a:p>
        </p:txBody>
      </p:sp>
    </p:spTree>
  </p:cSld>
  <p:clrMapOvr>
    <a:masterClrMapping/>
  </p:clrMapOvr>
  <p:transition spd="med">
    <p:fade/>
  </p:transition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>
            <a:hlinkClick action="ppaction://hlinksldjump" r:id="rId2"/>
          </p:cNvPr>
          <p:cNvSpPr txBox="1"/>
          <p:nvPr/>
        </p:nvSpPr>
        <p:spPr>
          <a:xfrm>
            <a:off x="10728655" y="457200"/>
            <a:ext cx="9144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r">
              <a:lnSpc>
                <a:spcPct val="112000"/>
              </a:lnSpc>
            </a:pPr>
            <a:r>
              <a:rPr sz="15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目錄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8229600" cy="4114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C8372D"/>
                </a:solidFill>
                <a:latin typeface="微軟正黑體"/>
                <a:ea typeface="微軟正黑體"/>
                <a:cs typeface="微軟正黑體"/>
              </a:rPr>
              <a:t>乙班｜一起唱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512064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MV</a:t>
            </a:r>
          </a:p>
          <a:p>
            <a:pPr algn="l">
              <a:lnSpc>
                <a:spcPct val="112000"/>
              </a:lnSpc>
            </a:pPr>
            <a:r>
              <a:rPr sz="4400" b="1">
                <a:solidFill>
                  <a:srgbClr val="1F2A37"/>
                </a:solidFill>
                <a:latin typeface="微軟正黑體"/>
                <a:ea typeface="微軟正黑體"/>
                <a:cs typeface="微軟正黑體"/>
              </a:rPr>
              <a:t>再唱一次！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514600"/>
            <a:ext cx="52120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2200" b="0">
                <a:solidFill>
                  <a:srgbClr val="5B6673"/>
                </a:solidFill>
                <a:latin typeface="微軟正黑體"/>
                <a:ea typeface="微軟正黑體"/>
                <a:cs typeface="微軟正黑體"/>
              </a:rPr>
              <a:t>光走直線，碰到水面——Snap! 折一下</a:t>
            </a:r>
          </a:p>
        </p:txBody>
      </p:sp>
      <p:sp>
        <p:nvSpPr>
          <p:cNvPr id="7" name="Rounded Rectangle 6">
            <a:hlinkClick r:id="rId3"/>
          </p:cNvPr>
          <p:cNvSpPr/>
          <p:nvPr/>
        </p:nvSpPr>
        <p:spPr>
          <a:xfrm>
            <a:off x="658368" y="3840480"/>
            <a:ext cx="3657600" cy="731520"/>
          </a:xfrm>
          <a:prstGeom prst="roundRect">
            <a:avLst>
              <a:gd name="adj" fmla="val 30000"/>
            </a:avLst>
          </a:prstGeom>
          <a:solidFill>
            <a:srgbClr val="1F2A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▶  播放 MV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89320" y="1051560"/>
            <a:ext cx="5715000" cy="4114800"/>
          </a:xfrm>
          <a:prstGeom prst="roundRect">
            <a:avLst>
              <a:gd name="adj" fmla="val 6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s_mv.png"/>
          <p:cNvPicPr>
            <a:picLocks noChangeAspect="1"/>
          </p:cNvPicPr>
          <p:nvPr/>
        </p:nvPicPr>
        <p:blipFill>
          <a:blip r:embed="rId4"/>
          <a:srcRect l="21000" t="7000" r="21000" b="35000"/>
          <a:stretch>
            <a:fillRect/>
          </a:stretch>
        </p:blipFill>
        <p:spPr>
          <a:xfrm>
            <a:off x="6172200" y="1234440"/>
            <a:ext cx="5349240" cy="30089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503920" y="5166360"/>
            <a:ext cx="685800" cy="91440"/>
          </a:xfrm>
          <a:prstGeom prst="rect">
            <a:avLst/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955279" y="5230368"/>
            <a:ext cx="1783080" cy="109728"/>
          </a:xfrm>
          <a:prstGeom prst="roundRect">
            <a:avLst>
              <a:gd name="adj" fmla="val 50000"/>
            </a:avLst>
          </a:prstGeom>
          <a:solidFill>
            <a:srgbClr val="2226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</p:bldLst>
  </p:timing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t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729"/>
            <a:ext cx="12191695" cy="680454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620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377440"/>
            <a:ext cx="1005840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7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下課囉！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749039"/>
            <a:ext cx="1005840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>
              <a:lnSpc>
                <a:spcPct val="112000"/>
              </a:lnSpc>
            </a:pPr>
            <a:r>
              <a:rPr sz="3000" b="0">
                <a:solidFill>
                  <a:srgbClr val="FFE9A8"/>
                </a:solidFill>
                <a:latin typeface="微軟正黑體"/>
                <a:ea typeface="微軟正黑體"/>
                <a:cs typeface="微軟正黑體"/>
              </a:rPr>
              <a:t>今天的光線特勤隊，表現超棒。</a:t>
            </a:r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280"/>
                            </p:stCondLst>
                            <p:childTnLst>
                              <p:par>
                                <p:cTn id="1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