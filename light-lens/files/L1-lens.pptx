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lasstools1020.github.io/games/checkin.html" TargetMode="Externa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hyperlink" Target="https://classtools1020.github.io/light-town/#lens" TargetMode="External"/><Relationship Id="rId6" Type="http://schemas.openxmlformats.org/officeDocument/2006/relationships/slide" Target="slide11.xml"/><Relationship Id="rId7" Type="http://schemas.openxmlformats.org/officeDocument/2006/relationships/hyperlink" Target="https://classtools1020.github.io/light-lens/lab.html#lesson" TargetMode="External"/><Relationship Id="rId8" Type="http://schemas.openxmlformats.org/officeDocument/2006/relationships/hyperlink" Target="https://classtools1020.github.io/light-lens/worksheet.html" TargetMode="External"/><Relationship Id="rId9" Type="http://schemas.openxmlformats.org/officeDocument/2006/relationships/hyperlink" Target="https://classtools1020.github.io/games/checkin.html#en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hyperlink" Target="https://classtools1020.github.io/light-town/#lens" TargetMode="External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13.jpg"/><Relationship Id="rId4" Type="http://schemas.openxmlformats.org/officeDocument/2006/relationships/hyperlink" Target="https://classtools1020.github.io/light-lens/walk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hyperlink" Target="https://classtools1020.github.io/light-lens/lab.html#lesson" TargetMode="External"/><Relationship Id="rId4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16.png"/><Relationship Id="rId4" Type="http://schemas.openxmlformats.org/officeDocument/2006/relationships/hyperlink" Target="https://classtools1020.github.io/light-lens/worksheet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slide" Target="slide2.xml"/><Relationship Id="rId4" Type="http://schemas.openxmlformats.org/officeDocument/2006/relationships/hyperlink" Target="https://classtools1020.github.io/games/checkin.html#en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任務五・透鏡｜第 1 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76072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</a:t>
            </a:r>
          </a:p>
          <a:p>
            <a:pPr algn="l">
              <a:lnSpc>
                <a:spcPct val="105000"/>
              </a:lnSpc>
            </a:pPr>
            <a:r>
              <a:rPr sz="4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只會把東西變大嗎？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337560"/>
            <a:ext cx="56692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F7A8C"/>
                </a:solidFill>
                <a:latin typeface="微軟正黑體"/>
                <a:ea typeface="微軟正黑體"/>
                <a:cs typeface="微軟正黑體"/>
              </a:rPr>
              <a:t>今天的目標：分出「中間厚」和「中間薄」的鏡片，說出它們讓光怎麼走。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989320"/>
            <a:ext cx="5669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甲班｜10/12（一）第 7 節</a:t>
            </a:r>
          </a:p>
        </p:txBody>
      </p:sp>
      <p:sp>
        <p:nvSpPr>
          <p:cNvPr id="7" name="Rectangle 6"/>
          <p:cNvSpPr/>
          <p:nvPr/>
        </p:nvSpPr>
        <p:spPr>
          <a:xfrm rot="120000">
            <a:off x="6729983" y="914400"/>
            <a:ext cx="4937760" cy="521208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">
            <a:off x="6675120" y="822960"/>
            <a:ext cx="4937760" cy="5212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jection.jpg"/>
          <p:cNvPicPr>
            <a:picLocks noChangeAspect="1"/>
          </p:cNvPicPr>
          <p:nvPr/>
        </p:nvPicPr>
        <p:blipFill>
          <a:blip r:embed="rId2"/>
          <a:srcRect l="23626" r="23626"/>
          <a:stretch>
            <a:fillRect/>
          </a:stretch>
        </p:blipFill>
        <p:spPr>
          <a:xfrm rot="120000">
            <a:off x="6784848" y="932688"/>
            <a:ext cx="4718304" cy="499262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今天的流程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跟著光光偵探，一站一站來</a:t>
            </a:r>
          </a:p>
        </p:txBody>
      </p:sp>
      <p:sp>
        <p:nvSpPr>
          <p:cNvPr id="5" name="Rounded Rectangle 4">
            <a:hlinkClick r:id="rId2"/>
          </p:cNvPr>
          <p:cNvSpPr/>
          <p:nvPr/>
        </p:nvSpPr>
        <p:spPr>
          <a:xfrm>
            <a:off x="640080" y="1874519"/>
            <a:ext cx="539496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75688"/>
            <a:ext cx="512064" cy="51206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19"/>
            <a:ext cx="4389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🧘  心情打卡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40080" y="2898648"/>
            <a:ext cx="539496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099816"/>
            <a:ext cx="512064" cy="51206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98648"/>
            <a:ext cx="4389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🪄  投影魔術（先猜）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640080" y="3922776"/>
            <a:ext cx="539496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123944"/>
            <a:ext cx="512064" cy="51206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22776"/>
            <a:ext cx="4389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🔍  鏡片長什麼樣子？</a:t>
            </a:r>
          </a:p>
        </p:txBody>
      </p:sp>
      <p:sp>
        <p:nvSpPr>
          <p:cNvPr id="14" name="Rounded Rectangle 13">
            <a:hlinkClick r:id="rId5"/>
          </p:cNvPr>
          <p:cNvSpPr/>
          <p:nvPr/>
        </p:nvSpPr>
        <p:spPr>
          <a:xfrm>
            <a:off x="640080" y="4946904"/>
            <a:ext cx="539496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5148072"/>
            <a:ext cx="512064" cy="51206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946904"/>
            <a:ext cx="4389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🏙️  光線小鎮・透鏡任務</a:t>
            </a:r>
          </a:p>
        </p:txBody>
      </p:sp>
      <p:sp>
        <p:nvSpPr>
          <p:cNvPr id="17" name="Rounded Rectangle 16">
            <a:hlinkClick action="ppaction://hlinksldjump" r:id="rId6"/>
          </p:cNvPr>
          <p:cNvSpPr/>
          <p:nvPr/>
        </p:nvSpPr>
        <p:spPr>
          <a:xfrm>
            <a:off x="6309360" y="1874519"/>
            <a:ext cx="539496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60" y="2075688"/>
            <a:ext cx="512064" cy="51206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74519"/>
            <a:ext cx="4389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💡  為什麼？牽手走沙灘</a:t>
            </a:r>
          </a:p>
        </p:txBody>
      </p:sp>
      <p:sp>
        <p:nvSpPr>
          <p:cNvPr id="20" name="Rounded Rectangle 19">
            <a:hlinkClick r:id="rId7"/>
          </p:cNvPr>
          <p:cNvSpPr/>
          <p:nvPr/>
        </p:nvSpPr>
        <p:spPr>
          <a:xfrm>
            <a:off x="6309360" y="2898648"/>
            <a:ext cx="539496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3099816"/>
            <a:ext cx="512064" cy="51206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898648"/>
            <a:ext cx="4389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🧪  透鏡實驗室</a:t>
            </a:r>
          </a:p>
        </p:txBody>
      </p:sp>
      <p:sp>
        <p:nvSpPr>
          <p:cNvPr id="23" name="Rounded Rectangle 22">
            <a:hlinkClick r:id="rId8"/>
          </p:cNvPr>
          <p:cNvSpPr/>
          <p:nvPr/>
        </p:nvSpPr>
        <p:spPr>
          <a:xfrm>
            <a:off x="6309360" y="3922776"/>
            <a:ext cx="539496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37960" y="4123944"/>
            <a:ext cx="512064" cy="51206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922776"/>
            <a:ext cx="4389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📝  學習單</a:t>
            </a:r>
          </a:p>
        </p:txBody>
      </p:sp>
      <p:sp>
        <p:nvSpPr>
          <p:cNvPr id="26" name="Rounded Rectangle 25">
            <a:hlinkClick r:id="rId9"/>
          </p:cNvPr>
          <p:cNvSpPr/>
          <p:nvPr/>
        </p:nvSpPr>
        <p:spPr>
          <a:xfrm>
            <a:off x="6309360" y="4946904"/>
            <a:ext cx="539496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37960" y="5148072"/>
            <a:ext cx="512064" cy="51206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946904"/>
            <a:ext cx="438912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🌙  謝幕打卡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62636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點任何一列可以直接跳過去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oj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4" name="TextBox 3">
            <a:hlinkClick action="ppaction://hlinksldjump" r:id="rId3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148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開場：投影魔術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74920"/>
            <a:ext cx="12191695" cy="77724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老師用一支放大鏡，把窗外的景色「搬」到白紙上！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594360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白紙上的景色是——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6108192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A　正的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6108192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B　倒過來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6400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ln w="38100">
                  <a:solidFill>
                    <a:srgbClr val="000000"/>
                  </a:solidFill>
                </a:ln>
                <a:solidFill>
                  <a:srgbClr val="FFE9A8"/>
                </a:solidFill>
                <a:latin typeface="微軟正黑體"/>
                <a:ea typeface="微軟正黑體"/>
                <a:cs typeface="微軟正黑體"/>
              </a:rPr>
              <a:t>🤫 答案藏在光線小鎮第 2 站！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認識鏡片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鏡片長什麼樣子？從旁邊看！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484632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994660" y="2331720"/>
            <a:ext cx="685800" cy="2560320"/>
          </a:xfrm>
          <a:custGeom>
            <a:avLst/>
            <a:gdLst/>
            <a:ahLst/>
            <a:cxnLst/>
            <a:rect l="l" t="t" r="r" b="b"/>
            <a:pathLst>
              <a:path w="685800" h="2560320">
                <a:moveTo>
                  <a:pt x="406908" y="0"/>
                </a:moveTo>
                <a:lnTo>
                  <a:pt x="451453" y="106680"/>
                </a:lnTo>
                <a:lnTo>
                  <a:pt x="492124" y="213360"/>
                </a:lnTo>
                <a:lnTo>
                  <a:pt x="528923" y="320040"/>
                </a:lnTo>
                <a:lnTo>
                  <a:pt x="561848" y="426720"/>
                </a:lnTo>
                <a:lnTo>
                  <a:pt x="590899" y="533400"/>
                </a:lnTo>
                <a:lnTo>
                  <a:pt x="616077" y="640080"/>
                </a:lnTo>
                <a:lnTo>
                  <a:pt x="637381" y="746760"/>
                </a:lnTo>
                <a:lnTo>
                  <a:pt x="654812" y="853440"/>
                </a:lnTo>
                <a:lnTo>
                  <a:pt x="668369" y="960120"/>
                </a:lnTo>
                <a:lnTo>
                  <a:pt x="678053" y="1066800"/>
                </a:lnTo>
                <a:lnTo>
                  <a:pt x="683863" y="1173480"/>
                </a:lnTo>
                <a:lnTo>
                  <a:pt x="685800" y="1280160"/>
                </a:lnTo>
                <a:lnTo>
                  <a:pt x="683863" y="1386840"/>
                </a:lnTo>
                <a:lnTo>
                  <a:pt x="678053" y="1493520"/>
                </a:lnTo>
                <a:lnTo>
                  <a:pt x="668369" y="1600200"/>
                </a:lnTo>
                <a:lnTo>
                  <a:pt x="654812" y="1706880"/>
                </a:lnTo>
                <a:lnTo>
                  <a:pt x="637381" y="1813560"/>
                </a:lnTo>
                <a:lnTo>
                  <a:pt x="616077" y="1920240"/>
                </a:lnTo>
                <a:lnTo>
                  <a:pt x="590899" y="2026920"/>
                </a:lnTo>
                <a:lnTo>
                  <a:pt x="561848" y="2133600"/>
                </a:lnTo>
                <a:lnTo>
                  <a:pt x="528923" y="2240280"/>
                </a:lnTo>
                <a:lnTo>
                  <a:pt x="492125" y="2346960"/>
                </a:lnTo>
                <a:lnTo>
                  <a:pt x="451453" y="2453640"/>
                </a:lnTo>
                <a:lnTo>
                  <a:pt x="406908" y="2560320"/>
                </a:lnTo>
                <a:lnTo>
                  <a:pt x="278892" y="2560320"/>
                </a:lnTo>
                <a:lnTo>
                  <a:pt x="234346" y="2453640"/>
                </a:lnTo>
                <a:lnTo>
                  <a:pt x="193674" y="2346960"/>
                </a:lnTo>
                <a:lnTo>
                  <a:pt x="156876" y="2240280"/>
                </a:lnTo>
                <a:lnTo>
                  <a:pt x="123952" y="2133600"/>
                </a:lnTo>
                <a:lnTo>
                  <a:pt x="94900" y="2026920"/>
                </a:lnTo>
                <a:lnTo>
                  <a:pt x="69723" y="1920240"/>
                </a:lnTo>
                <a:lnTo>
                  <a:pt x="48418" y="1813560"/>
                </a:lnTo>
                <a:lnTo>
                  <a:pt x="30988" y="1706880"/>
                </a:lnTo>
                <a:lnTo>
                  <a:pt x="17430" y="1600200"/>
                </a:lnTo>
                <a:lnTo>
                  <a:pt x="7747" y="1493520"/>
                </a:lnTo>
                <a:lnTo>
                  <a:pt x="1936" y="1386840"/>
                </a:lnTo>
                <a:lnTo>
                  <a:pt x="0" y="1280160"/>
                </a:lnTo>
                <a:lnTo>
                  <a:pt x="1936" y="1173480"/>
                </a:lnTo>
                <a:lnTo>
                  <a:pt x="7747" y="1066800"/>
                </a:lnTo>
                <a:lnTo>
                  <a:pt x="17430" y="960120"/>
                </a:lnTo>
                <a:lnTo>
                  <a:pt x="30988" y="853440"/>
                </a:lnTo>
                <a:lnTo>
                  <a:pt x="48418" y="746760"/>
                </a:lnTo>
                <a:lnTo>
                  <a:pt x="69723" y="640080"/>
                </a:lnTo>
                <a:lnTo>
                  <a:pt x="94900" y="533400"/>
                </a:lnTo>
                <a:lnTo>
                  <a:pt x="123952" y="426720"/>
                </a:lnTo>
                <a:lnTo>
                  <a:pt x="156876" y="320040"/>
                </a:lnTo>
                <a:lnTo>
                  <a:pt x="193675" y="213360"/>
                </a:lnTo>
                <a:lnTo>
                  <a:pt x="234346" y="106680"/>
                </a:lnTo>
                <a:lnTo>
                  <a:pt x="278892" y="0"/>
                </a:lnTo>
                <a:close/>
              </a:path>
            </a:pathLst>
          </a:custGeom>
          <a:solidFill>
            <a:srgbClr val="BFE6F5"/>
          </a:solidFill>
          <a:ln w="38100">
            <a:solidFill>
              <a:srgbClr val="2A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A　中間厚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589788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凸透鏡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20240"/>
            <a:ext cx="484632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8540496" y="2331720"/>
            <a:ext cx="566928" cy="2560320"/>
          </a:xfrm>
          <a:custGeom>
            <a:avLst/>
            <a:gdLst/>
            <a:ahLst/>
            <a:cxnLst/>
            <a:rect l="l" t="t" r="r" b="b"/>
            <a:pathLst>
              <a:path w="566928" h="2560320">
                <a:moveTo>
                  <a:pt x="566928" y="0"/>
                </a:moveTo>
                <a:lnTo>
                  <a:pt x="533336" y="106680"/>
                </a:lnTo>
                <a:lnTo>
                  <a:pt x="502666" y="213360"/>
                </a:lnTo>
                <a:lnTo>
                  <a:pt x="474916" y="320040"/>
                </a:lnTo>
                <a:lnTo>
                  <a:pt x="450088" y="426720"/>
                </a:lnTo>
                <a:lnTo>
                  <a:pt x="428180" y="533400"/>
                </a:lnTo>
                <a:lnTo>
                  <a:pt x="409194" y="640080"/>
                </a:lnTo>
                <a:lnTo>
                  <a:pt x="393128" y="746760"/>
                </a:lnTo>
                <a:lnTo>
                  <a:pt x="379984" y="853440"/>
                </a:lnTo>
                <a:lnTo>
                  <a:pt x="369760" y="960120"/>
                </a:lnTo>
                <a:lnTo>
                  <a:pt x="362458" y="1066800"/>
                </a:lnTo>
                <a:lnTo>
                  <a:pt x="358076" y="1173480"/>
                </a:lnTo>
                <a:lnTo>
                  <a:pt x="356616" y="1280160"/>
                </a:lnTo>
                <a:lnTo>
                  <a:pt x="358076" y="1386840"/>
                </a:lnTo>
                <a:lnTo>
                  <a:pt x="362458" y="1493520"/>
                </a:lnTo>
                <a:lnTo>
                  <a:pt x="369760" y="1600200"/>
                </a:lnTo>
                <a:lnTo>
                  <a:pt x="379984" y="1706880"/>
                </a:lnTo>
                <a:lnTo>
                  <a:pt x="393128" y="1813560"/>
                </a:lnTo>
                <a:lnTo>
                  <a:pt x="409194" y="1920240"/>
                </a:lnTo>
                <a:lnTo>
                  <a:pt x="428180" y="2026920"/>
                </a:lnTo>
                <a:lnTo>
                  <a:pt x="450088" y="2133600"/>
                </a:lnTo>
                <a:lnTo>
                  <a:pt x="474916" y="2240280"/>
                </a:lnTo>
                <a:lnTo>
                  <a:pt x="502666" y="2346960"/>
                </a:lnTo>
                <a:lnTo>
                  <a:pt x="533336" y="2453640"/>
                </a:lnTo>
                <a:lnTo>
                  <a:pt x="566928" y="2560320"/>
                </a:lnTo>
                <a:lnTo>
                  <a:pt x="0" y="2560320"/>
                </a:lnTo>
                <a:lnTo>
                  <a:pt x="33591" y="2453640"/>
                </a:lnTo>
                <a:lnTo>
                  <a:pt x="64262" y="2346960"/>
                </a:lnTo>
                <a:lnTo>
                  <a:pt x="92011" y="2240280"/>
                </a:lnTo>
                <a:lnTo>
                  <a:pt x="116840" y="2133600"/>
                </a:lnTo>
                <a:lnTo>
                  <a:pt x="138747" y="2026920"/>
                </a:lnTo>
                <a:lnTo>
                  <a:pt x="157734" y="1920240"/>
                </a:lnTo>
                <a:lnTo>
                  <a:pt x="173799" y="1813560"/>
                </a:lnTo>
                <a:lnTo>
                  <a:pt x="186944" y="1706880"/>
                </a:lnTo>
                <a:lnTo>
                  <a:pt x="197167" y="1600200"/>
                </a:lnTo>
                <a:lnTo>
                  <a:pt x="204470" y="1493520"/>
                </a:lnTo>
                <a:lnTo>
                  <a:pt x="208851" y="1386840"/>
                </a:lnTo>
                <a:lnTo>
                  <a:pt x="210312" y="1280160"/>
                </a:lnTo>
                <a:lnTo>
                  <a:pt x="208851" y="1173480"/>
                </a:lnTo>
                <a:lnTo>
                  <a:pt x="204470" y="1066800"/>
                </a:lnTo>
                <a:lnTo>
                  <a:pt x="197167" y="960120"/>
                </a:lnTo>
                <a:lnTo>
                  <a:pt x="186944" y="853440"/>
                </a:lnTo>
                <a:lnTo>
                  <a:pt x="173799" y="746760"/>
                </a:lnTo>
                <a:lnTo>
                  <a:pt x="157734" y="640080"/>
                </a:lnTo>
                <a:lnTo>
                  <a:pt x="138747" y="533400"/>
                </a:lnTo>
                <a:lnTo>
                  <a:pt x="116840" y="426720"/>
                </a:lnTo>
                <a:lnTo>
                  <a:pt x="92011" y="320040"/>
                </a:lnTo>
                <a:lnTo>
                  <a:pt x="64262" y="213360"/>
                </a:lnTo>
                <a:lnTo>
                  <a:pt x="33591" y="106680"/>
                </a:lnTo>
                <a:lnTo>
                  <a:pt x="0" y="0"/>
                </a:lnTo>
                <a:close/>
              </a:path>
            </a:pathLst>
          </a:custGeom>
          <a:solidFill>
            <a:srgbClr val="BFE6F5"/>
          </a:solidFill>
          <a:ln w="38100">
            <a:solidFill>
              <a:srgbClr val="2A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07492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B　中間薄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589788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凹透鏡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找找看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生活裡的鏡片：中間厚？還是中間薄？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920240"/>
            <a:ext cx="3474720" cy="1874519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7472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gnifier.jpg"/>
          <p:cNvPicPr>
            <a:picLocks noChangeAspect="1"/>
          </p:cNvPicPr>
          <p:nvPr/>
        </p:nvPicPr>
        <p:blipFill>
          <a:blip r:embed="rId3"/>
          <a:srcRect t="3484" b="3484"/>
          <a:stretch>
            <a:fillRect/>
          </a:stretch>
        </p:blipFill>
        <p:spPr>
          <a:xfrm>
            <a:off x="713231" y="1901952"/>
            <a:ext cx="3328415" cy="1728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70332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730752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中間厚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8264" y="1920240"/>
            <a:ext cx="3474720" cy="1874519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347472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lasses.jpg"/>
          <p:cNvPicPr>
            <a:picLocks noChangeAspect="1"/>
          </p:cNvPicPr>
          <p:nvPr/>
        </p:nvPicPr>
        <p:blipFill>
          <a:blip r:embed="rId4"/>
          <a:srcRect t="3486" b="3486"/>
          <a:stretch>
            <a:fillRect/>
          </a:stretch>
        </p:blipFill>
        <p:spPr>
          <a:xfrm>
            <a:off x="4416552" y="1901952"/>
            <a:ext cx="3328415" cy="1728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43400" y="370332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眼鏡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3730752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老花厚・近視薄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3" y="1920240"/>
            <a:ext cx="3474720" cy="1874519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828800"/>
            <a:ext cx="347472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amera.jpg"/>
          <p:cNvPicPr>
            <a:picLocks noChangeAspect="1"/>
          </p:cNvPicPr>
          <p:nvPr/>
        </p:nvPicPr>
        <p:blipFill>
          <a:blip r:embed="rId5"/>
          <a:srcRect t="3486" b="3486"/>
          <a:stretch>
            <a:fillRect/>
          </a:stretch>
        </p:blipFill>
        <p:spPr>
          <a:xfrm>
            <a:off x="8119871" y="1901952"/>
            <a:ext cx="3328415" cy="17282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19" y="370332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相機鏡頭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3730752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中間厚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" y="4343400"/>
            <a:ext cx="3474720" cy="1874519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51960"/>
            <a:ext cx="347472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eephole.jpg"/>
          <p:cNvPicPr>
            <a:picLocks noChangeAspect="1"/>
          </p:cNvPicPr>
          <p:nvPr/>
        </p:nvPicPr>
        <p:blipFill>
          <a:blip r:embed="rId6"/>
          <a:srcRect t="3486" b="3486"/>
          <a:stretch>
            <a:fillRect/>
          </a:stretch>
        </p:blipFill>
        <p:spPr>
          <a:xfrm>
            <a:off x="713231" y="4325112"/>
            <a:ext cx="3328415" cy="17282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1264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門上的貓眼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6153912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中間薄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98264" y="4343400"/>
            <a:ext cx="3474720" cy="1874519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251960"/>
            <a:ext cx="347472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drop.jpg"/>
          <p:cNvPicPr>
            <a:picLocks noChangeAspect="1"/>
          </p:cNvPicPr>
          <p:nvPr/>
        </p:nvPicPr>
        <p:blipFill>
          <a:blip r:embed="rId7"/>
          <a:srcRect t="3484" b="3484"/>
          <a:stretch>
            <a:fillRect/>
          </a:stretch>
        </p:blipFill>
        <p:spPr>
          <a:xfrm>
            <a:off x="4416552" y="4325112"/>
            <a:ext cx="3328415" cy="172821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43400" y="61264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一滴水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6153912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中間厚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01583" y="4343400"/>
            <a:ext cx="3474720" cy="1874519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4251960"/>
            <a:ext cx="347472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quarium.jpg"/>
          <p:cNvPicPr>
            <a:picLocks noChangeAspect="1"/>
          </p:cNvPicPr>
          <p:nvPr/>
        </p:nvPicPr>
        <p:blipFill>
          <a:blip r:embed="rId8"/>
          <a:srcRect t="3484" b="3484"/>
          <a:stretch>
            <a:fillRect/>
          </a:stretch>
        </p:blipFill>
        <p:spPr>
          <a:xfrm>
            <a:off x="8119871" y="4325112"/>
            <a:ext cx="3328415" cy="172821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46719" y="61264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圓圓的魚缸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6153912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中間厚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20" grpId="0" animBg="1"/>
      <p:bldP spid="25" grpId="0" animBg="1"/>
      <p:bldP spid="30" grpId="0" animBg="1"/>
      <p:bldP spid="35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闖關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光線小鎮・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透鏡任務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5212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跟光光偵探走竹東街：眼鏡行→教室投影→操場聚光→公寓貓眼→公園一滴水。每站先猜再按！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658368" y="3840480"/>
            <a:ext cx="3657600" cy="73152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▶  出發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051560"/>
            <a:ext cx="5715000" cy="4114800"/>
          </a:xfrm>
          <a:prstGeom prst="roundRect">
            <a:avLst>
              <a:gd name="adj" fmla="val 6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hum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34440"/>
            <a:ext cx="5349240" cy="30089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5166360"/>
            <a:ext cx="685800" cy="91440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5230368"/>
            <a:ext cx="1783080" cy="109728"/>
          </a:xfrm>
          <a:prstGeom prst="roundRect">
            <a:avLst>
              <a:gd name="adj" fmla="val 50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小鎮的發現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中間厚的鏡片，讓字變大</a:t>
            </a:r>
          </a:p>
        </p:txBody>
      </p:sp>
      <p:sp>
        <p:nvSpPr>
          <p:cNvPr id="6" name="Rectangle 5"/>
          <p:cNvSpPr/>
          <p:nvPr/>
        </p:nvSpPr>
        <p:spPr>
          <a:xfrm rot="21540000">
            <a:off x="694944" y="1920240"/>
            <a:ext cx="5486400" cy="329184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540000">
            <a:off x="640080" y="1828800"/>
            <a:ext cx="54864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_glasses2.png"/>
          <p:cNvPicPr>
            <a:picLocks noChangeAspect="1"/>
          </p:cNvPicPr>
          <p:nvPr/>
        </p:nvPicPr>
        <p:blipFill>
          <a:blip r:embed="rId3"/>
          <a:srcRect t="4203" b="4203"/>
          <a:stretch>
            <a:fillRect/>
          </a:stretch>
        </p:blipFill>
        <p:spPr>
          <a:xfrm rot="21540000">
            <a:off x="731519" y="1920240"/>
            <a:ext cx="530352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中間厚＝凸透鏡：讓光換方向，字和東西看起來變大。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小鎮的發現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光點最小、最亮的地方</a:t>
            </a:r>
          </a:p>
        </p:txBody>
      </p:sp>
      <p:sp>
        <p:nvSpPr>
          <p:cNvPr id="6" name="Rectangle 5"/>
          <p:cNvSpPr/>
          <p:nvPr/>
        </p:nvSpPr>
        <p:spPr>
          <a:xfrm rot="21540000">
            <a:off x="694944" y="1920240"/>
            <a:ext cx="5486400" cy="329184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540000">
            <a:off x="640080" y="1828800"/>
            <a:ext cx="54864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_sun.png"/>
          <p:cNvPicPr>
            <a:picLocks noChangeAspect="1"/>
          </p:cNvPicPr>
          <p:nvPr/>
        </p:nvPicPr>
        <p:blipFill>
          <a:blip r:embed="rId3"/>
          <a:srcRect l="2022" r="2022"/>
          <a:stretch>
            <a:fillRect/>
          </a:stretch>
        </p:blipFill>
        <p:spPr>
          <a:xfrm rot="21540000">
            <a:off x="731519" y="1920240"/>
            <a:ext cx="530352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0" y="1828800"/>
            <a:ext cx="5120640" cy="3291840"/>
          </a:xfrm>
          <a:prstGeom prst="rect">
            <a:avLst/>
          </a:prstGeom>
          <a:solidFill>
            <a:srgbClr val="FBF8F2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720840" y="3383280"/>
            <a:ext cx="4846320" cy="0"/>
          </a:xfrm>
          <a:prstGeom prst="line">
            <a:avLst/>
          </a:prstGeom>
          <a:ln w="19050">
            <a:solidFill>
              <a:srgbClr val="B9AE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8709660" y="2240280"/>
            <a:ext cx="685800" cy="2286000"/>
          </a:xfrm>
          <a:custGeom>
            <a:avLst/>
            <a:gdLst/>
            <a:ahLst/>
            <a:cxnLst/>
            <a:rect l="l" t="t" r="r" b="b"/>
            <a:pathLst>
              <a:path w="685800" h="2286000">
                <a:moveTo>
                  <a:pt x="406908" y="0"/>
                </a:moveTo>
                <a:lnTo>
                  <a:pt x="451453" y="95250"/>
                </a:lnTo>
                <a:lnTo>
                  <a:pt x="492125" y="190500"/>
                </a:lnTo>
                <a:lnTo>
                  <a:pt x="528923" y="285750"/>
                </a:lnTo>
                <a:lnTo>
                  <a:pt x="561848" y="381000"/>
                </a:lnTo>
                <a:lnTo>
                  <a:pt x="590899" y="476250"/>
                </a:lnTo>
                <a:lnTo>
                  <a:pt x="616077" y="571500"/>
                </a:lnTo>
                <a:lnTo>
                  <a:pt x="637381" y="666750"/>
                </a:lnTo>
                <a:lnTo>
                  <a:pt x="654812" y="762000"/>
                </a:lnTo>
                <a:lnTo>
                  <a:pt x="668369" y="857250"/>
                </a:lnTo>
                <a:lnTo>
                  <a:pt x="678053" y="952500"/>
                </a:lnTo>
                <a:lnTo>
                  <a:pt x="683863" y="1047750"/>
                </a:lnTo>
                <a:lnTo>
                  <a:pt x="685800" y="1143000"/>
                </a:lnTo>
                <a:lnTo>
                  <a:pt x="683863" y="1238250"/>
                </a:lnTo>
                <a:lnTo>
                  <a:pt x="678053" y="1333500"/>
                </a:lnTo>
                <a:lnTo>
                  <a:pt x="668369" y="1428750"/>
                </a:lnTo>
                <a:lnTo>
                  <a:pt x="654812" y="1524000"/>
                </a:lnTo>
                <a:lnTo>
                  <a:pt x="637381" y="1619250"/>
                </a:lnTo>
                <a:lnTo>
                  <a:pt x="616077" y="1714500"/>
                </a:lnTo>
                <a:lnTo>
                  <a:pt x="590899" y="1809750"/>
                </a:lnTo>
                <a:lnTo>
                  <a:pt x="561848" y="1905000"/>
                </a:lnTo>
                <a:lnTo>
                  <a:pt x="528923" y="2000250"/>
                </a:lnTo>
                <a:lnTo>
                  <a:pt x="492125" y="2095500"/>
                </a:lnTo>
                <a:lnTo>
                  <a:pt x="451453" y="2190750"/>
                </a:lnTo>
                <a:lnTo>
                  <a:pt x="406908" y="2286000"/>
                </a:lnTo>
                <a:lnTo>
                  <a:pt x="278892" y="2286000"/>
                </a:lnTo>
                <a:lnTo>
                  <a:pt x="234346" y="2190750"/>
                </a:lnTo>
                <a:lnTo>
                  <a:pt x="193675" y="2095500"/>
                </a:lnTo>
                <a:lnTo>
                  <a:pt x="156876" y="2000250"/>
                </a:lnTo>
                <a:lnTo>
                  <a:pt x="123952" y="1905000"/>
                </a:lnTo>
                <a:lnTo>
                  <a:pt x="94900" y="1809750"/>
                </a:lnTo>
                <a:lnTo>
                  <a:pt x="69723" y="1714500"/>
                </a:lnTo>
                <a:lnTo>
                  <a:pt x="48418" y="1619250"/>
                </a:lnTo>
                <a:lnTo>
                  <a:pt x="30988" y="1524000"/>
                </a:lnTo>
                <a:lnTo>
                  <a:pt x="17430" y="1428750"/>
                </a:lnTo>
                <a:lnTo>
                  <a:pt x="7747" y="1333500"/>
                </a:lnTo>
                <a:lnTo>
                  <a:pt x="1936" y="1238250"/>
                </a:lnTo>
                <a:lnTo>
                  <a:pt x="0" y="1143000"/>
                </a:lnTo>
                <a:lnTo>
                  <a:pt x="1936" y="1047750"/>
                </a:lnTo>
                <a:lnTo>
                  <a:pt x="7747" y="952500"/>
                </a:lnTo>
                <a:lnTo>
                  <a:pt x="17430" y="857250"/>
                </a:lnTo>
                <a:lnTo>
                  <a:pt x="30988" y="762000"/>
                </a:lnTo>
                <a:lnTo>
                  <a:pt x="48418" y="666750"/>
                </a:lnTo>
                <a:lnTo>
                  <a:pt x="69723" y="571500"/>
                </a:lnTo>
                <a:lnTo>
                  <a:pt x="94900" y="476250"/>
                </a:lnTo>
                <a:lnTo>
                  <a:pt x="123952" y="381000"/>
                </a:lnTo>
                <a:lnTo>
                  <a:pt x="156876" y="285750"/>
                </a:lnTo>
                <a:lnTo>
                  <a:pt x="193675" y="190500"/>
                </a:lnTo>
                <a:lnTo>
                  <a:pt x="234346" y="95250"/>
                </a:lnTo>
                <a:lnTo>
                  <a:pt x="278892" y="0"/>
                </a:lnTo>
                <a:close/>
              </a:path>
            </a:pathLst>
          </a:custGeom>
          <a:solidFill>
            <a:srgbClr val="BFE6F5"/>
          </a:solidFill>
          <a:ln w="38100">
            <a:solidFill>
              <a:srgbClr val="2A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812280" y="2560320"/>
            <a:ext cx="2240280" cy="0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12280" y="2971800"/>
            <a:ext cx="2240280" cy="0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12280" y="3383280"/>
            <a:ext cx="2240280" cy="0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12280" y="3794760"/>
            <a:ext cx="2240280" cy="0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12280" y="4206240"/>
            <a:ext cx="2240280" cy="0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52560" y="2560320"/>
            <a:ext cx="2409444" cy="1275588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52560" y="2971800"/>
            <a:ext cx="2409444" cy="637794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3383280"/>
            <a:ext cx="2409444" cy="0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052560" y="3156966"/>
            <a:ext cx="2409444" cy="637794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052560" y="2930652"/>
            <a:ext cx="2409444" cy="1275588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479024" y="3255264"/>
            <a:ext cx="256032" cy="256032"/>
          </a:xfrm>
          <a:prstGeom prst="ellipse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19" y="3611880"/>
            <a:ext cx="1097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焦點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凸透鏡把光聚在一起，聚到最小的那一點叫「焦點」，會很燙！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25780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⚠ 放大鏡不能對著人、不能看太陽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小鎮的發現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投影到白紙上，景色倒過來了</a:t>
            </a:r>
          </a:p>
        </p:txBody>
      </p:sp>
      <p:sp>
        <p:nvSpPr>
          <p:cNvPr id="6" name="Rectangle 5"/>
          <p:cNvSpPr/>
          <p:nvPr/>
        </p:nvSpPr>
        <p:spPr>
          <a:xfrm rot="21540000">
            <a:off x="694944" y="1920240"/>
            <a:ext cx="5486400" cy="329184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540000">
            <a:off x="640080" y="1828800"/>
            <a:ext cx="54864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_dark.png"/>
          <p:cNvPicPr>
            <a:picLocks noChangeAspect="1"/>
          </p:cNvPicPr>
          <p:nvPr/>
        </p:nvPicPr>
        <p:blipFill>
          <a:blip r:embed="rId3"/>
          <a:srcRect l="2022" r="2022"/>
          <a:stretch>
            <a:fillRect/>
          </a:stretch>
        </p:blipFill>
        <p:spPr>
          <a:xfrm rot="21540000">
            <a:off x="731519" y="1920240"/>
            <a:ext cx="530352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0" y="1828800"/>
            <a:ext cx="5120640" cy="3291840"/>
          </a:xfrm>
          <a:prstGeom prst="rect">
            <a:avLst/>
          </a:prstGeom>
          <a:solidFill>
            <a:srgbClr val="FBF8F2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6995160" y="2286000"/>
            <a:ext cx="822960" cy="1005840"/>
          </a:xfrm>
          <a:prstGeom prst="triangle">
            <a:avLst/>
          </a:prstGeom>
          <a:solidFill>
            <a:srgbClr val="5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96912" y="3291840"/>
            <a:ext cx="219456" cy="457200"/>
          </a:xfrm>
          <a:prstGeom prst="rect">
            <a:avLst/>
          </a:prstGeom>
          <a:solidFill>
            <a:srgbClr val="7A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01100" y="2423160"/>
            <a:ext cx="685800" cy="2194560"/>
          </a:xfrm>
          <a:custGeom>
            <a:avLst/>
            <a:gdLst/>
            <a:ahLst/>
            <a:cxnLst/>
            <a:rect l="l" t="t" r="r" b="b"/>
            <a:pathLst>
              <a:path w="685800" h="2194560">
                <a:moveTo>
                  <a:pt x="406908" y="0"/>
                </a:moveTo>
                <a:lnTo>
                  <a:pt x="451453" y="91440"/>
                </a:lnTo>
                <a:lnTo>
                  <a:pt x="492125" y="182880"/>
                </a:lnTo>
                <a:lnTo>
                  <a:pt x="528923" y="274320"/>
                </a:lnTo>
                <a:lnTo>
                  <a:pt x="561848" y="365760"/>
                </a:lnTo>
                <a:lnTo>
                  <a:pt x="590899" y="457200"/>
                </a:lnTo>
                <a:lnTo>
                  <a:pt x="616077" y="548640"/>
                </a:lnTo>
                <a:lnTo>
                  <a:pt x="637381" y="640080"/>
                </a:lnTo>
                <a:lnTo>
                  <a:pt x="654812" y="731520"/>
                </a:lnTo>
                <a:lnTo>
                  <a:pt x="668369" y="822960"/>
                </a:lnTo>
                <a:lnTo>
                  <a:pt x="678053" y="914400"/>
                </a:lnTo>
                <a:lnTo>
                  <a:pt x="683863" y="1005840"/>
                </a:lnTo>
                <a:lnTo>
                  <a:pt x="685800" y="1097280"/>
                </a:lnTo>
                <a:lnTo>
                  <a:pt x="683863" y="1188720"/>
                </a:lnTo>
                <a:lnTo>
                  <a:pt x="678053" y="1280160"/>
                </a:lnTo>
                <a:lnTo>
                  <a:pt x="668369" y="1371600"/>
                </a:lnTo>
                <a:lnTo>
                  <a:pt x="654812" y="1463040"/>
                </a:lnTo>
                <a:lnTo>
                  <a:pt x="637381" y="1554480"/>
                </a:lnTo>
                <a:lnTo>
                  <a:pt x="616077" y="1645920"/>
                </a:lnTo>
                <a:lnTo>
                  <a:pt x="590899" y="1737360"/>
                </a:lnTo>
                <a:lnTo>
                  <a:pt x="561848" y="1828800"/>
                </a:lnTo>
                <a:lnTo>
                  <a:pt x="528923" y="1920240"/>
                </a:lnTo>
                <a:lnTo>
                  <a:pt x="492125" y="2011680"/>
                </a:lnTo>
                <a:lnTo>
                  <a:pt x="451453" y="2103120"/>
                </a:lnTo>
                <a:lnTo>
                  <a:pt x="406908" y="2194560"/>
                </a:lnTo>
                <a:lnTo>
                  <a:pt x="278892" y="2194560"/>
                </a:lnTo>
                <a:lnTo>
                  <a:pt x="234346" y="2103120"/>
                </a:lnTo>
                <a:lnTo>
                  <a:pt x="193675" y="2011680"/>
                </a:lnTo>
                <a:lnTo>
                  <a:pt x="156876" y="1920240"/>
                </a:lnTo>
                <a:lnTo>
                  <a:pt x="123952" y="1828800"/>
                </a:lnTo>
                <a:lnTo>
                  <a:pt x="94900" y="1737360"/>
                </a:lnTo>
                <a:lnTo>
                  <a:pt x="69723" y="1645920"/>
                </a:lnTo>
                <a:lnTo>
                  <a:pt x="48418" y="1554480"/>
                </a:lnTo>
                <a:lnTo>
                  <a:pt x="30988" y="1463040"/>
                </a:lnTo>
                <a:lnTo>
                  <a:pt x="17430" y="1371600"/>
                </a:lnTo>
                <a:lnTo>
                  <a:pt x="7747" y="1280160"/>
                </a:lnTo>
                <a:lnTo>
                  <a:pt x="1936" y="1188720"/>
                </a:lnTo>
                <a:lnTo>
                  <a:pt x="0" y="1097280"/>
                </a:lnTo>
                <a:lnTo>
                  <a:pt x="1936" y="1005840"/>
                </a:lnTo>
                <a:lnTo>
                  <a:pt x="7747" y="914400"/>
                </a:lnTo>
                <a:lnTo>
                  <a:pt x="17430" y="822960"/>
                </a:lnTo>
                <a:lnTo>
                  <a:pt x="30988" y="731520"/>
                </a:lnTo>
                <a:lnTo>
                  <a:pt x="48418" y="640080"/>
                </a:lnTo>
                <a:lnTo>
                  <a:pt x="69723" y="548640"/>
                </a:lnTo>
                <a:lnTo>
                  <a:pt x="94900" y="457200"/>
                </a:lnTo>
                <a:lnTo>
                  <a:pt x="123952" y="365760"/>
                </a:lnTo>
                <a:lnTo>
                  <a:pt x="156876" y="274320"/>
                </a:lnTo>
                <a:lnTo>
                  <a:pt x="193675" y="182880"/>
                </a:lnTo>
                <a:lnTo>
                  <a:pt x="234346" y="91440"/>
                </a:lnTo>
                <a:lnTo>
                  <a:pt x="278892" y="0"/>
                </a:lnTo>
                <a:close/>
              </a:path>
            </a:pathLst>
          </a:custGeom>
          <a:solidFill>
            <a:srgbClr val="BFE6F5"/>
          </a:solidFill>
          <a:ln w="38100">
            <a:solidFill>
              <a:srgbClr val="2A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81360" y="2240280"/>
            <a:ext cx="109728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469880" y="3611880"/>
            <a:ext cx="640080" cy="777240"/>
          </a:xfrm>
          <a:prstGeom prst="triangle">
            <a:avLst/>
          </a:prstGeom>
          <a:solidFill>
            <a:srgbClr val="5B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8480" y="3246120"/>
            <a:ext cx="182880" cy="365760"/>
          </a:xfrm>
          <a:prstGeom prst="rect">
            <a:avLst/>
          </a:prstGeom>
          <a:solidFill>
            <a:srgbClr val="7A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406640" y="2286000"/>
            <a:ext cx="3383280" cy="214884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406640" y="3246120"/>
            <a:ext cx="3383280" cy="502919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92640" y="452628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倒過來了！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凸透鏡把遠處的光聚在白紙上，景色上下顛倒——相機和眼睛裡也是這樣。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小鎮的發現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中間薄的鏡片：看得更廣</a:t>
            </a:r>
          </a:p>
        </p:txBody>
      </p:sp>
      <p:sp>
        <p:nvSpPr>
          <p:cNvPr id="6" name="Rectangle 5"/>
          <p:cNvSpPr/>
          <p:nvPr/>
        </p:nvSpPr>
        <p:spPr>
          <a:xfrm rot="21540000">
            <a:off x="694944" y="1920240"/>
            <a:ext cx="5486400" cy="329184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540000">
            <a:off x="640080" y="1828800"/>
            <a:ext cx="54864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_peep2.png"/>
          <p:cNvPicPr>
            <a:picLocks noChangeAspect="1"/>
          </p:cNvPicPr>
          <p:nvPr/>
        </p:nvPicPr>
        <p:blipFill>
          <a:blip r:embed="rId3"/>
          <a:srcRect t="7861" b="7861"/>
          <a:stretch>
            <a:fillRect/>
          </a:stretch>
        </p:blipFill>
        <p:spPr>
          <a:xfrm rot="21540000">
            <a:off x="731519" y="1920240"/>
            <a:ext cx="530352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0" y="1828800"/>
            <a:ext cx="5120640" cy="3291840"/>
          </a:xfrm>
          <a:prstGeom prst="rect">
            <a:avLst/>
          </a:prstGeom>
          <a:solidFill>
            <a:srgbClr val="FBF8F2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8494776" y="2286000"/>
            <a:ext cx="566928" cy="2286000"/>
          </a:xfrm>
          <a:custGeom>
            <a:avLst/>
            <a:gdLst/>
            <a:ahLst/>
            <a:cxnLst/>
            <a:rect l="l" t="t" r="r" b="b"/>
            <a:pathLst>
              <a:path w="566928" h="2286000">
                <a:moveTo>
                  <a:pt x="566928" y="0"/>
                </a:moveTo>
                <a:lnTo>
                  <a:pt x="533336" y="95250"/>
                </a:lnTo>
                <a:lnTo>
                  <a:pt x="502665" y="190499"/>
                </a:lnTo>
                <a:lnTo>
                  <a:pt x="474916" y="285750"/>
                </a:lnTo>
                <a:lnTo>
                  <a:pt x="450088" y="381000"/>
                </a:lnTo>
                <a:lnTo>
                  <a:pt x="428180" y="476250"/>
                </a:lnTo>
                <a:lnTo>
                  <a:pt x="409193" y="571500"/>
                </a:lnTo>
                <a:lnTo>
                  <a:pt x="393128" y="666750"/>
                </a:lnTo>
                <a:lnTo>
                  <a:pt x="379984" y="761999"/>
                </a:lnTo>
                <a:lnTo>
                  <a:pt x="369760" y="857250"/>
                </a:lnTo>
                <a:lnTo>
                  <a:pt x="362458" y="952500"/>
                </a:lnTo>
                <a:lnTo>
                  <a:pt x="358076" y="1047750"/>
                </a:lnTo>
                <a:lnTo>
                  <a:pt x="356616" y="1143000"/>
                </a:lnTo>
                <a:lnTo>
                  <a:pt x="358076" y="1238250"/>
                </a:lnTo>
                <a:lnTo>
                  <a:pt x="362458" y="1333500"/>
                </a:lnTo>
                <a:lnTo>
                  <a:pt x="369760" y="1428750"/>
                </a:lnTo>
                <a:lnTo>
                  <a:pt x="379984" y="1524000"/>
                </a:lnTo>
                <a:lnTo>
                  <a:pt x="393128" y="1619250"/>
                </a:lnTo>
                <a:lnTo>
                  <a:pt x="409193" y="1714500"/>
                </a:lnTo>
                <a:lnTo>
                  <a:pt x="428180" y="1809749"/>
                </a:lnTo>
                <a:lnTo>
                  <a:pt x="450088" y="1905000"/>
                </a:lnTo>
                <a:lnTo>
                  <a:pt x="474916" y="2000250"/>
                </a:lnTo>
                <a:lnTo>
                  <a:pt x="502665" y="2095499"/>
                </a:lnTo>
                <a:lnTo>
                  <a:pt x="533336" y="2190750"/>
                </a:lnTo>
                <a:lnTo>
                  <a:pt x="566928" y="2286000"/>
                </a:lnTo>
                <a:lnTo>
                  <a:pt x="0" y="2286000"/>
                </a:lnTo>
                <a:lnTo>
                  <a:pt x="33591" y="2190750"/>
                </a:lnTo>
                <a:lnTo>
                  <a:pt x="64262" y="2095499"/>
                </a:lnTo>
                <a:lnTo>
                  <a:pt x="92011" y="2000250"/>
                </a:lnTo>
                <a:lnTo>
                  <a:pt x="116840" y="1905000"/>
                </a:lnTo>
                <a:lnTo>
                  <a:pt x="138747" y="1809749"/>
                </a:lnTo>
                <a:lnTo>
                  <a:pt x="157734" y="1714500"/>
                </a:lnTo>
                <a:lnTo>
                  <a:pt x="173799" y="1619250"/>
                </a:lnTo>
                <a:lnTo>
                  <a:pt x="186944" y="1524000"/>
                </a:lnTo>
                <a:lnTo>
                  <a:pt x="197167" y="1428750"/>
                </a:lnTo>
                <a:lnTo>
                  <a:pt x="204470" y="1333500"/>
                </a:lnTo>
                <a:lnTo>
                  <a:pt x="208851" y="1238250"/>
                </a:lnTo>
                <a:lnTo>
                  <a:pt x="210312" y="1143000"/>
                </a:lnTo>
                <a:lnTo>
                  <a:pt x="208851" y="1047750"/>
                </a:lnTo>
                <a:lnTo>
                  <a:pt x="204470" y="952500"/>
                </a:lnTo>
                <a:lnTo>
                  <a:pt x="197167" y="857250"/>
                </a:lnTo>
                <a:lnTo>
                  <a:pt x="186944" y="761999"/>
                </a:lnTo>
                <a:lnTo>
                  <a:pt x="173799" y="666750"/>
                </a:lnTo>
                <a:lnTo>
                  <a:pt x="157734" y="571500"/>
                </a:lnTo>
                <a:lnTo>
                  <a:pt x="138747" y="476250"/>
                </a:lnTo>
                <a:lnTo>
                  <a:pt x="116840" y="381000"/>
                </a:lnTo>
                <a:lnTo>
                  <a:pt x="92011" y="285750"/>
                </a:lnTo>
                <a:lnTo>
                  <a:pt x="64262" y="190499"/>
                </a:lnTo>
                <a:lnTo>
                  <a:pt x="33591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BFE6F5"/>
          </a:solidFill>
          <a:ln w="38100">
            <a:solidFill>
              <a:srgbClr val="2A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812280" y="2697480"/>
            <a:ext cx="1965960" cy="0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12280" y="3063240"/>
            <a:ext cx="1965960" cy="0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12280" y="3429000"/>
            <a:ext cx="1965960" cy="0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12280" y="3794760"/>
            <a:ext cx="1965960" cy="0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12280" y="4160520"/>
            <a:ext cx="1965960" cy="0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778240" y="1673352"/>
            <a:ext cx="2743200" cy="1024128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778240" y="2551176"/>
            <a:ext cx="2743200" cy="512064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3429000"/>
            <a:ext cx="2743200" cy="0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78240" y="3794760"/>
            <a:ext cx="2743200" cy="512064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8240" y="4160520"/>
            <a:ext cx="2743200" cy="1024128"/>
          </a:xfrm>
          <a:prstGeom prst="line">
            <a:avLst/>
          </a:prstGeom>
          <a:ln w="508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692640" y="192024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5FA8"/>
                </a:solidFill>
                <a:latin typeface="微軟正黑體"/>
                <a:ea typeface="微軟正黑體"/>
                <a:cs typeface="微軟正黑體"/>
              </a:rPr>
              <a:t>光散開！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中間薄＝凹透鏡：光散開，看得到更大的範圍，東西變小。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為什麼？第 1 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先想像：全班牽著手，從馬路走進沙灘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光走進水、走進玻璃，就像走進沙灘——會變慢！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694944" y="1920240"/>
            <a:ext cx="5120640" cy="338328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540000">
            <a:off x="640080" y="1828800"/>
            <a:ext cx="512064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and-row.jpg"/>
          <p:cNvPicPr>
            <a:picLocks noChangeAspect="1"/>
          </p:cNvPicPr>
          <p:nvPr/>
        </p:nvPicPr>
        <p:blipFill>
          <a:blip r:embed="rId3"/>
          <a:srcRect l="6768" r="6768"/>
          <a:stretch>
            <a:fillRect/>
          </a:stretch>
        </p:blipFill>
        <p:spPr>
          <a:xfrm rot="21540000">
            <a:off x="749808" y="1938528"/>
            <a:ext cx="4901183" cy="3163824"/>
          </a:xfrm>
          <a:prstGeom prst="rect">
            <a:avLst/>
          </a:prstGeom>
        </p:spPr>
      </p:pic>
      <p:sp>
        <p:nvSpPr>
          <p:cNvPr id="10" name="Rounded Rectangle 9">
            <a:hlinkClick r:id="rId4"/>
          </p:cNvPr>
          <p:cNvSpPr/>
          <p:nvPr/>
        </p:nvSpPr>
        <p:spPr>
          <a:xfrm>
            <a:off x="8915400" y="960120"/>
            <a:ext cx="2651760" cy="621792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▶  3D 動畫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在沙灘上，腳會陷下去，走不快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走路的我們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82880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331720"/>
            <a:ext cx="2514600" cy="8412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331720"/>
            <a:ext cx="251460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🧒 同學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87968" y="2752344"/>
            <a:ext cx="329184" cy="0"/>
          </a:xfrm>
          <a:prstGeom prst="line">
            <a:avLst/>
          </a:prstGeom>
          <a:ln w="50800">
            <a:solidFill>
              <a:srgbClr val="C837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81160" y="2331720"/>
            <a:ext cx="2514600" cy="841248"/>
          </a:xfrm>
          <a:prstGeom prst="roundRect">
            <a:avLst>
              <a:gd name="adj" fmla="val 20000"/>
            </a:avLst>
          </a:prstGeom>
          <a:solidFill>
            <a:srgbClr val="FFF4D6"/>
          </a:solidFill>
          <a:ln w="19050">
            <a:solidFill>
              <a:srgbClr val="D99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331720"/>
            <a:ext cx="251460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✨ 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355848"/>
            <a:ext cx="2514600" cy="8412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355848"/>
            <a:ext cx="251460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🛣️ 馬路：走得快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87968" y="3776472"/>
            <a:ext cx="329184" cy="0"/>
          </a:xfrm>
          <a:prstGeom prst="line">
            <a:avLst/>
          </a:prstGeom>
          <a:ln w="50800">
            <a:solidFill>
              <a:srgbClr val="C837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81160" y="3355848"/>
            <a:ext cx="2514600" cy="841248"/>
          </a:xfrm>
          <a:prstGeom prst="roundRect">
            <a:avLst>
              <a:gd name="adj" fmla="val 20000"/>
            </a:avLst>
          </a:prstGeom>
          <a:solidFill>
            <a:srgbClr val="FFF4D6"/>
          </a:solidFill>
          <a:ln w="19050">
            <a:solidFill>
              <a:srgbClr val="D99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355848"/>
            <a:ext cx="251460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💨 空氣：光跑得快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379976"/>
            <a:ext cx="2514600" cy="8412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379976"/>
            <a:ext cx="251460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🏖️ 沙灘：走得慢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87968" y="4800600"/>
            <a:ext cx="329184" cy="0"/>
          </a:xfrm>
          <a:prstGeom prst="line">
            <a:avLst/>
          </a:prstGeom>
          <a:ln w="50800">
            <a:solidFill>
              <a:srgbClr val="C837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81160" y="4379976"/>
            <a:ext cx="2514600" cy="841248"/>
          </a:xfrm>
          <a:prstGeom prst="roundRect">
            <a:avLst>
              <a:gd name="adj" fmla="val 20000"/>
            </a:avLst>
          </a:prstGeom>
          <a:solidFill>
            <a:srgbClr val="FFF4D6"/>
          </a:solidFill>
          <a:ln w="19050">
            <a:solidFill>
              <a:srgbClr val="D99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4379976"/>
            <a:ext cx="251460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💧 水、玻璃：光跑得慢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為什麼？第 2 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斜斜地走進沙灘：整排就換方向了！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誰先踩到沙誰先慢，整排就「折一下」換方向——光在水面、玻璃表面也是這樣！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908792" cy="3794759"/>
          </a:xfrm>
          <a:prstGeom prst="rect">
            <a:avLst/>
          </a:prstGeom>
          <a:solidFill>
            <a:srgbClr val="C9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840480" y="1783080"/>
            <a:ext cx="7708392" cy="3794760"/>
          </a:xfrm>
          <a:custGeom>
            <a:avLst/>
            <a:gdLst/>
            <a:ahLst/>
            <a:cxnLst/>
            <a:rect l="l" t="t" r="r" b="b"/>
            <a:pathLst>
              <a:path w="7708392" h="3794760">
                <a:moveTo>
                  <a:pt x="0" y="0"/>
                </a:moveTo>
                <a:lnTo>
                  <a:pt x="7708392" y="0"/>
                </a:lnTo>
                <a:lnTo>
                  <a:pt x="7708392" y="3794760"/>
                </a:lnTo>
                <a:lnTo>
                  <a:pt x="2194560" y="3794760"/>
                </a:lnTo>
                <a:close/>
              </a:path>
            </a:pathLst>
          </a:custGeom>
          <a:solidFill>
            <a:srgbClr val="E9C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3840480" y="1783080"/>
            <a:ext cx="2194560" cy="3794760"/>
          </a:xfrm>
          <a:prstGeom prst="line">
            <a:avLst/>
          </a:prstGeom>
          <a:ln w="38100">
            <a:solidFill>
              <a:srgbClr val="B8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512064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🛣️ 馬路：走得快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512064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7A5634"/>
                </a:solidFill>
                <a:latin typeface="微軟正黑體"/>
                <a:ea typeface="微軟正黑體"/>
                <a:cs typeface="微軟正黑體"/>
              </a:rPr>
              <a:t>🏖️ 沙灘：走得慢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720" y="3154679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" y="3566159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20" y="3977639"/>
            <a:ext cx="0" cy="41148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" y="4389120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51560" y="3017520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3428999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3840479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4251959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" y="4663440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2194560" y="3154679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94560" y="3566159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94560" y="3977639"/>
            <a:ext cx="0" cy="41148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94560" y="4389120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057400" y="3017520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57400" y="3428999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57400" y="3840479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57400" y="4251959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57400" y="4663440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017520" y="3154679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17520" y="3566159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017520" y="3977639"/>
            <a:ext cx="0" cy="41148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017520" y="4389120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2880360" y="3017520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880360" y="3428999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880360" y="3840479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880360" y="4251959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880360" y="4663440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3840479" y="3154679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40479" y="3566159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40479" y="3977639"/>
            <a:ext cx="0" cy="41148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840479" y="4389120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703319" y="3017520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703319" y="3428999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703319" y="3840479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703319" y="4251959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03319" y="4663440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675602" y="3144434"/>
            <a:ext cx="35386" cy="42172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10988" y="3566159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10988" y="3977639"/>
            <a:ext cx="0" cy="41148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10988" y="4389120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538442" y="3007274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73828" y="3428999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573828" y="3840479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573828" y="4251959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573828" y="4663440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833407" y="3105401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942935" y="3548595"/>
            <a:ext cx="60661" cy="42904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003596" y="3977639"/>
            <a:ext cx="0" cy="41148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003596" y="4389120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696247" y="2968241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805775" y="3411435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866436" y="3840479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866436" y="4251959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866436" y="4663440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4985294" y="3067833"/>
            <a:ext cx="109527" cy="443193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094821" y="3511026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204349" y="3954220"/>
            <a:ext cx="80882" cy="4349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285231" y="4389120"/>
            <a:ext cx="0" cy="41148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848134" y="2930673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957661" y="3373866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067189" y="3817060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148071" y="4251959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148071" y="4663440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5143098" y="3028800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252626" y="3471994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362154" y="3915188"/>
            <a:ext cx="111213" cy="44368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473367" y="4358869"/>
            <a:ext cx="104472" cy="44173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5005938" y="2891640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115466" y="3334834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224994" y="3778028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336207" y="4221709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440679" y="4663440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5612566" y="2912679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722094" y="3355873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831622" y="3799067"/>
            <a:ext cx="111213" cy="44368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942835" y="4242748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5475406" y="2775519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584934" y="3218713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694462" y="3661907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805675" y="4105588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15203" y="4548782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6056391" y="2802901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165919" y="3246095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275447" y="3689289"/>
            <a:ext cx="111213" cy="44368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386660" y="4132970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5919231" y="2665741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028759" y="3108935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138287" y="3552129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9500" y="3995810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359028" y="4439004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6500216" y="2693123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609744" y="3136317"/>
            <a:ext cx="109528" cy="443193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6719272" y="3579510"/>
            <a:ext cx="111213" cy="44368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830485" y="4023192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6363056" y="2555963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472584" y="2999157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582112" y="3442350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693325" y="3886032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802853" y="4329226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6944041" y="2583345"/>
            <a:ext cx="109528" cy="443193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053569" y="3026538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163097" y="3469732"/>
            <a:ext cx="111213" cy="44368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274310" y="3913414"/>
            <a:ext cx="109528" cy="443193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6806881" y="2446185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916409" y="2889378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025937" y="3332572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137150" y="3776254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246678" y="4219447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7387866" y="2473566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497394" y="2916760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606922" y="3359954"/>
            <a:ext cx="111213" cy="44368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718135" y="3803635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7250706" y="2336406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360234" y="2779600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469762" y="3222794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580975" y="3666475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7690503" y="4109669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7831691" y="2363788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941219" y="2806982"/>
            <a:ext cx="109528" cy="443193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050747" y="3250175"/>
            <a:ext cx="111213" cy="44368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161960" y="3693857"/>
            <a:ext cx="109527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7694531" y="2226628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804059" y="2669822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913587" y="3113015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024800" y="3556697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134327" y="3999891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8275516" y="2254010"/>
            <a:ext cx="109528" cy="443193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385044" y="2697203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494572" y="3140397"/>
            <a:ext cx="111212" cy="44368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605784" y="3584079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8138356" y="2116850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247884" y="2560043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8357412" y="3003237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468624" y="3446919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578152" y="3890113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8719341" y="2144231"/>
            <a:ext cx="109528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828869" y="2587425"/>
            <a:ext cx="109527" cy="4431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938396" y="3030619"/>
            <a:ext cx="111213" cy="44368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9049609" y="3474301"/>
            <a:ext cx="109528" cy="443193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/>
          <p:cNvSpPr/>
          <p:nvPr/>
        </p:nvSpPr>
        <p:spPr>
          <a:xfrm>
            <a:off x="8582181" y="2007071"/>
            <a:ext cx="274320" cy="274320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691709" y="2450265"/>
            <a:ext cx="274320" cy="274320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8801236" y="2893459"/>
            <a:ext cx="274320" cy="274320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8912449" y="3337141"/>
            <a:ext cx="274320" cy="274320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021977" y="3780334"/>
            <a:ext cx="274320" cy="27432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77240" y="1920240"/>
            <a:ext cx="3108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① 上面的同學先踩到沙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　 → 先變慢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1280160" y="5074920"/>
            <a:ext cx="1463040" cy="0"/>
          </a:xfrm>
          <a:prstGeom prst="line">
            <a:avLst/>
          </a:prstGeom>
          <a:ln w="50800">
            <a:solidFill>
              <a:srgbClr val="1F2A3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8007799" y="4354607"/>
            <a:ext cx="1509088" cy="372910"/>
          </a:xfrm>
          <a:prstGeom prst="line">
            <a:avLst/>
          </a:prstGeom>
          <a:ln w="63500">
            <a:solidFill>
              <a:srgbClr val="C837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6035040" y="507492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② 整排換方向了！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2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2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2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2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2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2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2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2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2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2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2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2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2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2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2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2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2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2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2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2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2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2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2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2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2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2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2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2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2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2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2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2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2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2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2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2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2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2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2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2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2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2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2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2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2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2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2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2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2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2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2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2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0" dur="2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2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2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2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2" dur="2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2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2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2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2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2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0" dur="2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2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2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2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2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2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2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2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2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2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0" dur="2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1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2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2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6" dur="4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7" presetID="22" presetClass="entr" presetSubtype="2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9" dur="4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3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9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為什麼？第 3 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沙堆中間最厚：大家往同一點走 → 聚起來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中間厚＝凸透鏡（放大鏡）：中間的光最慢，整排光彎起來，聚到「焦點」！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908792" cy="3794760"/>
          </a:xfrm>
          <a:prstGeom prst="rect">
            <a:avLst/>
          </a:prstGeom>
          <a:solidFill>
            <a:srgbClr val="C9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096512" y="2048256"/>
            <a:ext cx="950976" cy="3218688"/>
          </a:xfrm>
          <a:custGeom>
            <a:avLst/>
            <a:gdLst/>
            <a:ahLst/>
            <a:cxnLst/>
            <a:rect l="l" t="t" r="r" b="b"/>
            <a:pathLst>
              <a:path w="950976" h="3218688">
                <a:moveTo>
                  <a:pt x="475488" y="0"/>
                </a:moveTo>
                <a:lnTo>
                  <a:pt x="438912" y="36576"/>
                </a:lnTo>
                <a:lnTo>
                  <a:pt x="438912" y="73152"/>
                </a:lnTo>
                <a:lnTo>
                  <a:pt x="402336" y="109728"/>
                </a:lnTo>
                <a:lnTo>
                  <a:pt x="365760" y="146304"/>
                </a:lnTo>
                <a:lnTo>
                  <a:pt x="365760" y="182880"/>
                </a:lnTo>
                <a:lnTo>
                  <a:pt x="329184" y="219456"/>
                </a:lnTo>
                <a:lnTo>
                  <a:pt x="329184" y="256032"/>
                </a:lnTo>
                <a:lnTo>
                  <a:pt x="292608" y="292608"/>
                </a:lnTo>
                <a:lnTo>
                  <a:pt x="292608" y="329184"/>
                </a:lnTo>
                <a:lnTo>
                  <a:pt x="256032" y="365760"/>
                </a:lnTo>
                <a:lnTo>
                  <a:pt x="256032" y="402336"/>
                </a:lnTo>
                <a:lnTo>
                  <a:pt x="219456" y="438912"/>
                </a:lnTo>
                <a:lnTo>
                  <a:pt x="219456" y="475488"/>
                </a:lnTo>
                <a:lnTo>
                  <a:pt x="219456" y="512064"/>
                </a:lnTo>
                <a:lnTo>
                  <a:pt x="182880" y="548640"/>
                </a:lnTo>
                <a:lnTo>
                  <a:pt x="182880" y="585216"/>
                </a:lnTo>
                <a:lnTo>
                  <a:pt x="146304" y="621792"/>
                </a:lnTo>
                <a:lnTo>
                  <a:pt x="146304" y="658368"/>
                </a:lnTo>
                <a:lnTo>
                  <a:pt x="146304" y="694944"/>
                </a:lnTo>
                <a:lnTo>
                  <a:pt x="109728" y="731520"/>
                </a:lnTo>
                <a:lnTo>
                  <a:pt x="109728" y="768096"/>
                </a:lnTo>
                <a:lnTo>
                  <a:pt x="109728" y="804672"/>
                </a:lnTo>
                <a:lnTo>
                  <a:pt x="109728" y="841248"/>
                </a:lnTo>
                <a:lnTo>
                  <a:pt x="73152" y="877824"/>
                </a:lnTo>
                <a:lnTo>
                  <a:pt x="73152" y="914400"/>
                </a:lnTo>
                <a:lnTo>
                  <a:pt x="73152" y="950976"/>
                </a:lnTo>
                <a:lnTo>
                  <a:pt x="73152" y="987552"/>
                </a:lnTo>
                <a:lnTo>
                  <a:pt x="36575" y="1024128"/>
                </a:lnTo>
                <a:lnTo>
                  <a:pt x="36575" y="1060704"/>
                </a:lnTo>
                <a:lnTo>
                  <a:pt x="36575" y="1097280"/>
                </a:lnTo>
                <a:lnTo>
                  <a:pt x="36575" y="1133856"/>
                </a:lnTo>
                <a:lnTo>
                  <a:pt x="36575" y="1170432"/>
                </a:lnTo>
                <a:lnTo>
                  <a:pt x="36575" y="1207008"/>
                </a:lnTo>
                <a:lnTo>
                  <a:pt x="0" y="1243584"/>
                </a:lnTo>
                <a:lnTo>
                  <a:pt x="0" y="1280160"/>
                </a:lnTo>
                <a:lnTo>
                  <a:pt x="0" y="1316736"/>
                </a:lnTo>
                <a:lnTo>
                  <a:pt x="0" y="1353312"/>
                </a:lnTo>
                <a:lnTo>
                  <a:pt x="0" y="1389888"/>
                </a:lnTo>
                <a:lnTo>
                  <a:pt x="0" y="1426464"/>
                </a:lnTo>
                <a:lnTo>
                  <a:pt x="0" y="1463040"/>
                </a:lnTo>
                <a:lnTo>
                  <a:pt x="0" y="1499616"/>
                </a:lnTo>
                <a:lnTo>
                  <a:pt x="0" y="1536192"/>
                </a:lnTo>
                <a:lnTo>
                  <a:pt x="0" y="1572768"/>
                </a:lnTo>
                <a:lnTo>
                  <a:pt x="0" y="1609344"/>
                </a:lnTo>
                <a:lnTo>
                  <a:pt x="0" y="1645920"/>
                </a:lnTo>
                <a:lnTo>
                  <a:pt x="0" y="1682496"/>
                </a:lnTo>
                <a:lnTo>
                  <a:pt x="0" y="1719072"/>
                </a:lnTo>
                <a:lnTo>
                  <a:pt x="0" y="1755648"/>
                </a:lnTo>
                <a:lnTo>
                  <a:pt x="0" y="1792224"/>
                </a:lnTo>
                <a:lnTo>
                  <a:pt x="0" y="1828800"/>
                </a:lnTo>
                <a:lnTo>
                  <a:pt x="0" y="1865376"/>
                </a:lnTo>
                <a:lnTo>
                  <a:pt x="0" y="1901952"/>
                </a:lnTo>
                <a:lnTo>
                  <a:pt x="0" y="1938528"/>
                </a:lnTo>
                <a:lnTo>
                  <a:pt x="0" y="1975104"/>
                </a:lnTo>
                <a:lnTo>
                  <a:pt x="36575" y="2011680"/>
                </a:lnTo>
                <a:lnTo>
                  <a:pt x="36575" y="2048256"/>
                </a:lnTo>
                <a:lnTo>
                  <a:pt x="36575" y="2084832"/>
                </a:lnTo>
                <a:lnTo>
                  <a:pt x="36575" y="2121408"/>
                </a:lnTo>
                <a:lnTo>
                  <a:pt x="36575" y="2157984"/>
                </a:lnTo>
                <a:lnTo>
                  <a:pt x="36575" y="2194560"/>
                </a:lnTo>
                <a:lnTo>
                  <a:pt x="73152" y="2231136"/>
                </a:lnTo>
                <a:lnTo>
                  <a:pt x="73152" y="2267712"/>
                </a:lnTo>
                <a:lnTo>
                  <a:pt x="73152" y="2304288"/>
                </a:lnTo>
                <a:lnTo>
                  <a:pt x="73152" y="2340864"/>
                </a:lnTo>
                <a:lnTo>
                  <a:pt x="109728" y="2377440"/>
                </a:lnTo>
                <a:lnTo>
                  <a:pt x="109728" y="2414016"/>
                </a:lnTo>
                <a:lnTo>
                  <a:pt x="109728" y="2450592"/>
                </a:lnTo>
                <a:lnTo>
                  <a:pt x="109728" y="2487168"/>
                </a:lnTo>
                <a:lnTo>
                  <a:pt x="146304" y="2523744"/>
                </a:lnTo>
                <a:lnTo>
                  <a:pt x="146304" y="2560320"/>
                </a:lnTo>
                <a:lnTo>
                  <a:pt x="146304" y="2596896"/>
                </a:lnTo>
                <a:lnTo>
                  <a:pt x="182880" y="2633472"/>
                </a:lnTo>
                <a:lnTo>
                  <a:pt x="182880" y="2670048"/>
                </a:lnTo>
                <a:lnTo>
                  <a:pt x="219456" y="2706624"/>
                </a:lnTo>
                <a:lnTo>
                  <a:pt x="219456" y="2743200"/>
                </a:lnTo>
                <a:lnTo>
                  <a:pt x="219456" y="2779776"/>
                </a:lnTo>
                <a:lnTo>
                  <a:pt x="256032" y="2816352"/>
                </a:lnTo>
                <a:lnTo>
                  <a:pt x="256032" y="2852928"/>
                </a:lnTo>
                <a:lnTo>
                  <a:pt x="292608" y="2889504"/>
                </a:lnTo>
                <a:lnTo>
                  <a:pt x="292608" y="2926080"/>
                </a:lnTo>
                <a:lnTo>
                  <a:pt x="329184" y="2962656"/>
                </a:lnTo>
                <a:lnTo>
                  <a:pt x="329184" y="2999232"/>
                </a:lnTo>
                <a:lnTo>
                  <a:pt x="365760" y="3035808"/>
                </a:lnTo>
                <a:lnTo>
                  <a:pt x="365760" y="3072384"/>
                </a:lnTo>
                <a:lnTo>
                  <a:pt x="402336" y="3108960"/>
                </a:lnTo>
                <a:lnTo>
                  <a:pt x="438912" y="3145536"/>
                </a:lnTo>
                <a:lnTo>
                  <a:pt x="438912" y="3182112"/>
                </a:lnTo>
                <a:lnTo>
                  <a:pt x="475488" y="3218688"/>
                </a:lnTo>
                <a:lnTo>
                  <a:pt x="475488" y="3218688"/>
                </a:lnTo>
                <a:lnTo>
                  <a:pt x="512064" y="3182112"/>
                </a:lnTo>
                <a:lnTo>
                  <a:pt x="512064" y="3145536"/>
                </a:lnTo>
                <a:lnTo>
                  <a:pt x="548640" y="3108960"/>
                </a:lnTo>
                <a:lnTo>
                  <a:pt x="585216" y="3072384"/>
                </a:lnTo>
                <a:lnTo>
                  <a:pt x="585216" y="3035808"/>
                </a:lnTo>
                <a:lnTo>
                  <a:pt x="621792" y="2999232"/>
                </a:lnTo>
                <a:lnTo>
                  <a:pt x="621792" y="2962656"/>
                </a:lnTo>
                <a:lnTo>
                  <a:pt x="658368" y="2926080"/>
                </a:lnTo>
                <a:lnTo>
                  <a:pt x="658368" y="2889504"/>
                </a:lnTo>
                <a:lnTo>
                  <a:pt x="694944" y="2852928"/>
                </a:lnTo>
                <a:lnTo>
                  <a:pt x="694944" y="2816352"/>
                </a:lnTo>
                <a:lnTo>
                  <a:pt x="731520" y="2779776"/>
                </a:lnTo>
                <a:lnTo>
                  <a:pt x="731520" y="2743200"/>
                </a:lnTo>
                <a:lnTo>
                  <a:pt x="731520" y="2706624"/>
                </a:lnTo>
                <a:lnTo>
                  <a:pt x="768096" y="2670048"/>
                </a:lnTo>
                <a:lnTo>
                  <a:pt x="768096" y="2633472"/>
                </a:lnTo>
                <a:lnTo>
                  <a:pt x="804672" y="2596896"/>
                </a:lnTo>
                <a:lnTo>
                  <a:pt x="804672" y="2560320"/>
                </a:lnTo>
                <a:lnTo>
                  <a:pt x="804672" y="2523744"/>
                </a:lnTo>
                <a:lnTo>
                  <a:pt x="841248" y="2487168"/>
                </a:lnTo>
                <a:lnTo>
                  <a:pt x="841248" y="2450592"/>
                </a:lnTo>
                <a:lnTo>
                  <a:pt x="841248" y="2414016"/>
                </a:lnTo>
                <a:lnTo>
                  <a:pt x="841248" y="2377440"/>
                </a:lnTo>
                <a:lnTo>
                  <a:pt x="877824" y="2340864"/>
                </a:lnTo>
                <a:lnTo>
                  <a:pt x="877824" y="2304288"/>
                </a:lnTo>
                <a:lnTo>
                  <a:pt x="877824" y="2267712"/>
                </a:lnTo>
                <a:lnTo>
                  <a:pt x="877824" y="2231136"/>
                </a:lnTo>
                <a:lnTo>
                  <a:pt x="914400" y="2194560"/>
                </a:lnTo>
                <a:lnTo>
                  <a:pt x="914400" y="2157984"/>
                </a:lnTo>
                <a:lnTo>
                  <a:pt x="914400" y="2121408"/>
                </a:lnTo>
                <a:lnTo>
                  <a:pt x="914400" y="2084832"/>
                </a:lnTo>
                <a:lnTo>
                  <a:pt x="914400" y="2048256"/>
                </a:lnTo>
                <a:lnTo>
                  <a:pt x="914400" y="2011680"/>
                </a:lnTo>
                <a:lnTo>
                  <a:pt x="950976" y="1975104"/>
                </a:lnTo>
                <a:lnTo>
                  <a:pt x="950976" y="1938528"/>
                </a:lnTo>
                <a:lnTo>
                  <a:pt x="950976" y="1901952"/>
                </a:lnTo>
                <a:lnTo>
                  <a:pt x="950976" y="1865376"/>
                </a:lnTo>
                <a:lnTo>
                  <a:pt x="950976" y="1828800"/>
                </a:lnTo>
                <a:lnTo>
                  <a:pt x="950976" y="1792224"/>
                </a:lnTo>
                <a:lnTo>
                  <a:pt x="950976" y="1755648"/>
                </a:lnTo>
                <a:lnTo>
                  <a:pt x="950976" y="1719072"/>
                </a:lnTo>
                <a:lnTo>
                  <a:pt x="950976" y="1682496"/>
                </a:lnTo>
                <a:lnTo>
                  <a:pt x="950976" y="1645920"/>
                </a:lnTo>
                <a:lnTo>
                  <a:pt x="950976" y="1609344"/>
                </a:lnTo>
                <a:lnTo>
                  <a:pt x="950976" y="1572768"/>
                </a:lnTo>
                <a:lnTo>
                  <a:pt x="950976" y="1536192"/>
                </a:lnTo>
                <a:lnTo>
                  <a:pt x="950976" y="1499616"/>
                </a:lnTo>
                <a:lnTo>
                  <a:pt x="950976" y="1463040"/>
                </a:lnTo>
                <a:lnTo>
                  <a:pt x="950976" y="1426464"/>
                </a:lnTo>
                <a:lnTo>
                  <a:pt x="950976" y="1389888"/>
                </a:lnTo>
                <a:lnTo>
                  <a:pt x="950976" y="1353312"/>
                </a:lnTo>
                <a:lnTo>
                  <a:pt x="950976" y="1316736"/>
                </a:lnTo>
                <a:lnTo>
                  <a:pt x="950976" y="1280160"/>
                </a:lnTo>
                <a:lnTo>
                  <a:pt x="950976" y="1243584"/>
                </a:lnTo>
                <a:lnTo>
                  <a:pt x="914400" y="1207008"/>
                </a:lnTo>
                <a:lnTo>
                  <a:pt x="914400" y="1170432"/>
                </a:lnTo>
                <a:lnTo>
                  <a:pt x="914400" y="1133856"/>
                </a:lnTo>
                <a:lnTo>
                  <a:pt x="914400" y="1097280"/>
                </a:lnTo>
                <a:lnTo>
                  <a:pt x="914400" y="1060704"/>
                </a:lnTo>
                <a:lnTo>
                  <a:pt x="914400" y="1024128"/>
                </a:lnTo>
                <a:lnTo>
                  <a:pt x="877824" y="987552"/>
                </a:lnTo>
                <a:lnTo>
                  <a:pt x="877824" y="950976"/>
                </a:lnTo>
                <a:lnTo>
                  <a:pt x="877824" y="914400"/>
                </a:lnTo>
                <a:lnTo>
                  <a:pt x="877824" y="877824"/>
                </a:lnTo>
                <a:lnTo>
                  <a:pt x="841248" y="841248"/>
                </a:lnTo>
                <a:lnTo>
                  <a:pt x="841248" y="804672"/>
                </a:lnTo>
                <a:lnTo>
                  <a:pt x="841248" y="768096"/>
                </a:lnTo>
                <a:lnTo>
                  <a:pt x="841248" y="731520"/>
                </a:lnTo>
                <a:lnTo>
                  <a:pt x="804672" y="694944"/>
                </a:lnTo>
                <a:lnTo>
                  <a:pt x="804672" y="658368"/>
                </a:lnTo>
                <a:lnTo>
                  <a:pt x="804672" y="621792"/>
                </a:lnTo>
                <a:lnTo>
                  <a:pt x="768096" y="585216"/>
                </a:lnTo>
                <a:lnTo>
                  <a:pt x="768096" y="548640"/>
                </a:lnTo>
                <a:lnTo>
                  <a:pt x="731520" y="512064"/>
                </a:lnTo>
                <a:lnTo>
                  <a:pt x="731520" y="475488"/>
                </a:lnTo>
                <a:lnTo>
                  <a:pt x="731520" y="438912"/>
                </a:lnTo>
                <a:lnTo>
                  <a:pt x="694944" y="402336"/>
                </a:lnTo>
                <a:lnTo>
                  <a:pt x="694944" y="365760"/>
                </a:lnTo>
                <a:lnTo>
                  <a:pt x="658368" y="329184"/>
                </a:lnTo>
                <a:lnTo>
                  <a:pt x="658368" y="292608"/>
                </a:lnTo>
                <a:lnTo>
                  <a:pt x="621792" y="256032"/>
                </a:lnTo>
                <a:lnTo>
                  <a:pt x="621792" y="219456"/>
                </a:lnTo>
                <a:lnTo>
                  <a:pt x="585216" y="182880"/>
                </a:lnTo>
                <a:lnTo>
                  <a:pt x="585216" y="146304"/>
                </a:lnTo>
                <a:lnTo>
                  <a:pt x="548640" y="109728"/>
                </a:lnTo>
                <a:lnTo>
                  <a:pt x="512064" y="73152"/>
                </a:lnTo>
                <a:lnTo>
                  <a:pt x="512064" y="36576"/>
                </a:lnTo>
                <a:lnTo>
                  <a:pt x="475488" y="0"/>
                </a:lnTo>
                <a:close/>
              </a:path>
            </a:pathLst>
          </a:custGeom>
          <a:solidFill>
            <a:srgbClr val="E9CF98"/>
          </a:solidFill>
          <a:ln w="25400">
            <a:solidFill>
              <a:srgbClr val="B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810512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>
                <a:solidFill>
                  <a:srgbClr val="7A5634"/>
                </a:solidFill>
                <a:latin typeface="微軟正黑體"/>
                <a:ea typeface="微軟正黑體"/>
                <a:cs typeface="微軟正黑體"/>
              </a:rPr>
              <a:t>沙堆（中間最厚）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80160" y="2505456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80160" y="2889504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3273552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80160" y="3657600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80160" y="4041648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80160" y="4425696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161288" y="2386584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61288" y="2770632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61288" y="3154680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61288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61288" y="3922776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61288" y="4306824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1288" y="4690872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103120" y="2505456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03120" y="2889504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03120" y="3273552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03120" y="3657600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103120" y="4041648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103120" y="4425696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984248" y="2386584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84248" y="2770632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984248" y="3154680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984248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84248" y="3922776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84248" y="4306824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984248" y="4690872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2926080" y="2505456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926080" y="2889504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926080" y="3273552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926080" y="3657600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926080" y="4041648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26080" y="4425696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2807208" y="2386584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807208" y="2770632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807208" y="3154680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807208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807208" y="3922776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807208" y="4306824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807208" y="4690872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749039" y="2505456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749039" y="2889504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749039" y="3273552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749039" y="3657600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749039" y="4041648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749039" y="4425696"/>
            <a:ext cx="0" cy="38404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630167" y="2386584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30167" y="2770632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630167" y="3154680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630167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630167" y="3922776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630167" y="4306824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30167" y="4690872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H="1">
            <a:off x="4421229" y="2531066"/>
            <a:ext cx="50011" cy="383527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4393327" y="2914593"/>
            <a:ext cx="27902" cy="37367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4384090" y="3288268"/>
            <a:ext cx="9237" cy="36933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84090" y="3657600"/>
            <a:ext cx="9237" cy="36933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393327" y="4026931"/>
            <a:ext cx="27902" cy="37367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421229" y="4400606"/>
            <a:ext cx="50011" cy="383527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4352368" y="2412194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302357" y="2795721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274455" y="3169396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265218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274455" y="3908059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302357" y="4281734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352368" y="4665261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H="1">
            <a:off x="4932965" y="2684913"/>
            <a:ext cx="84527" cy="28147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4907046" y="2966383"/>
            <a:ext cx="25919" cy="347357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4898440" y="3313740"/>
            <a:ext cx="8606" cy="34386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898440" y="3657600"/>
            <a:ext cx="8606" cy="343859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907046" y="4001459"/>
            <a:ext cx="25919" cy="347357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932965" y="4348816"/>
            <a:ext cx="84527" cy="28147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4898620" y="2566041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814093" y="2847511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788174" y="3194868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779568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788174" y="3882587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814093" y="4229944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898620" y="4511414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H="1">
            <a:off x="5681490" y="3125993"/>
            <a:ext cx="30777" cy="7539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5632742" y="3201383"/>
            <a:ext cx="48748" cy="20688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5614416" y="3408269"/>
            <a:ext cx="18326" cy="249331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614416" y="3657600"/>
            <a:ext cx="18326" cy="24933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632742" y="3906930"/>
            <a:ext cx="48748" cy="20688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681490" y="4113816"/>
            <a:ext cx="30777" cy="7539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5593395" y="3007121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562618" y="3082511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513870" y="3289397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495544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513870" y="3788058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562618" y="3994944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593395" y="4070334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 flipV="1">
            <a:off x="6407041" y="3461367"/>
            <a:ext cx="55264" cy="105707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6446429" y="3461367"/>
            <a:ext cx="15876" cy="7009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6437375" y="3531462"/>
            <a:ext cx="9054" cy="12613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6437375" y="3657600"/>
            <a:ext cx="9054" cy="126137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446429" y="3783737"/>
            <a:ext cx="15876" cy="7009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6407041" y="3748125"/>
            <a:ext cx="55264" cy="105707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6288169" y="3448202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43433" y="3342495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327557" y="3412590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318503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327557" y="3664865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343433" y="3734960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288169" y="3629253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 flipV="1">
            <a:off x="7101815" y="3721350"/>
            <a:ext cx="141305" cy="28680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243120" y="3654656"/>
            <a:ext cx="16996" cy="666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260116" y="3654656"/>
            <a:ext cx="219" cy="294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7260116" y="3657600"/>
            <a:ext cx="219" cy="2943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 flipV="1">
            <a:off x="7243120" y="3593849"/>
            <a:ext cx="16996" cy="666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 flipV="1">
            <a:off x="7101815" y="3307045"/>
            <a:ext cx="141305" cy="28680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6982943" y="3889282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124248" y="3602478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141244" y="3535784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141463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141244" y="3541671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124248" y="3474977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982943" y="3188173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766560" y="1874519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① 中間的同學：在沙裡最久 → 最慢</a:t>
            </a:r>
          </a:p>
        </p:txBody>
      </p:sp>
      <p:sp>
        <p:nvSpPr>
          <p:cNvPr id="128" name="5-Point Star 127"/>
          <p:cNvSpPr/>
          <p:nvPr/>
        </p:nvSpPr>
        <p:spPr>
          <a:xfrm>
            <a:off x="7077103" y="3456432"/>
            <a:ext cx="402336" cy="402336"/>
          </a:xfrm>
          <a:prstGeom prst="star5">
            <a:avLst/>
          </a:prstGeom>
          <a:solidFill>
            <a:srgbClr val="C8372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591" y="3364992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焦點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280160" y="2505456"/>
            <a:ext cx="3024835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304995" y="2505456"/>
            <a:ext cx="568196" cy="88925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873191" y="2594381"/>
            <a:ext cx="1836463" cy="1164808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280160" y="2889504"/>
            <a:ext cx="2889503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69663" y="2889504"/>
            <a:ext cx="822436" cy="82864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992099" y="2972368"/>
            <a:ext cx="1810294" cy="602236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280160" y="3273552"/>
            <a:ext cx="2812694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092854" y="3273552"/>
            <a:ext cx="962599" cy="47547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5055453" y="3321099"/>
            <a:ext cx="1745382" cy="264021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280160" y="3657600"/>
            <a:ext cx="2787091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067251" y="3657600"/>
            <a:ext cx="1007211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5074462" y="3657600"/>
            <a:ext cx="1721358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280160" y="4041648"/>
            <a:ext cx="2812694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4092854" y="3994100"/>
            <a:ext cx="962599" cy="47548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5055453" y="3730079"/>
            <a:ext cx="1745382" cy="264021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280160" y="4425696"/>
            <a:ext cx="2889503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4169663" y="4342831"/>
            <a:ext cx="822436" cy="82865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4992099" y="3740595"/>
            <a:ext cx="1810294" cy="602236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280160" y="4809744"/>
            <a:ext cx="3024835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304995" y="4720818"/>
            <a:ext cx="568196" cy="88926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873191" y="3556010"/>
            <a:ext cx="1836463" cy="1164808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777240" y="507492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9A6A0C"/>
                </a:solidFill>
                <a:latin typeface="微軟正黑體"/>
                <a:ea typeface="微軟正黑體"/>
                <a:cs typeface="微軟正黑體"/>
              </a:rPr>
              <a:t>黃線＝每位同學走的路＝光走的路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2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2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2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2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2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2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2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2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2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2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2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2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2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2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2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2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2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2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2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2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2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2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2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2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2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2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2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2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2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2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2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2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2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2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2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2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2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2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2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2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2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2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2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2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2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3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3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7" dur="3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3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3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51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為什麼？第 4 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沙堆兩邊厚、中間薄：大家散開了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中間薄＝凹透鏡（近視眼鏡、門上的貓眼）：兩邊的光比較慢，整排光往外散開。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908792" cy="3794760"/>
          </a:xfrm>
          <a:prstGeom prst="rect">
            <a:avLst/>
          </a:prstGeom>
          <a:solidFill>
            <a:srgbClr val="C9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529584" y="2231136"/>
            <a:ext cx="987552" cy="2852928"/>
          </a:xfrm>
          <a:custGeom>
            <a:avLst/>
            <a:gdLst/>
            <a:ahLst/>
            <a:cxnLst/>
            <a:rect l="l" t="t" r="r" b="b"/>
            <a:pathLst>
              <a:path w="987552" h="2852928">
                <a:moveTo>
                  <a:pt x="0" y="0"/>
                </a:moveTo>
                <a:lnTo>
                  <a:pt x="36576" y="36576"/>
                </a:lnTo>
                <a:lnTo>
                  <a:pt x="36576" y="73152"/>
                </a:lnTo>
                <a:lnTo>
                  <a:pt x="73152" y="109728"/>
                </a:lnTo>
                <a:lnTo>
                  <a:pt x="73152" y="146304"/>
                </a:lnTo>
                <a:lnTo>
                  <a:pt x="109728" y="182880"/>
                </a:lnTo>
                <a:lnTo>
                  <a:pt x="109728" y="219456"/>
                </a:lnTo>
                <a:lnTo>
                  <a:pt x="146304" y="256032"/>
                </a:lnTo>
                <a:lnTo>
                  <a:pt x="146304" y="292608"/>
                </a:lnTo>
                <a:lnTo>
                  <a:pt x="146304" y="329184"/>
                </a:lnTo>
                <a:lnTo>
                  <a:pt x="182880" y="365760"/>
                </a:lnTo>
                <a:lnTo>
                  <a:pt x="182880" y="402336"/>
                </a:lnTo>
                <a:lnTo>
                  <a:pt x="219456" y="438912"/>
                </a:lnTo>
                <a:lnTo>
                  <a:pt x="219456" y="475488"/>
                </a:lnTo>
                <a:lnTo>
                  <a:pt x="219456" y="512064"/>
                </a:lnTo>
                <a:lnTo>
                  <a:pt x="256032" y="548640"/>
                </a:lnTo>
                <a:lnTo>
                  <a:pt x="256032" y="585216"/>
                </a:lnTo>
                <a:lnTo>
                  <a:pt x="256032" y="621792"/>
                </a:lnTo>
                <a:lnTo>
                  <a:pt x="256032" y="658368"/>
                </a:lnTo>
                <a:lnTo>
                  <a:pt x="292608" y="694944"/>
                </a:lnTo>
                <a:lnTo>
                  <a:pt x="292608" y="731520"/>
                </a:lnTo>
                <a:lnTo>
                  <a:pt x="292608" y="768096"/>
                </a:lnTo>
                <a:lnTo>
                  <a:pt x="292608" y="804672"/>
                </a:lnTo>
                <a:lnTo>
                  <a:pt x="329184" y="841248"/>
                </a:lnTo>
                <a:lnTo>
                  <a:pt x="329184" y="877824"/>
                </a:lnTo>
                <a:lnTo>
                  <a:pt x="329184" y="914400"/>
                </a:lnTo>
                <a:lnTo>
                  <a:pt x="329184" y="950976"/>
                </a:lnTo>
                <a:lnTo>
                  <a:pt x="329184" y="987552"/>
                </a:lnTo>
                <a:lnTo>
                  <a:pt x="329184" y="1024128"/>
                </a:lnTo>
                <a:lnTo>
                  <a:pt x="365760" y="1060704"/>
                </a:lnTo>
                <a:lnTo>
                  <a:pt x="365760" y="1097280"/>
                </a:lnTo>
                <a:lnTo>
                  <a:pt x="365760" y="1133856"/>
                </a:lnTo>
                <a:lnTo>
                  <a:pt x="365760" y="1170432"/>
                </a:lnTo>
                <a:lnTo>
                  <a:pt x="365760" y="1207008"/>
                </a:lnTo>
                <a:lnTo>
                  <a:pt x="365760" y="1243584"/>
                </a:lnTo>
                <a:lnTo>
                  <a:pt x="365760" y="1280160"/>
                </a:lnTo>
                <a:lnTo>
                  <a:pt x="365760" y="1316736"/>
                </a:lnTo>
                <a:lnTo>
                  <a:pt x="365760" y="1353312"/>
                </a:lnTo>
                <a:lnTo>
                  <a:pt x="365760" y="1389888"/>
                </a:lnTo>
                <a:lnTo>
                  <a:pt x="365760" y="1426464"/>
                </a:lnTo>
                <a:lnTo>
                  <a:pt x="365760" y="1463040"/>
                </a:lnTo>
                <a:lnTo>
                  <a:pt x="365760" y="1499616"/>
                </a:lnTo>
                <a:lnTo>
                  <a:pt x="365760" y="1536192"/>
                </a:lnTo>
                <a:lnTo>
                  <a:pt x="365760" y="1572768"/>
                </a:lnTo>
                <a:lnTo>
                  <a:pt x="365760" y="1609344"/>
                </a:lnTo>
                <a:lnTo>
                  <a:pt x="365760" y="1645920"/>
                </a:lnTo>
                <a:lnTo>
                  <a:pt x="365760" y="1682496"/>
                </a:lnTo>
                <a:lnTo>
                  <a:pt x="365760" y="1719072"/>
                </a:lnTo>
                <a:lnTo>
                  <a:pt x="365760" y="1755648"/>
                </a:lnTo>
                <a:lnTo>
                  <a:pt x="365760" y="1792224"/>
                </a:lnTo>
                <a:lnTo>
                  <a:pt x="329184" y="1828800"/>
                </a:lnTo>
                <a:lnTo>
                  <a:pt x="329184" y="1865376"/>
                </a:lnTo>
                <a:lnTo>
                  <a:pt x="329184" y="1901952"/>
                </a:lnTo>
                <a:lnTo>
                  <a:pt x="329184" y="1938528"/>
                </a:lnTo>
                <a:lnTo>
                  <a:pt x="329184" y="1975104"/>
                </a:lnTo>
                <a:lnTo>
                  <a:pt x="329184" y="2011680"/>
                </a:lnTo>
                <a:lnTo>
                  <a:pt x="292608" y="2048256"/>
                </a:lnTo>
                <a:lnTo>
                  <a:pt x="292608" y="2084832"/>
                </a:lnTo>
                <a:lnTo>
                  <a:pt x="292608" y="2121408"/>
                </a:lnTo>
                <a:lnTo>
                  <a:pt x="292608" y="2157984"/>
                </a:lnTo>
                <a:lnTo>
                  <a:pt x="256032" y="2194560"/>
                </a:lnTo>
                <a:lnTo>
                  <a:pt x="256032" y="2231136"/>
                </a:lnTo>
                <a:lnTo>
                  <a:pt x="256032" y="2267712"/>
                </a:lnTo>
                <a:lnTo>
                  <a:pt x="256032" y="2304288"/>
                </a:lnTo>
                <a:lnTo>
                  <a:pt x="219456" y="2340864"/>
                </a:lnTo>
                <a:lnTo>
                  <a:pt x="219456" y="2377440"/>
                </a:lnTo>
                <a:lnTo>
                  <a:pt x="219456" y="2414016"/>
                </a:lnTo>
                <a:lnTo>
                  <a:pt x="182880" y="2450592"/>
                </a:lnTo>
                <a:lnTo>
                  <a:pt x="182880" y="2487168"/>
                </a:lnTo>
                <a:lnTo>
                  <a:pt x="146304" y="2523744"/>
                </a:lnTo>
                <a:lnTo>
                  <a:pt x="146304" y="2560320"/>
                </a:lnTo>
                <a:lnTo>
                  <a:pt x="146304" y="2596896"/>
                </a:lnTo>
                <a:lnTo>
                  <a:pt x="109728" y="2633472"/>
                </a:lnTo>
                <a:lnTo>
                  <a:pt x="109728" y="2670048"/>
                </a:lnTo>
                <a:lnTo>
                  <a:pt x="73152" y="2706624"/>
                </a:lnTo>
                <a:lnTo>
                  <a:pt x="73152" y="2743200"/>
                </a:lnTo>
                <a:lnTo>
                  <a:pt x="36576" y="2779776"/>
                </a:lnTo>
                <a:lnTo>
                  <a:pt x="36576" y="2816352"/>
                </a:lnTo>
                <a:lnTo>
                  <a:pt x="0" y="2852928"/>
                </a:lnTo>
                <a:lnTo>
                  <a:pt x="987552" y="2852928"/>
                </a:lnTo>
                <a:lnTo>
                  <a:pt x="950976" y="2816352"/>
                </a:lnTo>
                <a:lnTo>
                  <a:pt x="950976" y="2779776"/>
                </a:lnTo>
                <a:lnTo>
                  <a:pt x="914400" y="2743200"/>
                </a:lnTo>
                <a:lnTo>
                  <a:pt x="914400" y="2706624"/>
                </a:lnTo>
                <a:lnTo>
                  <a:pt x="877824" y="2670048"/>
                </a:lnTo>
                <a:lnTo>
                  <a:pt x="877824" y="2633472"/>
                </a:lnTo>
                <a:lnTo>
                  <a:pt x="841248" y="2596896"/>
                </a:lnTo>
                <a:lnTo>
                  <a:pt x="841248" y="2560320"/>
                </a:lnTo>
                <a:lnTo>
                  <a:pt x="841248" y="2523744"/>
                </a:lnTo>
                <a:lnTo>
                  <a:pt x="804672" y="2487168"/>
                </a:lnTo>
                <a:lnTo>
                  <a:pt x="804672" y="2450592"/>
                </a:lnTo>
                <a:lnTo>
                  <a:pt x="768096" y="2414016"/>
                </a:lnTo>
                <a:lnTo>
                  <a:pt x="768096" y="2377440"/>
                </a:lnTo>
                <a:lnTo>
                  <a:pt x="768096" y="2340864"/>
                </a:lnTo>
                <a:lnTo>
                  <a:pt x="731520" y="2304288"/>
                </a:lnTo>
                <a:lnTo>
                  <a:pt x="731520" y="2267712"/>
                </a:lnTo>
                <a:lnTo>
                  <a:pt x="731520" y="2231136"/>
                </a:lnTo>
                <a:lnTo>
                  <a:pt x="731520" y="2194560"/>
                </a:lnTo>
                <a:lnTo>
                  <a:pt x="694944" y="2157984"/>
                </a:lnTo>
                <a:lnTo>
                  <a:pt x="694944" y="2121408"/>
                </a:lnTo>
                <a:lnTo>
                  <a:pt x="694944" y="2084832"/>
                </a:lnTo>
                <a:lnTo>
                  <a:pt x="694944" y="2048256"/>
                </a:lnTo>
                <a:lnTo>
                  <a:pt x="658368" y="2011680"/>
                </a:lnTo>
                <a:lnTo>
                  <a:pt x="658368" y="1975104"/>
                </a:lnTo>
                <a:lnTo>
                  <a:pt x="658368" y="1938528"/>
                </a:lnTo>
                <a:lnTo>
                  <a:pt x="658368" y="1901952"/>
                </a:lnTo>
                <a:lnTo>
                  <a:pt x="658368" y="1865376"/>
                </a:lnTo>
                <a:lnTo>
                  <a:pt x="658368" y="1828800"/>
                </a:lnTo>
                <a:lnTo>
                  <a:pt x="621792" y="1792224"/>
                </a:lnTo>
                <a:lnTo>
                  <a:pt x="621792" y="1755648"/>
                </a:lnTo>
                <a:lnTo>
                  <a:pt x="621792" y="1719072"/>
                </a:lnTo>
                <a:lnTo>
                  <a:pt x="621792" y="1682496"/>
                </a:lnTo>
                <a:lnTo>
                  <a:pt x="621792" y="1645920"/>
                </a:lnTo>
                <a:lnTo>
                  <a:pt x="621792" y="1609344"/>
                </a:lnTo>
                <a:lnTo>
                  <a:pt x="621792" y="1572768"/>
                </a:lnTo>
                <a:lnTo>
                  <a:pt x="621792" y="1536192"/>
                </a:lnTo>
                <a:lnTo>
                  <a:pt x="621792" y="1499616"/>
                </a:lnTo>
                <a:lnTo>
                  <a:pt x="621792" y="1463040"/>
                </a:lnTo>
                <a:lnTo>
                  <a:pt x="621792" y="1426464"/>
                </a:lnTo>
                <a:lnTo>
                  <a:pt x="621792" y="1389888"/>
                </a:lnTo>
                <a:lnTo>
                  <a:pt x="621792" y="1353312"/>
                </a:lnTo>
                <a:lnTo>
                  <a:pt x="621792" y="1316736"/>
                </a:lnTo>
                <a:lnTo>
                  <a:pt x="621792" y="1280160"/>
                </a:lnTo>
                <a:lnTo>
                  <a:pt x="621792" y="1243584"/>
                </a:lnTo>
                <a:lnTo>
                  <a:pt x="621792" y="1207008"/>
                </a:lnTo>
                <a:lnTo>
                  <a:pt x="621792" y="1170432"/>
                </a:lnTo>
                <a:lnTo>
                  <a:pt x="621792" y="1133856"/>
                </a:lnTo>
                <a:lnTo>
                  <a:pt x="621792" y="1097280"/>
                </a:lnTo>
                <a:lnTo>
                  <a:pt x="621792" y="1060704"/>
                </a:lnTo>
                <a:lnTo>
                  <a:pt x="658368" y="1024128"/>
                </a:lnTo>
                <a:lnTo>
                  <a:pt x="658368" y="987552"/>
                </a:lnTo>
                <a:lnTo>
                  <a:pt x="658368" y="950976"/>
                </a:lnTo>
                <a:lnTo>
                  <a:pt x="658368" y="914400"/>
                </a:lnTo>
                <a:lnTo>
                  <a:pt x="658368" y="877824"/>
                </a:lnTo>
                <a:lnTo>
                  <a:pt x="658368" y="841248"/>
                </a:lnTo>
                <a:lnTo>
                  <a:pt x="694944" y="804672"/>
                </a:lnTo>
                <a:lnTo>
                  <a:pt x="694944" y="768096"/>
                </a:lnTo>
                <a:lnTo>
                  <a:pt x="694944" y="731520"/>
                </a:lnTo>
                <a:lnTo>
                  <a:pt x="694944" y="694944"/>
                </a:lnTo>
                <a:lnTo>
                  <a:pt x="731520" y="658368"/>
                </a:lnTo>
                <a:lnTo>
                  <a:pt x="731520" y="621792"/>
                </a:lnTo>
                <a:lnTo>
                  <a:pt x="731520" y="585216"/>
                </a:lnTo>
                <a:lnTo>
                  <a:pt x="731520" y="548640"/>
                </a:lnTo>
                <a:lnTo>
                  <a:pt x="768096" y="512064"/>
                </a:lnTo>
                <a:lnTo>
                  <a:pt x="768096" y="475488"/>
                </a:lnTo>
                <a:lnTo>
                  <a:pt x="768096" y="438912"/>
                </a:lnTo>
                <a:lnTo>
                  <a:pt x="804672" y="402336"/>
                </a:lnTo>
                <a:lnTo>
                  <a:pt x="804672" y="365760"/>
                </a:lnTo>
                <a:lnTo>
                  <a:pt x="841248" y="329184"/>
                </a:lnTo>
                <a:lnTo>
                  <a:pt x="841248" y="292608"/>
                </a:lnTo>
                <a:lnTo>
                  <a:pt x="841248" y="256032"/>
                </a:lnTo>
                <a:lnTo>
                  <a:pt x="877824" y="219456"/>
                </a:lnTo>
                <a:lnTo>
                  <a:pt x="877824" y="182880"/>
                </a:lnTo>
                <a:lnTo>
                  <a:pt x="914400" y="146304"/>
                </a:lnTo>
                <a:lnTo>
                  <a:pt x="914400" y="109728"/>
                </a:lnTo>
                <a:lnTo>
                  <a:pt x="950976" y="73152"/>
                </a:lnTo>
                <a:lnTo>
                  <a:pt x="950976" y="36576"/>
                </a:lnTo>
                <a:lnTo>
                  <a:pt x="987552" y="0"/>
                </a:lnTo>
                <a:close/>
              </a:path>
            </a:pathLst>
          </a:custGeom>
          <a:solidFill>
            <a:srgbClr val="E9CF98"/>
          </a:solidFill>
          <a:ln w="25400">
            <a:solidFill>
              <a:srgbClr val="B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810512"/>
            <a:ext cx="29260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>
                <a:solidFill>
                  <a:srgbClr val="7A5634"/>
                </a:solidFill>
                <a:latin typeface="微軟正黑體"/>
                <a:ea typeface="微軟正黑體"/>
                <a:cs typeface="微軟正黑體"/>
              </a:rPr>
              <a:t>沙（兩邊厚、中間薄）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8720" y="2615184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2962656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3310128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" y="3657600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20" y="4005072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" y="4352544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69848" y="2496312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9848" y="2843784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848" y="3191256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9848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9848" y="3886200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9848" y="4233672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848" y="4581144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011680" y="2615184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011680" y="2962656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011680" y="3310128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011680" y="3657600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11680" y="4005072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11680" y="4352544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892808" y="2496312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92808" y="2843784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92808" y="3191256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92808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92808" y="3886200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2808" y="4233672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892808" y="4581144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2834640" y="2615184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834640" y="2962656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34640" y="3310128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834640" y="3657600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834640" y="4005072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834640" y="4352544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2715768" y="2496312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715768" y="2843784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715768" y="3191256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715768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715768" y="3886200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715768" y="4233672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715768" y="4581144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657600" y="2615184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657600" y="2962656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657600" y="3310128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657600" y="3657600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657600" y="4005072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657600" y="4352544"/>
            <a:ext cx="0" cy="3474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538728" y="2496312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38728" y="2843784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538728" y="3191256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538728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38728" y="3886200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538728" y="4233672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538728" y="4581144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4215625" y="2550487"/>
            <a:ext cx="37913" cy="37578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3538" y="2926269"/>
            <a:ext cx="67229" cy="354237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320767" y="3280506"/>
            <a:ext cx="23242" cy="37709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4320767" y="3657600"/>
            <a:ext cx="23242" cy="377093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4253538" y="4034693"/>
            <a:ext cx="67229" cy="354237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4215625" y="4388930"/>
            <a:ext cx="37913" cy="37578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4096753" y="2431615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134666" y="2807397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201895" y="3161634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225137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201895" y="3915821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134666" y="4270058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96753" y="4645840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4895676" y="2286237"/>
            <a:ext cx="153069" cy="42811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048745" y="2714351"/>
            <a:ext cx="88791" cy="465399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137536" y="3179750"/>
            <a:ext cx="29433" cy="47785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5137536" y="3657600"/>
            <a:ext cx="29433" cy="477849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5048745" y="4135449"/>
            <a:ext cx="88791" cy="465399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4895676" y="4600848"/>
            <a:ext cx="153069" cy="42811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4776804" y="2167365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929873" y="2595479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018664" y="3060878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048097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018664" y="4016577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929873" y="4481976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776804" y="4910090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5638264" y="1931519"/>
            <a:ext cx="205688" cy="57091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843952" y="2502434"/>
            <a:ext cx="110353" cy="57656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954305" y="3078994"/>
            <a:ext cx="35624" cy="57860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5954305" y="3657600"/>
            <a:ext cx="35624" cy="57860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5843952" y="4236205"/>
            <a:ext cx="110353" cy="57656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5638264" y="4812765"/>
            <a:ext cx="205688" cy="57091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5519392" y="1812647"/>
            <a:ext cx="237744" cy="23774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725080" y="2383562"/>
            <a:ext cx="237744" cy="237744"/>
          </a:xfrm>
          <a:prstGeom prst="ellipse">
            <a:avLst/>
          </a:prstGeom>
          <a:solidFill>
            <a:srgbClr val="F3A7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835433" y="2960122"/>
            <a:ext cx="237744" cy="237744"/>
          </a:xfrm>
          <a:prstGeom prst="ellipse">
            <a:avLst/>
          </a:prstGeom>
          <a:solidFill>
            <a:srgbClr val="2F8A4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871057" y="3538728"/>
            <a:ext cx="237744" cy="237744"/>
          </a:xfrm>
          <a:prstGeom prst="ellipse">
            <a:avLst/>
          </a:prstGeom>
          <a:solidFill>
            <a:srgbClr val="1F7A8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835433" y="4117333"/>
            <a:ext cx="237744" cy="237744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725080" y="4693893"/>
            <a:ext cx="237744" cy="237744"/>
          </a:xfrm>
          <a:prstGeom prst="ellipse">
            <a:avLst/>
          </a:prstGeom>
          <a:solidFill>
            <a:srgbClr val="D14D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519392" y="5264808"/>
            <a:ext cx="237744" cy="237744"/>
          </a:xfrm>
          <a:prstGeom prst="ellipse">
            <a:avLst/>
          </a:prstGeom>
          <a:solidFill>
            <a:srgbClr val="3B6F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035040" y="502920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① 兩邊的同學：在沙裡比較久 → 比較慢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61120" y="1874519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F5FA8"/>
                </a:solidFill>
                <a:latin typeface="微軟正黑體"/>
                <a:ea typeface="微軟正黑體"/>
                <a:cs typeface="微軟正黑體"/>
              </a:rPr>
              <a:t>② 整排散開了！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188720" y="2615184"/>
            <a:ext cx="2505455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694175" y="2529325"/>
            <a:ext cx="690821" cy="85859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384996" y="2022957"/>
            <a:ext cx="1061846" cy="506368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88720" y="2962656"/>
            <a:ext cx="2611526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800246" y="2926466"/>
            <a:ext cx="450861" cy="3619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4251107" y="2557061"/>
            <a:ext cx="1387858" cy="369405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188720" y="3310128"/>
            <a:ext cx="2673705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862425" y="3297620"/>
            <a:ext cx="317963" cy="12508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180388" y="3104967"/>
            <a:ext cx="1563372" cy="192653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188720" y="3657600"/>
            <a:ext cx="2695651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884371" y="3657600"/>
            <a:ext cx="274320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158691" y="3657600"/>
            <a:ext cx="1619097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188720" y="4005072"/>
            <a:ext cx="2673705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862425" y="4005072"/>
            <a:ext cx="317963" cy="12507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180388" y="4017579"/>
            <a:ext cx="1563372" cy="192653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188720" y="4352544"/>
            <a:ext cx="2611526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00246" y="4352544"/>
            <a:ext cx="450861" cy="36189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4251107" y="4388733"/>
            <a:ext cx="1387858" cy="369405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88720" y="4700016"/>
            <a:ext cx="2505455" cy="0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694175" y="4700016"/>
            <a:ext cx="690821" cy="85858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384996" y="4785874"/>
            <a:ext cx="1061846" cy="506368"/>
          </a:xfrm>
          <a:prstGeom prst="line">
            <a:avLst/>
          </a:prstGeom>
          <a:ln w="381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2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2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2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2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2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2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2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2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2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2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2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2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2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2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2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2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2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2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2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為什麼？第 5 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走過焦點以後：上面的人跑到下面了！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光在焦點交叉、上下交換——所以放大鏡拿遠一點，白紙上的景色就倒過來了。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949440" cy="3794760"/>
          </a:xfrm>
          <a:prstGeom prst="rect">
            <a:avLst/>
          </a:prstGeom>
          <a:solidFill>
            <a:srgbClr val="C9C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304288" y="2267712"/>
            <a:ext cx="877824" cy="2779776"/>
          </a:xfrm>
          <a:custGeom>
            <a:avLst/>
            <a:gdLst/>
            <a:ahLst/>
            <a:cxnLst/>
            <a:rect l="l" t="t" r="r" b="b"/>
            <a:pathLst>
              <a:path w="877824" h="2779776">
                <a:moveTo>
                  <a:pt x="438912" y="0"/>
                </a:moveTo>
                <a:lnTo>
                  <a:pt x="438912" y="36576"/>
                </a:lnTo>
                <a:lnTo>
                  <a:pt x="402336" y="73152"/>
                </a:lnTo>
                <a:lnTo>
                  <a:pt x="365760" y="109728"/>
                </a:lnTo>
                <a:lnTo>
                  <a:pt x="365760" y="146304"/>
                </a:lnTo>
                <a:lnTo>
                  <a:pt x="329184" y="182880"/>
                </a:lnTo>
                <a:lnTo>
                  <a:pt x="292608" y="219456"/>
                </a:lnTo>
                <a:lnTo>
                  <a:pt x="292608" y="256032"/>
                </a:lnTo>
                <a:lnTo>
                  <a:pt x="256032" y="292608"/>
                </a:lnTo>
                <a:lnTo>
                  <a:pt x="256032" y="329184"/>
                </a:lnTo>
                <a:lnTo>
                  <a:pt x="219456" y="365760"/>
                </a:lnTo>
                <a:lnTo>
                  <a:pt x="219456" y="402336"/>
                </a:lnTo>
                <a:lnTo>
                  <a:pt x="182880" y="438912"/>
                </a:lnTo>
                <a:lnTo>
                  <a:pt x="182880" y="475488"/>
                </a:lnTo>
                <a:lnTo>
                  <a:pt x="182880" y="512064"/>
                </a:lnTo>
                <a:lnTo>
                  <a:pt x="146304" y="548640"/>
                </a:lnTo>
                <a:lnTo>
                  <a:pt x="146304" y="585216"/>
                </a:lnTo>
                <a:lnTo>
                  <a:pt x="109728" y="621792"/>
                </a:lnTo>
                <a:lnTo>
                  <a:pt x="109728" y="658368"/>
                </a:lnTo>
                <a:lnTo>
                  <a:pt x="109728" y="694944"/>
                </a:lnTo>
                <a:lnTo>
                  <a:pt x="109728" y="731520"/>
                </a:lnTo>
                <a:lnTo>
                  <a:pt x="73152" y="768096"/>
                </a:lnTo>
                <a:lnTo>
                  <a:pt x="73152" y="804672"/>
                </a:lnTo>
                <a:lnTo>
                  <a:pt x="73152" y="841248"/>
                </a:lnTo>
                <a:lnTo>
                  <a:pt x="73152" y="877824"/>
                </a:lnTo>
                <a:lnTo>
                  <a:pt x="36576" y="914400"/>
                </a:lnTo>
                <a:lnTo>
                  <a:pt x="36576" y="950976"/>
                </a:lnTo>
                <a:lnTo>
                  <a:pt x="36576" y="987552"/>
                </a:lnTo>
                <a:lnTo>
                  <a:pt x="36576" y="1024128"/>
                </a:lnTo>
                <a:lnTo>
                  <a:pt x="36576" y="1060704"/>
                </a:lnTo>
                <a:lnTo>
                  <a:pt x="0" y="1097280"/>
                </a:lnTo>
                <a:lnTo>
                  <a:pt x="0" y="1133856"/>
                </a:lnTo>
                <a:lnTo>
                  <a:pt x="0" y="1170432"/>
                </a:lnTo>
                <a:lnTo>
                  <a:pt x="0" y="1207008"/>
                </a:lnTo>
                <a:lnTo>
                  <a:pt x="0" y="1243584"/>
                </a:lnTo>
                <a:lnTo>
                  <a:pt x="0" y="1280160"/>
                </a:lnTo>
                <a:lnTo>
                  <a:pt x="0" y="1316736"/>
                </a:lnTo>
                <a:lnTo>
                  <a:pt x="0" y="1353312"/>
                </a:lnTo>
                <a:lnTo>
                  <a:pt x="0" y="1389888"/>
                </a:lnTo>
                <a:lnTo>
                  <a:pt x="0" y="1426464"/>
                </a:lnTo>
                <a:lnTo>
                  <a:pt x="0" y="1463040"/>
                </a:lnTo>
                <a:lnTo>
                  <a:pt x="0" y="1499616"/>
                </a:lnTo>
                <a:lnTo>
                  <a:pt x="0" y="1536192"/>
                </a:lnTo>
                <a:lnTo>
                  <a:pt x="0" y="1572768"/>
                </a:lnTo>
                <a:lnTo>
                  <a:pt x="0" y="1609344"/>
                </a:lnTo>
                <a:lnTo>
                  <a:pt x="0" y="1645920"/>
                </a:lnTo>
                <a:lnTo>
                  <a:pt x="0" y="1682496"/>
                </a:lnTo>
                <a:lnTo>
                  <a:pt x="36576" y="1719072"/>
                </a:lnTo>
                <a:lnTo>
                  <a:pt x="36576" y="1755648"/>
                </a:lnTo>
                <a:lnTo>
                  <a:pt x="36576" y="1792224"/>
                </a:lnTo>
                <a:lnTo>
                  <a:pt x="36576" y="1828800"/>
                </a:lnTo>
                <a:lnTo>
                  <a:pt x="36576" y="1865376"/>
                </a:lnTo>
                <a:lnTo>
                  <a:pt x="73152" y="1901952"/>
                </a:lnTo>
                <a:lnTo>
                  <a:pt x="73152" y="1938528"/>
                </a:lnTo>
                <a:lnTo>
                  <a:pt x="73152" y="1975104"/>
                </a:lnTo>
                <a:lnTo>
                  <a:pt x="73152" y="2011680"/>
                </a:lnTo>
                <a:lnTo>
                  <a:pt x="109728" y="2048256"/>
                </a:lnTo>
                <a:lnTo>
                  <a:pt x="109728" y="2084832"/>
                </a:lnTo>
                <a:lnTo>
                  <a:pt x="109728" y="2121408"/>
                </a:lnTo>
                <a:lnTo>
                  <a:pt x="109728" y="2157984"/>
                </a:lnTo>
                <a:lnTo>
                  <a:pt x="146304" y="2194560"/>
                </a:lnTo>
                <a:lnTo>
                  <a:pt x="146304" y="2231136"/>
                </a:lnTo>
                <a:lnTo>
                  <a:pt x="182880" y="2267712"/>
                </a:lnTo>
                <a:lnTo>
                  <a:pt x="182880" y="2304288"/>
                </a:lnTo>
                <a:lnTo>
                  <a:pt x="182880" y="2340864"/>
                </a:lnTo>
                <a:lnTo>
                  <a:pt x="219456" y="2377440"/>
                </a:lnTo>
                <a:lnTo>
                  <a:pt x="219456" y="2414016"/>
                </a:lnTo>
                <a:lnTo>
                  <a:pt x="256032" y="2450592"/>
                </a:lnTo>
                <a:lnTo>
                  <a:pt x="256032" y="2487168"/>
                </a:lnTo>
                <a:lnTo>
                  <a:pt x="292608" y="2523744"/>
                </a:lnTo>
                <a:lnTo>
                  <a:pt x="292608" y="2560320"/>
                </a:lnTo>
                <a:lnTo>
                  <a:pt x="329184" y="2596896"/>
                </a:lnTo>
                <a:lnTo>
                  <a:pt x="365760" y="2633472"/>
                </a:lnTo>
                <a:lnTo>
                  <a:pt x="365760" y="2670048"/>
                </a:lnTo>
                <a:lnTo>
                  <a:pt x="402336" y="2706624"/>
                </a:lnTo>
                <a:lnTo>
                  <a:pt x="438912" y="2743200"/>
                </a:lnTo>
                <a:lnTo>
                  <a:pt x="438912" y="2779776"/>
                </a:lnTo>
                <a:lnTo>
                  <a:pt x="438912" y="2779776"/>
                </a:lnTo>
                <a:lnTo>
                  <a:pt x="438912" y="2743200"/>
                </a:lnTo>
                <a:lnTo>
                  <a:pt x="475488" y="2706624"/>
                </a:lnTo>
                <a:lnTo>
                  <a:pt x="512064" y="2670048"/>
                </a:lnTo>
                <a:lnTo>
                  <a:pt x="512064" y="2633472"/>
                </a:lnTo>
                <a:lnTo>
                  <a:pt x="548640" y="2596896"/>
                </a:lnTo>
                <a:lnTo>
                  <a:pt x="585216" y="2560320"/>
                </a:lnTo>
                <a:lnTo>
                  <a:pt x="585216" y="2523744"/>
                </a:lnTo>
                <a:lnTo>
                  <a:pt x="621792" y="2487168"/>
                </a:lnTo>
                <a:lnTo>
                  <a:pt x="621792" y="2450592"/>
                </a:lnTo>
                <a:lnTo>
                  <a:pt x="658368" y="2414016"/>
                </a:lnTo>
                <a:lnTo>
                  <a:pt x="658368" y="2377440"/>
                </a:lnTo>
                <a:lnTo>
                  <a:pt x="694944" y="2340864"/>
                </a:lnTo>
                <a:lnTo>
                  <a:pt x="694944" y="2304288"/>
                </a:lnTo>
                <a:lnTo>
                  <a:pt x="694944" y="2267712"/>
                </a:lnTo>
                <a:lnTo>
                  <a:pt x="731520" y="2231136"/>
                </a:lnTo>
                <a:lnTo>
                  <a:pt x="731520" y="2194560"/>
                </a:lnTo>
                <a:lnTo>
                  <a:pt x="768096" y="2157984"/>
                </a:lnTo>
                <a:lnTo>
                  <a:pt x="768096" y="2121408"/>
                </a:lnTo>
                <a:lnTo>
                  <a:pt x="768096" y="2084832"/>
                </a:lnTo>
                <a:lnTo>
                  <a:pt x="768096" y="2048256"/>
                </a:lnTo>
                <a:lnTo>
                  <a:pt x="804672" y="2011680"/>
                </a:lnTo>
                <a:lnTo>
                  <a:pt x="804672" y="1975104"/>
                </a:lnTo>
                <a:lnTo>
                  <a:pt x="804672" y="1938528"/>
                </a:lnTo>
                <a:lnTo>
                  <a:pt x="804672" y="1901952"/>
                </a:lnTo>
                <a:lnTo>
                  <a:pt x="841248" y="1865376"/>
                </a:lnTo>
                <a:lnTo>
                  <a:pt x="841248" y="1828800"/>
                </a:lnTo>
                <a:lnTo>
                  <a:pt x="841248" y="1792224"/>
                </a:lnTo>
                <a:lnTo>
                  <a:pt x="841248" y="1755648"/>
                </a:lnTo>
                <a:lnTo>
                  <a:pt x="841248" y="1719072"/>
                </a:lnTo>
                <a:lnTo>
                  <a:pt x="877824" y="1682496"/>
                </a:lnTo>
                <a:lnTo>
                  <a:pt x="877824" y="1645920"/>
                </a:lnTo>
                <a:lnTo>
                  <a:pt x="877824" y="1609344"/>
                </a:lnTo>
                <a:lnTo>
                  <a:pt x="877824" y="1572768"/>
                </a:lnTo>
                <a:lnTo>
                  <a:pt x="877824" y="1536192"/>
                </a:lnTo>
                <a:lnTo>
                  <a:pt x="877824" y="1499616"/>
                </a:lnTo>
                <a:lnTo>
                  <a:pt x="877824" y="1463040"/>
                </a:lnTo>
                <a:lnTo>
                  <a:pt x="877824" y="1426464"/>
                </a:lnTo>
                <a:lnTo>
                  <a:pt x="877824" y="1389888"/>
                </a:lnTo>
                <a:lnTo>
                  <a:pt x="877824" y="1353312"/>
                </a:lnTo>
                <a:lnTo>
                  <a:pt x="877824" y="1316736"/>
                </a:lnTo>
                <a:lnTo>
                  <a:pt x="877824" y="1280160"/>
                </a:lnTo>
                <a:lnTo>
                  <a:pt x="877824" y="1243584"/>
                </a:lnTo>
                <a:lnTo>
                  <a:pt x="877824" y="1207008"/>
                </a:lnTo>
                <a:lnTo>
                  <a:pt x="877824" y="1170432"/>
                </a:lnTo>
                <a:lnTo>
                  <a:pt x="877824" y="1133856"/>
                </a:lnTo>
                <a:lnTo>
                  <a:pt x="877824" y="1097280"/>
                </a:lnTo>
                <a:lnTo>
                  <a:pt x="841248" y="1060704"/>
                </a:lnTo>
                <a:lnTo>
                  <a:pt x="841248" y="1024128"/>
                </a:lnTo>
                <a:lnTo>
                  <a:pt x="841248" y="987552"/>
                </a:lnTo>
                <a:lnTo>
                  <a:pt x="841248" y="950976"/>
                </a:lnTo>
                <a:lnTo>
                  <a:pt x="841248" y="914400"/>
                </a:lnTo>
                <a:lnTo>
                  <a:pt x="804672" y="877824"/>
                </a:lnTo>
                <a:lnTo>
                  <a:pt x="804672" y="841248"/>
                </a:lnTo>
                <a:lnTo>
                  <a:pt x="804672" y="804672"/>
                </a:lnTo>
                <a:lnTo>
                  <a:pt x="804672" y="768096"/>
                </a:lnTo>
                <a:lnTo>
                  <a:pt x="768096" y="731520"/>
                </a:lnTo>
                <a:lnTo>
                  <a:pt x="768096" y="694944"/>
                </a:lnTo>
                <a:lnTo>
                  <a:pt x="768096" y="658368"/>
                </a:lnTo>
                <a:lnTo>
                  <a:pt x="768096" y="621792"/>
                </a:lnTo>
                <a:lnTo>
                  <a:pt x="731520" y="585216"/>
                </a:lnTo>
                <a:lnTo>
                  <a:pt x="731520" y="548640"/>
                </a:lnTo>
                <a:lnTo>
                  <a:pt x="694944" y="512064"/>
                </a:lnTo>
                <a:lnTo>
                  <a:pt x="694944" y="475488"/>
                </a:lnTo>
                <a:lnTo>
                  <a:pt x="694944" y="438912"/>
                </a:lnTo>
                <a:lnTo>
                  <a:pt x="658368" y="402336"/>
                </a:lnTo>
                <a:lnTo>
                  <a:pt x="658368" y="365760"/>
                </a:lnTo>
                <a:lnTo>
                  <a:pt x="621792" y="329184"/>
                </a:lnTo>
                <a:lnTo>
                  <a:pt x="621792" y="292608"/>
                </a:lnTo>
                <a:lnTo>
                  <a:pt x="585216" y="256032"/>
                </a:lnTo>
                <a:lnTo>
                  <a:pt x="585216" y="219456"/>
                </a:lnTo>
                <a:lnTo>
                  <a:pt x="548640" y="182880"/>
                </a:lnTo>
                <a:lnTo>
                  <a:pt x="512064" y="146304"/>
                </a:lnTo>
                <a:lnTo>
                  <a:pt x="512064" y="109728"/>
                </a:lnTo>
                <a:lnTo>
                  <a:pt x="475488" y="73152"/>
                </a:lnTo>
                <a:lnTo>
                  <a:pt x="438912" y="36576"/>
                </a:lnTo>
                <a:lnTo>
                  <a:pt x="438912" y="0"/>
                </a:lnTo>
                <a:close/>
              </a:path>
            </a:pathLst>
          </a:custGeom>
          <a:solidFill>
            <a:srgbClr val="E9CF98"/>
          </a:solidFill>
          <a:ln w="25400">
            <a:solidFill>
              <a:srgbClr val="B89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14400" y="2743200"/>
            <a:ext cx="0" cy="4572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3200400"/>
            <a:ext cx="0" cy="4572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" y="3657600"/>
            <a:ext cx="0" cy="4572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4114800"/>
            <a:ext cx="0" cy="4572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86384" y="2615184"/>
            <a:ext cx="256032" cy="256032"/>
          </a:xfrm>
          <a:prstGeom prst="ellipse">
            <a:avLst/>
          </a:prstGeom>
          <a:solidFill>
            <a:srgbClr val="C837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6384" y="307238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6384" y="352958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398678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6384" y="4443984"/>
            <a:ext cx="256032" cy="256032"/>
          </a:xfrm>
          <a:prstGeom prst="ellipse">
            <a:avLst/>
          </a:prstGeom>
          <a:solidFill>
            <a:srgbClr val="1F5F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828800" y="2743200"/>
            <a:ext cx="0" cy="4572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0" y="3200400"/>
            <a:ext cx="0" cy="4572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828800" y="3657600"/>
            <a:ext cx="0" cy="4572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0" y="4114800"/>
            <a:ext cx="0" cy="45720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700784" y="2615184"/>
            <a:ext cx="256032" cy="256032"/>
          </a:xfrm>
          <a:prstGeom prst="ellipse">
            <a:avLst/>
          </a:prstGeom>
          <a:solidFill>
            <a:srgbClr val="C837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700784" y="307238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00784" y="352958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00784" y="398678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00784" y="4443984"/>
            <a:ext cx="256032" cy="256032"/>
          </a:xfrm>
          <a:prstGeom prst="ellipse">
            <a:avLst/>
          </a:prstGeom>
          <a:solidFill>
            <a:srgbClr val="1F5F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2606072" y="2767901"/>
            <a:ext cx="44012" cy="450249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590800" y="3218150"/>
            <a:ext cx="15272" cy="43945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90800" y="3657600"/>
            <a:ext cx="15272" cy="439449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06072" y="4097049"/>
            <a:ext cx="44012" cy="450249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522068" y="2639885"/>
            <a:ext cx="256032" cy="256032"/>
          </a:xfrm>
          <a:prstGeom prst="ellipse">
            <a:avLst/>
          </a:prstGeom>
          <a:solidFill>
            <a:srgbClr val="C837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78056" y="309013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462784" y="352958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78056" y="3969033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22068" y="4419282"/>
            <a:ext cx="256032" cy="256032"/>
          </a:xfrm>
          <a:prstGeom prst="ellipse">
            <a:avLst/>
          </a:prstGeom>
          <a:solidFill>
            <a:srgbClr val="1F5F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3236435" y="2951424"/>
            <a:ext cx="93628" cy="31625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200400" y="3267674"/>
            <a:ext cx="36035" cy="38992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200400" y="3657600"/>
            <a:ext cx="36035" cy="38992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236435" y="4047525"/>
            <a:ext cx="93628" cy="316250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202047" y="2823408"/>
            <a:ext cx="256032" cy="256032"/>
          </a:xfrm>
          <a:prstGeom prst="ellipse">
            <a:avLst/>
          </a:prstGeom>
          <a:solidFill>
            <a:srgbClr val="C837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08419" y="3139658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072384" y="352958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08419" y="3919509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202047" y="4235759"/>
            <a:ext cx="256032" cy="256032"/>
          </a:xfrm>
          <a:prstGeom prst="ellipse">
            <a:avLst/>
          </a:prstGeom>
          <a:solidFill>
            <a:srgbClr val="1F5F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H="1">
            <a:off x="4134908" y="3334906"/>
            <a:ext cx="25257" cy="10268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4114800" y="3437594"/>
            <a:ext cx="20108" cy="22000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114800" y="3657600"/>
            <a:ext cx="20108" cy="22000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134908" y="3877605"/>
            <a:ext cx="25257" cy="102688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4032149" y="3206890"/>
            <a:ext cx="256032" cy="256032"/>
          </a:xfrm>
          <a:prstGeom prst="ellipse">
            <a:avLst/>
          </a:prstGeom>
          <a:solidFill>
            <a:srgbClr val="C837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06892" y="3309578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986784" y="352958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006892" y="3749589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032149" y="3852277"/>
            <a:ext cx="256032" cy="256032"/>
          </a:xfrm>
          <a:prstGeom prst="ellipse">
            <a:avLst/>
          </a:prstGeom>
          <a:solidFill>
            <a:srgbClr val="1F5F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4990267" y="3607515"/>
            <a:ext cx="43115" cy="1108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5029199" y="3607515"/>
            <a:ext cx="4183" cy="5008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029199" y="3657600"/>
            <a:ext cx="4183" cy="50084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4990267" y="3596812"/>
            <a:ext cx="43115" cy="110872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4862251" y="3590371"/>
            <a:ext cx="256032" cy="256032"/>
          </a:xfrm>
          <a:prstGeom prst="ellipse">
            <a:avLst/>
          </a:prstGeom>
          <a:solidFill>
            <a:srgbClr val="C837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905366" y="3479499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901183" y="352958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905366" y="3579668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862251" y="3468796"/>
            <a:ext cx="256032" cy="256032"/>
          </a:xfrm>
          <a:prstGeom prst="ellipse">
            <a:avLst/>
          </a:prstGeom>
          <a:solidFill>
            <a:srgbClr val="1F5F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5820369" y="3777435"/>
            <a:ext cx="111486" cy="324433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31855" y="3657600"/>
            <a:ext cx="11744" cy="11983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5931855" y="3537764"/>
            <a:ext cx="11744" cy="11983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5820369" y="3213331"/>
            <a:ext cx="111486" cy="324433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5692353" y="3973852"/>
            <a:ext cx="256032" cy="256032"/>
          </a:xfrm>
          <a:prstGeom prst="ellipse">
            <a:avLst/>
          </a:prstGeom>
          <a:solidFill>
            <a:srgbClr val="C837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803839" y="3649419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815583" y="352958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803839" y="3409748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692353" y="3085315"/>
            <a:ext cx="256032" cy="256032"/>
          </a:xfrm>
          <a:prstGeom prst="ellipse">
            <a:avLst/>
          </a:prstGeom>
          <a:solidFill>
            <a:srgbClr val="1F5F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6650471" y="3947355"/>
            <a:ext cx="179858" cy="53799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30329" y="3657600"/>
            <a:ext cx="27670" cy="28975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6830329" y="3367844"/>
            <a:ext cx="27670" cy="289756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6650471" y="2829849"/>
            <a:ext cx="179858" cy="537995"/>
          </a:xfrm>
          <a:prstGeom prst="line">
            <a:avLst/>
          </a:prstGeom>
          <a:ln w="25400">
            <a:solidFill>
              <a:srgbClr val="1F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6522455" y="4357334"/>
            <a:ext cx="256032" cy="256032"/>
          </a:xfrm>
          <a:prstGeom prst="ellipse">
            <a:avLst/>
          </a:prstGeom>
          <a:solidFill>
            <a:srgbClr val="C837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702313" y="3819339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729983" y="3529584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702313" y="3239828"/>
            <a:ext cx="256032" cy="256032"/>
          </a:xfrm>
          <a:prstGeom prst="ellipse">
            <a:avLst/>
          </a:prstGeom>
          <a:solidFill>
            <a:srgbClr val="B9AE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522455" y="2701833"/>
            <a:ext cx="256032" cy="256032"/>
          </a:xfrm>
          <a:prstGeom prst="ellipse">
            <a:avLst/>
          </a:prstGeom>
          <a:solidFill>
            <a:srgbClr val="1F5F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77240" y="182880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紅色在上面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" y="512064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5FA8"/>
                </a:solidFill>
                <a:latin typeface="微軟正黑體"/>
                <a:ea typeface="微軟正黑體"/>
                <a:cs typeface="微軟正黑體"/>
              </a:rPr>
              <a:t>藍色在下面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0" y="5120640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紅色跑到下面！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0" y="1828800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5FA8"/>
                </a:solidFill>
                <a:latin typeface="微軟正黑體"/>
                <a:ea typeface="微軟正黑體"/>
                <a:cs typeface="微軟正黑體"/>
              </a:rPr>
              <a:t>藍色跑到上面！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14400" y="2743200"/>
            <a:ext cx="1550822" cy="0"/>
          </a:xfrm>
          <a:prstGeom prst="line">
            <a:avLst/>
          </a:prstGeom>
          <a:ln w="38100">
            <a:solidFill>
              <a:srgbClr val="C837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465222" y="2743200"/>
            <a:ext cx="583511" cy="79045"/>
          </a:xfrm>
          <a:prstGeom prst="line">
            <a:avLst/>
          </a:prstGeom>
          <a:ln w="38100">
            <a:solidFill>
              <a:srgbClr val="C837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048733" y="2822245"/>
            <a:ext cx="3601738" cy="1663105"/>
          </a:xfrm>
          <a:prstGeom prst="line">
            <a:avLst/>
          </a:prstGeom>
          <a:ln w="38100">
            <a:solidFill>
              <a:srgbClr val="C837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14400" y="4572000"/>
            <a:ext cx="1550822" cy="0"/>
          </a:xfrm>
          <a:prstGeom prst="line">
            <a:avLst/>
          </a:prstGeom>
          <a:ln w="38100">
            <a:solidFill>
              <a:srgbClr val="1F5F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465222" y="4492954"/>
            <a:ext cx="583511" cy="79046"/>
          </a:xfrm>
          <a:prstGeom prst="line">
            <a:avLst/>
          </a:prstGeom>
          <a:ln w="38100">
            <a:solidFill>
              <a:srgbClr val="1F5F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048733" y="2829849"/>
            <a:ext cx="3601738" cy="1663105"/>
          </a:xfrm>
          <a:prstGeom prst="line">
            <a:avLst/>
          </a:prstGeom>
          <a:ln w="38100">
            <a:solidFill>
              <a:srgbClr val="1F5F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 rot="90000">
            <a:off x="8010144" y="1965960"/>
            <a:ext cx="3611880" cy="32004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 rot="90000">
            <a:off x="7955279" y="1874519"/>
            <a:ext cx="3611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arrow-flip.jpg"/>
          <p:cNvPicPr>
            <a:picLocks noChangeAspect="1"/>
          </p:cNvPicPr>
          <p:nvPr/>
        </p:nvPicPr>
        <p:blipFill>
          <a:blip r:embed="rId3"/>
          <a:srcRect l="14000" t="10000" r="32000" b="5000"/>
          <a:stretch>
            <a:fillRect/>
          </a:stretch>
        </p:blipFill>
        <p:spPr>
          <a:xfrm rot="90000">
            <a:off x="8065007" y="1984248"/>
            <a:ext cx="3392424" cy="2980944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7955279" y="5138928"/>
            <a:ext cx="36118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圓圓的水杯＝中間厚：</a:t>
            </a:r>
          </a:p>
          <a:p>
            <a:pPr algn="ct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後面的箭頭，翻過來了！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2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2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2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2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2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為什麼？第 6 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放大鏡靠近字：為什麼字變大？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眼睛只會「直直往回看」——光被放大鏡折過，眼睛就看到一個比較大的字。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908792" cy="3794760"/>
          </a:xfrm>
          <a:prstGeom prst="rect">
            <a:avLst/>
          </a:prstGeom>
          <a:solidFill>
            <a:srgbClr val="FBF8F2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22960" y="4206240"/>
            <a:ext cx="10515600" cy="0"/>
          </a:xfrm>
          <a:prstGeom prst="line">
            <a:avLst/>
          </a:prstGeom>
          <a:ln w="19050">
            <a:solidFill>
              <a:srgbClr val="B9AE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6240780" y="3017520"/>
            <a:ext cx="685800" cy="2377439"/>
          </a:xfrm>
          <a:custGeom>
            <a:avLst/>
            <a:gdLst/>
            <a:ahLst/>
            <a:cxnLst/>
            <a:rect l="l" t="t" r="r" b="b"/>
            <a:pathLst>
              <a:path w="685800" h="2377439">
                <a:moveTo>
                  <a:pt x="406908" y="0"/>
                </a:moveTo>
                <a:lnTo>
                  <a:pt x="451453" y="99060"/>
                </a:lnTo>
                <a:lnTo>
                  <a:pt x="492125" y="198119"/>
                </a:lnTo>
                <a:lnTo>
                  <a:pt x="528923" y="297179"/>
                </a:lnTo>
                <a:lnTo>
                  <a:pt x="561848" y="396239"/>
                </a:lnTo>
                <a:lnTo>
                  <a:pt x="590899" y="495299"/>
                </a:lnTo>
                <a:lnTo>
                  <a:pt x="616077" y="594359"/>
                </a:lnTo>
                <a:lnTo>
                  <a:pt x="637381" y="693419"/>
                </a:lnTo>
                <a:lnTo>
                  <a:pt x="654812" y="792479"/>
                </a:lnTo>
                <a:lnTo>
                  <a:pt x="668369" y="891539"/>
                </a:lnTo>
                <a:lnTo>
                  <a:pt x="678053" y="990599"/>
                </a:lnTo>
                <a:lnTo>
                  <a:pt x="683863" y="1089659"/>
                </a:lnTo>
                <a:lnTo>
                  <a:pt x="685800" y="1188720"/>
                </a:lnTo>
                <a:lnTo>
                  <a:pt x="683863" y="1287780"/>
                </a:lnTo>
                <a:lnTo>
                  <a:pt x="678053" y="1386840"/>
                </a:lnTo>
                <a:lnTo>
                  <a:pt x="668369" y="1485900"/>
                </a:lnTo>
                <a:lnTo>
                  <a:pt x="654812" y="1584960"/>
                </a:lnTo>
                <a:lnTo>
                  <a:pt x="637381" y="1684020"/>
                </a:lnTo>
                <a:lnTo>
                  <a:pt x="616077" y="1783080"/>
                </a:lnTo>
                <a:lnTo>
                  <a:pt x="590899" y="1882139"/>
                </a:lnTo>
                <a:lnTo>
                  <a:pt x="561848" y="1981200"/>
                </a:lnTo>
                <a:lnTo>
                  <a:pt x="528923" y="2080259"/>
                </a:lnTo>
                <a:lnTo>
                  <a:pt x="492125" y="2179319"/>
                </a:lnTo>
                <a:lnTo>
                  <a:pt x="451453" y="2278379"/>
                </a:lnTo>
                <a:lnTo>
                  <a:pt x="406908" y="2377439"/>
                </a:lnTo>
                <a:lnTo>
                  <a:pt x="278892" y="2377439"/>
                </a:lnTo>
                <a:lnTo>
                  <a:pt x="234346" y="2278379"/>
                </a:lnTo>
                <a:lnTo>
                  <a:pt x="193675" y="2179319"/>
                </a:lnTo>
                <a:lnTo>
                  <a:pt x="156876" y="2080259"/>
                </a:lnTo>
                <a:lnTo>
                  <a:pt x="123952" y="1981200"/>
                </a:lnTo>
                <a:lnTo>
                  <a:pt x="94900" y="1882139"/>
                </a:lnTo>
                <a:lnTo>
                  <a:pt x="69723" y="1783080"/>
                </a:lnTo>
                <a:lnTo>
                  <a:pt x="48418" y="1684020"/>
                </a:lnTo>
                <a:lnTo>
                  <a:pt x="30988" y="1584960"/>
                </a:lnTo>
                <a:lnTo>
                  <a:pt x="17430" y="1485900"/>
                </a:lnTo>
                <a:lnTo>
                  <a:pt x="7747" y="1386840"/>
                </a:lnTo>
                <a:lnTo>
                  <a:pt x="1936" y="1287780"/>
                </a:lnTo>
                <a:lnTo>
                  <a:pt x="0" y="1188720"/>
                </a:lnTo>
                <a:lnTo>
                  <a:pt x="1936" y="1089659"/>
                </a:lnTo>
                <a:lnTo>
                  <a:pt x="7747" y="990599"/>
                </a:lnTo>
                <a:lnTo>
                  <a:pt x="17430" y="891539"/>
                </a:lnTo>
                <a:lnTo>
                  <a:pt x="30988" y="792479"/>
                </a:lnTo>
                <a:lnTo>
                  <a:pt x="48418" y="693419"/>
                </a:lnTo>
                <a:lnTo>
                  <a:pt x="69723" y="594359"/>
                </a:lnTo>
                <a:lnTo>
                  <a:pt x="94900" y="495299"/>
                </a:lnTo>
                <a:lnTo>
                  <a:pt x="123952" y="396239"/>
                </a:lnTo>
                <a:lnTo>
                  <a:pt x="156876" y="297179"/>
                </a:lnTo>
                <a:lnTo>
                  <a:pt x="193675" y="198119"/>
                </a:lnTo>
                <a:lnTo>
                  <a:pt x="234346" y="99060"/>
                </a:lnTo>
                <a:lnTo>
                  <a:pt x="278892" y="0"/>
                </a:lnTo>
                <a:close/>
              </a:path>
            </a:pathLst>
          </a:custGeom>
          <a:solidFill>
            <a:srgbClr val="BFE6F5"/>
          </a:solidFill>
          <a:ln w="38100">
            <a:solidFill>
              <a:srgbClr val="2A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474720"/>
            <a:ext cx="822960" cy="73152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251959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真的字（小）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0" y="3968496"/>
            <a:ext cx="548640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F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22992" y="4114800"/>
            <a:ext cx="182880" cy="18288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4480559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眼睛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74519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9A6A0C"/>
                </a:solidFill>
                <a:latin typeface="微軟正黑體"/>
                <a:ea typeface="微軟正黑體"/>
                <a:cs typeface="微軟正黑體"/>
              </a:rPr>
              <a:t>① 字的光穿過放大鏡，「折一下」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120640" y="3410712"/>
            <a:ext cx="1463040" cy="155447"/>
          </a:xfrm>
          <a:prstGeom prst="line">
            <a:avLst/>
          </a:prstGeom>
          <a:ln w="63500">
            <a:solidFill>
              <a:srgbClr val="D99A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3410712"/>
            <a:ext cx="3474720" cy="795528"/>
          </a:xfrm>
          <a:prstGeom prst="line">
            <a:avLst/>
          </a:prstGeom>
          <a:ln w="63500">
            <a:solidFill>
              <a:srgbClr val="D99A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40880" y="233172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② 眼睛不知道光折過，直直往回看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2779776" y="2542032"/>
            <a:ext cx="3803904" cy="868680"/>
          </a:xfrm>
          <a:prstGeom prst="line">
            <a:avLst/>
          </a:prstGeom>
          <a:ln w="44450">
            <a:solidFill>
              <a:srgbClr val="C8372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1874519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③ 看到的字：又大、又遠！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1095" y="2240279"/>
            <a:ext cx="1737360" cy="19659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0" b="1">
                <a:solidFill>
                  <a:srgbClr val="E7A39D"/>
                </a:solidFill>
                <a:latin typeface="微軟正黑體"/>
                <a:ea typeface="微軟正黑體"/>
                <a:cs typeface="微軟正黑體"/>
              </a:rPr>
              <a:t>光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18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為什麼？一次記起來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三句話，說出透鏡的祕密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9601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03120"/>
            <a:ext cx="512064" cy="51206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74519"/>
            <a:ext cx="640080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🏖️  光走進玻璃、水，會變慢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292608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20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像走進沙灘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0515600" cy="9601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3246120"/>
            <a:ext cx="512064" cy="512064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17520"/>
            <a:ext cx="640080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↗️  先碰到的先慢 → 光「折一下」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017520"/>
            <a:ext cx="292608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20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整排換方向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06240"/>
            <a:ext cx="516636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C83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389120"/>
            <a:ext cx="512064" cy="512064"/>
          </a:xfrm>
          <a:prstGeom prst="ellipse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6" name="Freeform 15"/>
          <p:cNvSpPr/>
          <p:nvPr/>
        </p:nvSpPr>
        <p:spPr>
          <a:xfrm>
            <a:off x="1485900" y="4754880"/>
            <a:ext cx="685800" cy="1371600"/>
          </a:xfrm>
          <a:custGeom>
            <a:avLst/>
            <a:gdLst/>
            <a:ahLst/>
            <a:cxnLst/>
            <a:rect l="l" t="t" r="r" b="b"/>
            <a:pathLst>
              <a:path w="685800" h="1371600">
                <a:moveTo>
                  <a:pt x="406907" y="0"/>
                </a:moveTo>
                <a:lnTo>
                  <a:pt x="451453" y="57150"/>
                </a:lnTo>
                <a:lnTo>
                  <a:pt x="492125" y="114300"/>
                </a:lnTo>
                <a:lnTo>
                  <a:pt x="528923" y="171450"/>
                </a:lnTo>
                <a:lnTo>
                  <a:pt x="561848" y="228600"/>
                </a:lnTo>
                <a:lnTo>
                  <a:pt x="590899" y="285750"/>
                </a:lnTo>
                <a:lnTo>
                  <a:pt x="616077" y="342900"/>
                </a:lnTo>
                <a:lnTo>
                  <a:pt x="637381" y="400050"/>
                </a:lnTo>
                <a:lnTo>
                  <a:pt x="654812" y="457200"/>
                </a:lnTo>
                <a:lnTo>
                  <a:pt x="668369" y="514350"/>
                </a:lnTo>
                <a:lnTo>
                  <a:pt x="678053" y="571500"/>
                </a:lnTo>
                <a:lnTo>
                  <a:pt x="683863" y="628650"/>
                </a:lnTo>
                <a:lnTo>
                  <a:pt x="685800" y="685800"/>
                </a:lnTo>
                <a:lnTo>
                  <a:pt x="683863" y="742950"/>
                </a:lnTo>
                <a:lnTo>
                  <a:pt x="678053" y="800100"/>
                </a:lnTo>
                <a:lnTo>
                  <a:pt x="668369" y="857250"/>
                </a:lnTo>
                <a:lnTo>
                  <a:pt x="654812" y="914400"/>
                </a:lnTo>
                <a:lnTo>
                  <a:pt x="637381" y="971550"/>
                </a:lnTo>
                <a:lnTo>
                  <a:pt x="616077" y="1028700"/>
                </a:lnTo>
                <a:lnTo>
                  <a:pt x="590899" y="1085850"/>
                </a:lnTo>
                <a:lnTo>
                  <a:pt x="561848" y="1143000"/>
                </a:lnTo>
                <a:lnTo>
                  <a:pt x="528923" y="1200150"/>
                </a:lnTo>
                <a:lnTo>
                  <a:pt x="492125" y="1257300"/>
                </a:lnTo>
                <a:lnTo>
                  <a:pt x="451453" y="1314450"/>
                </a:lnTo>
                <a:lnTo>
                  <a:pt x="406907" y="1371600"/>
                </a:lnTo>
                <a:lnTo>
                  <a:pt x="278892" y="1371600"/>
                </a:lnTo>
                <a:lnTo>
                  <a:pt x="234346" y="1314450"/>
                </a:lnTo>
                <a:lnTo>
                  <a:pt x="193675" y="1257300"/>
                </a:lnTo>
                <a:lnTo>
                  <a:pt x="156876" y="1200150"/>
                </a:lnTo>
                <a:lnTo>
                  <a:pt x="123952" y="1143000"/>
                </a:lnTo>
                <a:lnTo>
                  <a:pt x="94900" y="1085850"/>
                </a:lnTo>
                <a:lnTo>
                  <a:pt x="69723" y="1028700"/>
                </a:lnTo>
                <a:lnTo>
                  <a:pt x="48418" y="971550"/>
                </a:lnTo>
                <a:lnTo>
                  <a:pt x="30988" y="914400"/>
                </a:lnTo>
                <a:lnTo>
                  <a:pt x="17430" y="857250"/>
                </a:lnTo>
                <a:lnTo>
                  <a:pt x="7747" y="800100"/>
                </a:lnTo>
                <a:lnTo>
                  <a:pt x="1936" y="742950"/>
                </a:lnTo>
                <a:lnTo>
                  <a:pt x="0" y="685800"/>
                </a:lnTo>
                <a:lnTo>
                  <a:pt x="1936" y="628650"/>
                </a:lnTo>
                <a:lnTo>
                  <a:pt x="7747" y="571500"/>
                </a:lnTo>
                <a:lnTo>
                  <a:pt x="17430" y="514350"/>
                </a:lnTo>
                <a:lnTo>
                  <a:pt x="30988" y="457200"/>
                </a:lnTo>
                <a:lnTo>
                  <a:pt x="48418" y="400050"/>
                </a:lnTo>
                <a:lnTo>
                  <a:pt x="69723" y="342900"/>
                </a:lnTo>
                <a:lnTo>
                  <a:pt x="94900" y="285750"/>
                </a:lnTo>
                <a:lnTo>
                  <a:pt x="123952" y="228600"/>
                </a:lnTo>
                <a:lnTo>
                  <a:pt x="156876" y="171450"/>
                </a:lnTo>
                <a:lnTo>
                  <a:pt x="193675" y="114300"/>
                </a:lnTo>
                <a:lnTo>
                  <a:pt x="234346" y="57150"/>
                </a:lnTo>
                <a:lnTo>
                  <a:pt x="278892" y="0"/>
                </a:lnTo>
                <a:close/>
              </a:path>
            </a:pathLst>
          </a:custGeom>
          <a:solidFill>
            <a:srgbClr val="BFE6F5"/>
          </a:solidFill>
          <a:ln w="38100">
            <a:solidFill>
              <a:srgbClr val="2A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4343400"/>
            <a:ext cx="33832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中間厚 → 光聚起來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937760"/>
            <a:ext cx="33832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凸透鏡：放大鏡、老花眼鏡</a:t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字變大、拿遠會倒過來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206240"/>
            <a:ext cx="516636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4389120"/>
            <a:ext cx="512064" cy="51206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21" name="Freeform 20"/>
          <p:cNvSpPr/>
          <p:nvPr/>
        </p:nvSpPr>
        <p:spPr>
          <a:xfrm>
            <a:off x="6894576" y="4754880"/>
            <a:ext cx="566928" cy="1371600"/>
          </a:xfrm>
          <a:custGeom>
            <a:avLst/>
            <a:gdLst/>
            <a:ahLst/>
            <a:cxnLst/>
            <a:rect l="l" t="t" r="r" b="b"/>
            <a:pathLst>
              <a:path w="566928" h="1371600">
                <a:moveTo>
                  <a:pt x="566928" y="0"/>
                </a:moveTo>
                <a:lnTo>
                  <a:pt x="533336" y="57150"/>
                </a:lnTo>
                <a:lnTo>
                  <a:pt x="502665" y="114300"/>
                </a:lnTo>
                <a:lnTo>
                  <a:pt x="474916" y="171450"/>
                </a:lnTo>
                <a:lnTo>
                  <a:pt x="450088" y="228600"/>
                </a:lnTo>
                <a:lnTo>
                  <a:pt x="428180" y="285750"/>
                </a:lnTo>
                <a:lnTo>
                  <a:pt x="409194" y="342900"/>
                </a:lnTo>
                <a:lnTo>
                  <a:pt x="393128" y="400050"/>
                </a:lnTo>
                <a:lnTo>
                  <a:pt x="379983" y="457200"/>
                </a:lnTo>
                <a:lnTo>
                  <a:pt x="369760" y="514350"/>
                </a:lnTo>
                <a:lnTo>
                  <a:pt x="362458" y="571500"/>
                </a:lnTo>
                <a:lnTo>
                  <a:pt x="358076" y="628650"/>
                </a:lnTo>
                <a:lnTo>
                  <a:pt x="356616" y="685800"/>
                </a:lnTo>
                <a:lnTo>
                  <a:pt x="358076" y="742950"/>
                </a:lnTo>
                <a:lnTo>
                  <a:pt x="362458" y="800100"/>
                </a:lnTo>
                <a:lnTo>
                  <a:pt x="369760" y="857250"/>
                </a:lnTo>
                <a:lnTo>
                  <a:pt x="379983" y="914400"/>
                </a:lnTo>
                <a:lnTo>
                  <a:pt x="393128" y="971550"/>
                </a:lnTo>
                <a:lnTo>
                  <a:pt x="409194" y="1028700"/>
                </a:lnTo>
                <a:lnTo>
                  <a:pt x="428180" y="1085850"/>
                </a:lnTo>
                <a:lnTo>
                  <a:pt x="450088" y="1143000"/>
                </a:lnTo>
                <a:lnTo>
                  <a:pt x="474916" y="1200150"/>
                </a:lnTo>
                <a:lnTo>
                  <a:pt x="502665" y="1257300"/>
                </a:lnTo>
                <a:lnTo>
                  <a:pt x="533336" y="1314450"/>
                </a:lnTo>
                <a:lnTo>
                  <a:pt x="566928" y="1371600"/>
                </a:lnTo>
                <a:lnTo>
                  <a:pt x="0" y="1371600"/>
                </a:lnTo>
                <a:lnTo>
                  <a:pt x="33591" y="1314450"/>
                </a:lnTo>
                <a:lnTo>
                  <a:pt x="64261" y="1257300"/>
                </a:lnTo>
                <a:lnTo>
                  <a:pt x="92011" y="1200150"/>
                </a:lnTo>
                <a:lnTo>
                  <a:pt x="116840" y="1143000"/>
                </a:lnTo>
                <a:lnTo>
                  <a:pt x="138747" y="1085850"/>
                </a:lnTo>
                <a:lnTo>
                  <a:pt x="157733" y="1028700"/>
                </a:lnTo>
                <a:lnTo>
                  <a:pt x="173799" y="971550"/>
                </a:lnTo>
                <a:lnTo>
                  <a:pt x="186944" y="914400"/>
                </a:lnTo>
                <a:lnTo>
                  <a:pt x="197167" y="857250"/>
                </a:lnTo>
                <a:lnTo>
                  <a:pt x="204469" y="800100"/>
                </a:lnTo>
                <a:lnTo>
                  <a:pt x="208851" y="742950"/>
                </a:lnTo>
                <a:lnTo>
                  <a:pt x="210312" y="685800"/>
                </a:lnTo>
                <a:lnTo>
                  <a:pt x="208851" y="628650"/>
                </a:lnTo>
                <a:lnTo>
                  <a:pt x="204469" y="571500"/>
                </a:lnTo>
                <a:lnTo>
                  <a:pt x="197167" y="514350"/>
                </a:lnTo>
                <a:lnTo>
                  <a:pt x="186944" y="457200"/>
                </a:lnTo>
                <a:lnTo>
                  <a:pt x="173799" y="400050"/>
                </a:lnTo>
                <a:lnTo>
                  <a:pt x="157733" y="342900"/>
                </a:lnTo>
                <a:lnTo>
                  <a:pt x="138747" y="285750"/>
                </a:lnTo>
                <a:lnTo>
                  <a:pt x="116840" y="228600"/>
                </a:lnTo>
                <a:lnTo>
                  <a:pt x="92011" y="171450"/>
                </a:lnTo>
                <a:lnTo>
                  <a:pt x="64261" y="114300"/>
                </a:lnTo>
                <a:lnTo>
                  <a:pt x="33591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BFE6F5"/>
          </a:solidFill>
          <a:ln w="38100">
            <a:solidFill>
              <a:srgbClr val="2A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343400"/>
            <a:ext cx="33832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5FA8"/>
                </a:solidFill>
                <a:latin typeface="微軟正黑體"/>
                <a:ea typeface="微軟正黑體"/>
                <a:cs typeface="微軟正黑體"/>
              </a:rPr>
              <a:t>中間薄 → 光散開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937760"/>
            <a:ext cx="33832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凹透鏡：近視眼鏡、貓眼</a:t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字變小、看得更廣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比一比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凸透鏡 vs 凹透鏡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51760"/>
            <a:ext cx="11338559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1828800" cy="9509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形狀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75887"/>
            <a:ext cx="11338559" cy="950976"/>
          </a:xfrm>
          <a:prstGeom prst="rect">
            <a:avLst/>
          </a:prstGeom>
          <a:solidFill>
            <a:srgbClr val="FBF8F2"/>
          </a:solidFill>
          <a:ln w="1270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675887"/>
            <a:ext cx="1828800" cy="9509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字看起來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00016"/>
            <a:ext cx="11338559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700016"/>
            <a:ext cx="1828800" cy="9509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24144"/>
            <a:ext cx="11338559" cy="950976"/>
          </a:xfrm>
          <a:prstGeom prst="rect">
            <a:avLst/>
          </a:prstGeom>
          <a:solidFill>
            <a:srgbClr val="FBF8F2"/>
          </a:solidFill>
          <a:ln w="1270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5724144"/>
            <a:ext cx="1828800" cy="9509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生活例子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920240"/>
            <a:ext cx="4206240" cy="594360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凸透鏡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651760"/>
            <a:ext cx="4206240" cy="9509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中間厚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675887"/>
            <a:ext cx="4206240" cy="9509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變大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700016"/>
            <a:ext cx="4206240" cy="9509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聚在一起（焦點）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5724144"/>
            <a:ext cx="4206240" cy="9509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放大鏡、老花眼鏡、相機、水滴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920240"/>
            <a:ext cx="4206240" cy="594360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凹透鏡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651760"/>
            <a:ext cx="4206240" cy="9509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中間薄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675887"/>
            <a:ext cx="4206240" cy="9509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5FA8"/>
                </a:solidFill>
                <a:latin typeface="微軟正黑體"/>
                <a:ea typeface="微軟正黑體"/>
                <a:cs typeface="微軟正黑體"/>
              </a:rPr>
              <a:t>變小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700016"/>
            <a:ext cx="4206240" cy="9509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散開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5724144"/>
            <a:ext cx="4206240" cy="95097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近視眼鏡、門上的貓眼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動手玩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透鏡實驗室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5212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一站一站玩：投影魔術、放大鏡、眼鏡、相機……每一站都在讓光換方向。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658368" y="3840480"/>
            <a:ext cx="3657600" cy="73152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▶  打開實驗室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051560"/>
            <a:ext cx="5715000" cy="4114800"/>
          </a:xfrm>
          <a:prstGeom prst="roundRect">
            <a:avLst>
              <a:gd name="adj" fmla="val 6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_le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34440"/>
            <a:ext cx="5349240" cy="30089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5166360"/>
            <a:ext cx="685800" cy="91440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5230368"/>
            <a:ext cx="1783080" cy="109728"/>
          </a:xfrm>
          <a:prstGeom prst="roundRect">
            <a:avLst>
              <a:gd name="adj" fmla="val 50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寫寫看</a:t>
            </a:r>
          </a:p>
        </p:txBody>
      </p:sp>
      <p:sp>
        <p:nvSpPr>
          <p:cNvPr id="5" name="Rectangle 4"/>
          <p:cNvSpPr/>
          <p:nvPr/>
        </p:nvSpPr>
        <p:spPr>
          <a:xfrm rot="21450000">
            <a:off x="877824" y="914400"/>
            <a:ext cx="4206240" cy="576072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50000">
            <a:off x="822960" y="822960"/>
            <a:ext cx="4206240" cy="5760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_lens.png"/>
          <p:cNvPicPr>
            <a:picLocks noChangeAspect="1"/>
          </p:cNvPicPr>
          <p:nvPr/>
        </p:nvPicPr>
        <p:blipFill>
          <a:blip r:embed="rId3"/>
          <a:srcRect t="3000" b="28000"/>
          <a:stretch>
            <a:fillRect/>
          </a:stretch>
        </p:blipFill>
        <p:spPr>
          <a:xfrm rot="21450000">
            <a:off x="896112" y="896112"/>
            <a:ext cx="4059935" cy="56144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868680"/>
            <a:ext cx="5943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學習單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9008" y="1691640"/>
            <a:ext cx="5852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選一個你可以完成的程度：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514600"/>
            <a:ext cx="5852160" cy="7498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514600"/>
            <a:ext cx="173736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🔵 基礎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514600"/>
            <a:ext cx="393192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看照片，在 ☐ 打勾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429000"/>
            <a:ext cx="5852160" cy="7498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3429000"/>
            <a:ext cx="173736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🟠 進階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429000"/>
            <a:ext cx="393192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勾答案，再勾「因為」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343400"/>
            <a:ext cx="5852160" cy="7498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43400"/>
            <a:ext cx="173736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⭐ 挑戰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343400"/>
            <a:ext cx="393192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說出一個生活裡的透鏡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5760720" y="5577840"/>
            <a:ext cx="2926080" cy="68580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📄  打開學習單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小結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說說看：今天學到什麼？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中間厚的叫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0752" y="3218688"/>
            <a:ext cx="213969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37744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凸透鏡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377440"/>
            <a:ext cx="192023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，字變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62672" y="3218688"/>
            <a:ext cx="186537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37744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377440"/>
            <a:ext cx="82295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1371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光會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84832" y="4544568"/>
            <a:ext cx="2688335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3703320"/>
            <a:ext cx="283463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聚在一起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703320"/>
            <a:ext cx="82295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中間薄的叫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30752" y="5870448"/>
            <a:ext cx="213969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502920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凹透鏡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029200"/>
            <a:ext cx="192023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，字變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62672" y="5870448"/>
            <a:ext cx="186537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502920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029200"/>
            <a:ext cx="82295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5" grpId="0" animBg="1"/>
      <p:bldP spid="19" grpId="0" animBg="1"/>
      <p:bldP spid="22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4" name="TextBox 3">
            <a:hlinkClick action="ppaction://hlinksldjump" r:id="rId3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今天的透鏡偵探，好厲害！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>
                <a:solidFill>
                  <a:srgbClr val="FFE9A8"/>
                </a:solidFill>
                <a:latin typeface="微軟正黑體"/>
                <a:ea typeface="微軟正黑體"/>
                <a:cs typeface="微軟正黑體"/>
              </a:rPr>
              <a:t>下一次：自己動手，用透鏡做出更多魔術。</a:t>
            </a:r>
          </a:p>
        </p:txBody>
      </p:sp>
      <p:sp>
        <p:nvSpPr>
          <p:cNvPr id="8" name="Rounded Rectangle 7">
            <a:hlinkClick r:id="rId4"/>
          </p:cNvPr>
          <p:cNvSpPr/>
          <p:nvPr/>
        </p:nvSpPr>
        <p:spPr>
          <a:xfrm>
            <a:off x="777240" y="4389120"/>
            <a:ext cx="3291840" cy="731520"/>
          </a:xfrm>
          <a:prstGeom prst="roundRect">
            <a:avLst>
              <a:gd name="adj" fmla="val 30000"/>
            </a:avLst>
          </a:prstGeom>
          <a:solidFill>
            <a:srgbClr val="FFE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🌙  謝幕打卡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8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