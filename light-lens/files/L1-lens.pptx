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lasstools1020.github.io/games/checkin.html" TargetMode="Externa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hyperlink" Target="https://classtools1020.github.io/light-town/#lens" TargetMode="External"/><Relationship Id="rId6" Type="http://schemas.openxmlformats.org/officeDocument/2006/relationships/hyperlink" Target="https://classtools1020.github.io/light-lens/lab.html#lesson" TargetMode="External"/><Relationship Id="rId7" Type="http://schemas.openxmlformats.org/officeDocument/2006/relationships/hyperlink" Target="https://classtools1020.github.io/light-lens/worksheet.html" TargetMode="External"/><Relationship Id="rId8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town/#lens" TargetMode="External"/><Relationship Id="rId4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image" Target="../media/image14.png"/><Relationship Id="rId4" Type="http://schemas.openxmlformats.org/officeDocument/2006/relationships/hyperlink" Target="https://classtools1020.github.io/light-lens/worksheet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slide" Target="slide2.xml"/><Relationship Id="rId4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任務五・透鏡｜第 1 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76072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只會把東西變大嗎？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375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今天的目標：分出「中間厚」和「中間薄」的鏡片，說出它們讓光怎麼走。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甲班｜10/12（一）第 7 節</a:t>
            </a:r>
          </a:p>
        </p:txBody>
      </p:sp>
      <p:sp>
        <p:nvSpPr>
          <p:cNvPr id="7" name="Rectangle 6"/>
          <p:cNvSpPr/>
          <p:nvPr/>
        </p:nvSpPr>
        <p:spPr>
          <a:xfrm rot="120000">
            <a:off x="6729983" y="914400"/>
            <a:ext cx="4937760" cy="521208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20000">
            <a:off x="6675120" y="822960"/>
            <a:ext cx="4937760" cy="5212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jection.jpg"/>
          <p:cNvPicPr>
            <a:picLocks noChangeAspect="1"/>
          </p:cNvPicPr>
          <p:nvPr/>
        </p:nvPicPr>
        <p:blipFill>
          <a:blip r:embed="rId2"/>
          <a:srcRect l="23626" r="23626"/>
          <a:stretch>
            <a:fillRect/>
          </a:stretch>
        </p:blipFill>
        <p:spPr>
          <a:xfrm rot="120000">
            <a:off x="6784848" y="932688"/>
            <a:ext cx="4718304" cy="49926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今天的流程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跟著光光偵探，一站一站來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40080" y="1874519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🧘  心情打卡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40080" y="2971800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17296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71800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🪄  投影魔術（先猜）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0080" y="4069079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270247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69079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🔍  鏡片長什麼樣子？</a:t>
            </a:r>
          </a:p>
        </p:txBody>
      </p:sp>
      <p:sp>
        <p:nvSpPr>
          <p:cNvPr id="14" name="Rounded Rectangle 13">
            <a:hlinkClick r:id="rId5"/>
          </p:cNvPr>
          <p:cNvSpPr/>
          <p:nvPr/>
        </p:nvSpPr>
        <p:spPr>
          <a:xfrm>
            <a:off x="640080" y="5166359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367527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166359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🏙️  光線小鎮・透鏡任務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6309360" y="1874519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07568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74519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🧪  透鏡實驗室</a:t>
            </a:r>
          </a:p>
        </p:txBody>
      </p:sp>
      <p:sp>
        <p:nvSpPr>
          <p:cNvPr id="20" name="Rounded Rectangle 19">
            <a:hlinkClick r:id="rId7"/>
          </p:cNvPr>
          <p:cNvSpPr/>
          <p:nvPr/>
        </p:nvSpPr>
        <p:spPr>
          <a:xfrm>
            <a:off x="6309360" y="2971800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172968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71800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📝  學習單</a:t>
            </a:r>
          </a:p>
        </p:txBody>
      </p:sp>
      <p:sp>
        <p:nvSpPr>
          <p:cNvPr id="23" name="Rounded Rectangle 22">
            <a:hlinkClick r:id="rId8"/>
          </p:cNvPr>
          <p:cNvSpPr/>
          <p:nvPr/>
        </p:nvSpPr>
        <p:spPr>
          <a:xfrm>
            <a:off x="6309360" y="4069079"/>
            <a:ext cx="539496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4270247"/>
            <a:ext cx="512064" cy="512064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69079"/>
            <a:ext cx="4389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點任何一列可以直接跳過去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j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開場：投影魔術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74920"/>
            <a:ext cx="12191695" cy="7772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老師用一支放大鏡，把窗外的景色「搬」到白紙上！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9436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白紙上的景色是——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6108192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　正的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6108192"/>
            <a:ext cx="2560320" cy="566928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　倒過來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6400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ln w="38100">
                  <a:solidFill>
                    <a:srgbClr val="000000"/>
                  </a:solidFill>
                </a:ln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🤫 答案藏在光線小鎮第 2 站！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認識鏡片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鏡片長什麼樣子？從旁邊看！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94660" y="2331720"/>
            <a:ext cx="685800" cy="2560320"/>
          </a:xfrm>
          <a:custGeom>
            <a:avLst/>
            <a:gdLst/>
            <a:ahLst/>
            <a:cxnLst/>
            <a:rect l="l" t="t" r="r" b="b"/>
            <a:pathLst>
              <a:path w="685800" h="2560320">
                <a:moveTo>
                  <a:pt x="406908" y="0"/>
                </a:moveTo>
                <a:lnTo>
                  <a:pt x="451453" y="106680"/>
                </a:lnTo>
                <a:lnTo>
                  <a:pt x="492124" y="213360"/>
                </a:lnTo>
                <a:lnTo>
                  <a:pt x="528923" y="320040"/>
                </a:lnTo>
                <a:lnTo>
                  <a:pt x="561848" y="426720"/>
                </a:lnTo>
                <a:lnTo>
                  <a:pt x="590899" y="533400"/>
                </a:lnTo>
                <a:lnTo>
                  <a:pt x="616077" y="640080"/>
                </a:lnTo>
                <a:lnTo>
                  <a:pt x="637381" y="746760"/>
                </a:lnTo>
                <a:lnTo>
                  <a:pt x="654812" y="853440"/>
                </a:lnTo>
                <a:lnTo>
                  <a:pt x="668369" y="960120"/>
                </a:lnTo>
                <a:lnTo>
                  <a:pt x="678053" y="1066800"/>
                </a:lnTo>
                <a:lnTo>
                  <a:pt x="683863" y="1173480"/>
                </a:lnTo>
                <a:lnTo>
                  <a:pt x="685800" y="1280160"/>
                </a:lnTo>
                <a:lnTo>
                  <a:pt x="683863" y="1386840"/>
                </a:lnTo>
                <a:lnTo>
                  <a:pt x="678053" y="1493520"/>
                </a:lnTo>
                <a:lnTo>
                  <a:pt x="668369" y="1600200"/>
                </a:lnTo>
                <a:lnTo>
                  <a:pt x="654812" y="1706880"/>
                </a:lnTo>
                <a:lnTo>
                  <a:pt x="637381" y="1813560"/>
                </a:lnTo>
                <a:lnTo>
                  <a:pt x="616077" y="1920240"/>
                </a:lnTo>
                <a:lnTo>
                  <a:pt x="590899" y="2026920"/>
                </a:lnTo>
                <a:lnTo>
                  <a:pt x="561848" y="2133600"/>
                </a:lnTo>
                <a:lnTo>
                  <a:pt x="528923" y="2240280"/>
                </a:lnTo>
                <a:lnTo>
                  <a:pt x="492125" y="2346960"/>
                </a:lnTo>
                <a:lnTo>
                  <a:pt x="451453" y="2453640"/>
                </a:lnTo>
                <a:lnTo>
                  <a:pt x="406908" y="2560320"/>
                </a:lnTo>
                <a:lnTo>
                  <a:pt x="278892" y="2560320"/>
                </a:lnTo>
                <a:lnTo>
                  <a:pt x="234346" y="2453640"/>
                </a:lnTo>
                <a:lnTo>
                  <a:pt x="193674" y="2346960"/>
                </a:lnTo>
                <a:lnTo>
                  <a:pt x="156876" y="2240280"/>
                </a:lnTo>
                <a:lnTo>
                  <a:pt x="123952" y="2133600"/>
                </a:lnTo>
                <a:lnTo>
                  <a:pt x="94900" y="2026920"/>
                </a:lnTo>
                <a:lnTo>
                  <a:pt x="69723" y="1920240"/>
                </a:lnTo>
                <a:lnTo>
                  <a:pt x="48418" y="1813560"/>
                </a:lnTo>
                <a:lnTo>
                  <a:pt x="30988" y="1706880"/>
                </a:lnTo>
                <a:lnTo>
                  <a:pt x="17430" y="1600200"/>
                </a:lnTo>
                <a:lnTo>
                  <a:pt x="7747" y="1493520"/>
                </a:lnTo>
                <a:lnTo>
                  <a:pt x="1936" y="1386840"/>
                </a:lnTo>
                <a:lnTo>
                  <a:pt x="0" y="1280160"/>
                </a:lnTo>
                <a:lnTo>
                  <a:pt x="1936" y="1173480"/>
                </a:lnTo>
                <a:lnTo>
                  <a:pt x="7747" y="1066800"/>
                </a:lnTo>
                <a:lnTo>
                  <a:pt x="17430" y="960120"/>
                </a:lnTo>
                <a:lnTo>
                  <a:pt x="30988" y="853440"/>
                </a:lnTo>
                <a:lnTo>
                  <a:pt x="48418" y="746760"/>
                </a:lnTo>
                <a:lnTo>
                  <a:pt x="69723" y="640080"/>
                </a:lnTo>
                <a:lnTo>
                  <a:pt x="94900" y="533400"/>
                </a:lnTo>
                <a:lnTo>
                  <a:pt x="123952" y="426720"/>
                </a:lnTo>
                <a:lnTo>
                  <a:pt x="156876" y="320040"/>
                </a:lnTo>
                <a:lnTo>
                  <a:pt x="193675" y="213360"/>
                </a:lnTo>
                <a:lnTo>
                  <a:pt x="234346" y="10668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20240"/>
            <a:ext cx="48463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40496" y="2331720"/>
            <a:ext cx="566928" cy="2560320"/>
          </a:xfrm>
          <a:custGeom>
            <a:avLst/>
            <a:gdLst/>
            <a:ahLst/>
            <a:cxnLst/>
            <a:rect l="l" t="t" r="r" b="b"/>
            <a:pathLst>
              <a:path w="566928" h="2560320">
                <a:moveTo>
                  <a:pt x="566928" y="0"/>
                </a:moveTo>
                <a:lnTo>
                  <a:pt x="533336" y="106680"/>
                </a:lnTo>
                <a:lnTo>
                  <a:pt x="502666" y="213360"/>
                </a:lnTo>
                <a:lnTo>
                  <a:pt x="474916" y="320040"/>
                </a:lnTo>
                <a:lnTo>
                  <a:pt x="450088" y="426720"/>
                </a:lnTo>
                <a:lnTo>
                  <a:pt x="428180" y="533400"/>
                </a:lnTo>
                <a:lnTo>
                  <a:pt x="409194" y="640080"/>
                </a:lnTo>
                <a:lnTo>
                  <a:pt x="393128" y="746760"/>
                </a:lnTo>
                <a:lnTo>
                  <a:pt x="379984" y="853440"/>
                </a:lnTo>
                <a:lnTo>
                  <a:pt x="369760" y="960120"/>
                </a:lnTo>
                <a:lnTo>
                  <a:pt x="362458" y="1066800"/>
                </a:lnTo>
                <a:lnTo>
                  <a:pt x="358076" y="1173480"/>
                </a:lnTo>
                <a:lnTo>
                  <a:pt x="356616" y="1280160"/>
                </a:lnTo>
                <a:lnTo>
                  <a:pt x="358076" y="1386840"/>
                </a:lnTo>
                <a:lnTo>
                  <a:pt x="362458" y="1493520"/>
                </a:lnTo>
                <a:lnTo>
                  <a:pt x="369760" y="1600200"/>
                </a:lnTo>
                <a:lnTo>
                  <a:pt x="379984" y="1706880"/>
                </a:lnTo>
                <a:lnTo>
                  <a:pt x="393128" y="1813560"/>
                </a:lnTo>
                <a:lnTo>
                  <a:pt x="409194" y="1920240"/>
                </a:lnTo>
                <a:lnTo>
                  <a:pt x="428180" y="2026920"/>
                </a:lnTo>
                <a:lnTo>
                  <a:pt x="450088" y="2133600"/>
                </a:lnTo>
                <a:lnTo>
                  <a:pt x="474916" y="2240280"/>
                </a:lnTo>
                <a:lnTo>
                  <a:pt x="502666" y="2346960"/>
                </a:lnTo>
                <a:lnTo>
                  <a:pt x="533336" y="2453640"/>
                </a:lnTo>
                <a:lnTo>
                  <a:pt x="566928" y="2560320"/>
                </a:lnTo>
                <a:lnTo>
                  <a:pt x="0" y="2560320"/>
                </a:lnTo>
                <a:lnTo>
                  <a:pt x="33591" y="2453640"/>
                </a:lnTo>
                <a:lnTo>
                  <a:pt x="64262" y="2346960"/>
                </a:lnTo>
                <a:lnTo>
                  <a:pt x="92011" y="2240280"/>
                </a:lnTo>
                <a:lnTo>
                  <a:pt x="116840" y="2133600"/>
                </a:lnTo>
                <a:lnTo>
                  <a:pt x="138747" y="2026920"/>
                </a:lnTo>
                <a:lnTo>
                  <a:pt x="157734" y="1920240"/>
                </a:lnTo>
                <a:lnTo>
                  <a:pt x="173799" y="1813560"/>
                </a:lnTo>
                <a:lnTo>
                  <a:pt x="186944" y="1706880"/>
                </a:lnTo>
                <a:lnTo>
                  <a:pt x="197167" y="1600200"/>
                </a:lnTo>
                <a:lnTo>
                  <a:pt x="204470" y="1493520"/>
                </a:lnTo>
                <a:lnTo>
                  <a:pt x="208851" y="1386840"/>
                </a:lnTo>
                <a:lnTo>
                  <a:pt x="210312" y="1280160"/>
                </a:lnTo>
                <a:lnTo>
                  <a:pt x="208851" y="1173480"/>
                </a:lnTo>
                <a:lnTo>
                  <a:pt x="204470" y="1066800"/>
                </a:lnTo>
                <a:lnTo>
                  <a:pt x="197167" y="960120"/>
                </a:lnTo>
                <a:lnTo>
                  <a:pt x="186944" y="853440"/>
                </a:lnTo>
                <a:lnTo>
                  <a:pt x="173799" y="746760"/>
                </a:lnTo>
                <a:lnTo>
                  <a:pt x="157734" y="640080"/>
                </a:lnTo>
                <a:lnTo>
                  <a:pt x="138747" y="533400"/>
                </a:lnTo>
                <a:lnTo>
                  <a:pt x="116840" y="426720"/>
                </a:lnTo>
                <a:lnTo>
                  <a:pt x="92011" y="320040"/>
                </a:lnTo>
                <a:lnTo>
                  <a:pt x="64262" y="213360"/>
                </a:lnTo>
                <a:lnTo>
                  <a:pt x="33591" y="10668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749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897880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找找看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生活裡的鏡片：中間厚？還是中間薄？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ifier.jpg"/>
          <p:cNvPicPr>
            <a:picLocks noChangeAspect="1"/>
          </p:cNvPicPr>
          <p:nvPr/>
        </p:nvPicPr>
        <p:blipFill>
          <a:blip r:embed="rId3"/>
          <a:srcRect t="3484" b="3484"/>
          <a:stretch>
            <a:fillRect/>
          </a:stretch>
        </p:blipFill>
        <p:spPr>
          <a:xfrm>
            <a:off x="713231" y="1901952"/>
            <a:ext cx="3328415" cy="1728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lasses.jpg"/>
          <p:cNvPicPr>
            <a:picLocks noChangeAspect="1"/>
          </p:cNvPicPr>
          <p:nvPr/>
        </p:nvPicPr>
        <p:blipFill>
          <a:blip r:embed="rId4"/>
          <a:srcRect t="3486" b="3486"/>
          <a:stretch>
            <a:fillRect/>
          </a:stretch>
        </p:blipFill>
        <p:spPr>
          <a:xfrm>
            <a:off x="4416552" y="1901952"/>
            <a:ext cx="3328415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43400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37307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老花厚・近視薄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192024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82880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mera.jpg"/>
          <p:cNvPicPr>
            <a:picLocks noChangeAspect="1"/>
          </p:cNvPicPr>
          <p:nvPr/>
        </p:nvPicPr>
        <p:blipFill>
          <a:blip r:embed="rId5"/>
          <a:srcRect t="3486" b="3486"/>
          <a:stretch>
            <a:fillRect/>
          </a:stretch>
        </p:blipFill>
        <p:spPr>
          <a:xfrm>
            <a:off x="8119871" y="1901952"/>
            <a:ext cx="3328415" cy="1728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37033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相機鏡頭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73075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eephole.jpg"/>
          <p:cNvPicPr>
            <a:picLocks noChangeAspect="1"/>
          </p:cNvPicPr>
          <p:nvPr/>
        </p:nvPicPr>
        <p:blipFill>
          <a:blip r:embed="rId6"/>
          <a:srcRect t="3486" b="3486"/>
          <a:stretch>
            <a:fillRect/>
          </a:stretch>
        </p:blipFill>
        <p:spPr>
          <a:xfrm>
            <a:off x="713231" y="4325112"/>
            <a:ext cx="3328415" cy="1728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門上的貓眼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8264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rop.jpg"/>
          <p:cNvPicPr>
            <a:picLocks noChangeAspect="1"/>
          </p:cNvPicPr>
          <p:nvPr/>
        </p:nvPicPr>
        <p:blipFill>
          <a:blip r:embed="rId7"/>
          <a:srcRect t="3484" b="3484"/>
          <a:stretch>
            <a:fillRect/>
          </a:stretch>
        </p:blipFill>
        <p:spPr>
          <a:xfrm>
            <a:off x="4416552" y="4325112"/>
            <a:ext cx="3328415" cy="17282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43400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1583" y="4343400"/>
            <a:ext cx="3474720" cy="1874519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4251960"/>
            <a:ext cx="347472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quarium.jpg"/>
          <p:cNvPicPr>
            <a:picLocks noChangeAspect="1"/>
          </p:cNvPicPr>
          <p:nvPr/>
        </p:nvPicPr>
        <p:blipFill>
          <a:blip r:embed="rId8"/>
          <a:srcRect t="3484" b="3484"/>
          <a:stretch>
            <a:fillRect/>
          </a:stretch>
        </p:blipFill>
        <p:spPr>
          <a:xfrm>
            <a:off x="8119871" y="4325112"/>
            <a:ext cx="3328415" cy="17282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19" y="61264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圓圓的魚缸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6153912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0" grpId="0" animBg="1"/>
      <p:bldP spid="25" grpId="0" animBg="1"/>
      <p:bldP spid="30" grpId="0" animBg="1"/>
      <p:bldP spid="3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闖關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光線小鎮・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透鏡任務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跟光光偵探走竹東街：眼鏡行→教室投影→操場聚光→公寓貓眼→公園一滴水。每站先猜再按！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um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中間厚的鏡片，讓字變大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glasses2.png"/>
          <p:cNvPicPr>
            <a:picLocks noChangeAspect="1"/>
          </p:cNvPicPr>
          <p:nvPr/>
        </p:nvPicPr>
        <p:blipFill>
          <a:blip r:embed="rId3"/>
          <a:srcRect t="4203" b="4203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中間厚＝凸透鏡：讓光換方向，字和東西看起來變大。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光點最小、最亮的地方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sun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720840" y="3383280"/>
            <a:ext cx="4846320" cy="0"/>
          </a:xfrm>
          <a:prstGeom prst="line">
            <a:avLst/>
          </a:prstGeom>
          <a:ln w="19050">
            <a:solidFill>
              <a:srgbClr val="B9A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8709660" y="2240280"/>
            <a:ext cx="685800" cy="2286000"/>
          </a:xfrm>
          <a:custGeom>
            <a:avLst/>
            <a:gdLst/>
            <a:ahLst/>
            <a:cxnLst/>
            <a:rect l="l" t="t" r="r" b="b"/>
            <a:pathLst>
              <a:path w="685800" h="2286000">
                <a:moveTo>
                  <a:pt x="406908" y="0"/>
                </a:moveTo>
                <a:lnTo>
                  <a:pt x="451453" y="95250"/>
                </a:lnTo>
                <a:lnTo>
                  <a:pt x="492125" y="190500"/>
                </a:lnTo>
                <a:lnTo>
                  <a:pt x="528923" y="285750"/>
                </a:lnTo>
                <a:lnTo>
                  <a:pt x="561848" y="381000"/>
                </a:lnTo>
                <a:lnTo>
                  <a:pt x="590899" y="476250"/>
                </a:lnTo>
                <a:lnTo>
                  <a:pt x="616077" y="571500"/>
                </a:lnTo>
                <a:lnTo>
                  <a:pt x="637381" y="666750"/>
                </a:lnTo>
                <a:lnTo>
                  <a:pt x="654812" y="762000"/>
                </a:lnTo>
                <a:lnTo>
                  <a:pt x="668369" y="857250"/>
                </a:lnTo>
                <a:lnTo>
                  <a:pt x="678053" y="952500"/>
                </a:lnTo>
                <a:lnTo>
                  <a:pt x="683863" y="1047750"/>
                </a:lnTo>
                <a:lnTo>
                  <a:pt x="685800" y="1143000"/>
                </a:lnTo>
                <a:lnTo>
                  <a:pt x="683863" y="1238250"/>
                </a:lnTo>
                <a:lnTo>
                  <a:pt x="678053" y="1333500"/>
                </a:lnTo>
                <a:lnTo>
                  <a:pt x="668369" y="1428750"/>
                </a:lnTo>
                <a:lnTo>
                  <a:pt x="654812" y="1524000"/>
                </a:lnTo>
                <a:lnTo>
                  <a:pt x="637381" y="1619250"/>
                </a:lnTo>
                <a:lnTo>
                  <a:pt x="616077" y="1714500"/>
                </a:lnTo>
                <a:lnTo>
                  <a:pt x="590899" y="1809750"/>
                </a:lnTo>
                <a:lnTo>
                  <a:pt x="561848" y="1905000"/>
                </a:lnTo>
                <a:lnTo>
                  <a:pt x="528923" y="2000250"/>
                </a:lnTo>
                <a:lnTo>
                  <a:pt x="492125" y="2095500"/>
                </a:lnTo>
                <a:lnTo>
                  <a:pt x="451453" y="2190750"/>
                </a:lnTo>
                <a:lnTo>
                  <a:pt x="406908" y="2286000"/>
                </a:lnTo>
                <a:lnTo>
                  <a:pt x="278892" y="2286000"/>
                </a:lnTo>
                <a:lnTo>
                  <a:pt x="234346" y="2190750"/>
                </a:lnTo>
                <a:lnTo>
                  <a:pt x="193675" y="2095500"/>
                </a:lnTo>
                <a:lnTo>
                  <a:pt x="156876" y="2000250"/>
                </a:lnTo>
                <a:lnTo>
                  <a:pt x="123952" y="1905000"/>
                </a:lnTo>
                <a:lnTo>
                  <a:pt x="94900" y="1809750"/>
                </a:lnTo>
                <a:lnTo>
                  <a:pt x="69723" y="1714500"/>
                </a:lnTo>
                <a:lnTo>
                  <a:pt x="48418" y="1619250"/>
                </a:lnTo>
                <a:lnTo>
                  <a:pt x="30988" y="1524000"/>
                </a:lnTo>
                <a:lnTo>
                  <a:pt x="17430" y="1428750"/>
                </a:lnTo>
                <a:lnTo>
                  <a:pt x="7747" y="1333500"/>
                </a:lnTo>
                <a:lnTo>
                  <a:pt x="1936" y="1238250"/>
                </a:lnTo>
                <a:lnTo>
                  <a:pt x="0" y="1143000"/>
                </a:lnTo>
                <a:lnTo>
                  <a:pt x="1936" y="1047750"/>
                </a:lnTo>
                <a:lnTo>
                  <a:pt x="7747" y="952500"/>
                </a:lnTo>
                <a:lnTo>
                  <a:pt x="17430" y="857250"/>
                </a:lnTo>
                <a:lnTo>
                  <a:pt x="30988" y="762000"/>
                </a:lnTo>
                <a:lnTo>
                  <a:pt x="48418" y="666750"/>
                </a:lnTo>
                <a:lnTo>
                  <a:pt x="69723" y="571500"/>
                </a:lnTo>
                <a:lnTo>
                  <a:pt x="94900" y="476250"/>
                </a:lnTo>
                <a:lnTo>
                  <a:pt x="123952" y="381000"/>
                </a:lnTo>
                <a:lnTo>
                  <a:pt x="156876" y="285750"/>
                </a:lnTo>
                <a:lnTo>
                  <a:pt x="193675" y="190500"/>
                </a:lnTo>
                <a:lnTo>
                  <a:pt x="234346" y="9525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12280" y="256032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297180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38328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79476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12280" y="4206240"/>
            <a:ext cx="224028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0" y="2560320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971800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52560" y="3383280"/>
            <a:ext cx="2409444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052560" y="3156966"/>
            <a:ext cx="2409444" cy="63779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052560" y="2930652"/>
            <a:ext cx="2409444" cy="127558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479024" y="3255264"/>
            <a:ext cx="256032" cy="256032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19" y="3611880"/>
            <a:ext cx="1097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焦點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凸透鏡把光聚在一起，聚到最小的那一點叫「焦點」，會很燙！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25780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放大鏡不能對著人、不能看太陽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投影到白紙上，景色倒過來了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dark.png"/>
          <p:cNvPicPr>
            <a:picLocks noChangeAspect="1"/>
          </p:cNvPicPr>
          <p:nvPr/>
        </p:nvPicPr>
        <p:blipFill>
          <a:blip r:embed="rId3"/>
          <a:srcRect l="2022" r="2022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6995160" y="2286000"/>
            <a:ext cx="822960" cy="10058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96912" y="3291840"/>
            <a:ext cx="219456" cy="45720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8801100" y="2423160"/>
            <a:ext cx="685800" cy="2194560"/>
          </a:xfrm>
          <a:custGeom>
            <a:avLst/>
            <a:gdLst/>
            <a:ahLst/>
            <a:cxnLst/>
            <a:rect l="l" t="t" r="r" b="b"/>
            <a:pathLst>
              <a:path w="685800" h="2194560">
                <a:moveTo>
                  <a:pt x="406908" y="0"/>
                </a:moveTo>
                <a:lnTo>
                  <a:pt x="451453" y="91440"/>
                </a:lnTo>
                <a:lnTo>
                  <a:pt x="492125" y="182880"/>
                </a:lnTo>
                <a:lnTo>
                  <a:pt x="528923" y="274320"/>
                </a:lnTo>
                <a:lnTo>
                  <a:pt x="561848" y="365760"/>
                </a:lnTo>
                <a:lnTo>
                  <a:pt x="590899" y="457200"/>
                </a:lnTo>
                <a:lnTo>
                  <a:pt x="616077" y="548640"/>
                </a:lnTo>
                <a:lnTo>
                  <a:pt x="637381" y="640080"/>
                </a:lnTo>
                <a:lnTo>
                  <a:pt x="654812" y="731520"/>
                </a:lnTo>
                <a:lnTo>
                  <a:pt x="668369" y="822960"/>
                </a:lnTo>
                <a:lnTo>
                  <a:pt x="678053" y="914400"/>
                </a:lnTo>
                <a:lnTo>
                  <a:pt x="683863" y="1005840"/>
                </a:lnTo>
                <a:lnTo>
                  <a:pt x="685800" y="1097280"/>
                </a:lnTo>
                <a:lnTo>
                  <a:pt x="683863" y="1188720"/>
                </a:lnTo>
                <a:lnTo>
                  <a:pt x="678053" y="1280160"/>
                </a:lnTo>
                <a:lnTo>
                  <a:pt x="668369" y="1371600"/>
                </a:lnTo>
                <a:lnTo>
                  <a:pt x="654812" y="1463040"/>
                </a:lnTo>
                <a:lnTo>
                  <a:pt x="637381" y="1554480"/>
                </a:lnTo>
                <a:lnTo>
                  <a:pt x="616077" y="1645920"/>
                </a:lnTo>
                <a:lnTo>
                  <a:pt x="590899" y="1737360"/>
                </a:lnTo>
                <a:lnTo>
                  <a:pt x="561848" y="1828800"/>
                </a:lnTo>
                <a:lnTo>
                  <a:pt x="528923" y="1920240"/>
                </a:lnTo>
                <a:lnTo>
                  <a:pt x="492125" y="2011680"/>
                </a:lnTo>
                <a:lnTo>
                  <a:pt x="451453" y="2103120"/>
                </a:lnTo>
                <a:lnTo>
                  <a:pt x="406908" y="2194560"/>
                </a:lnTo>
                <a:lnTo>
                  <a:pt x="278892" y="2194560"/>
                </a:lnTo>
                <a:lnTo>
                  <a:pt x="234346" y="2103120"/>
                </a:lnTo>
                <a:lnTo>
                  <a:pt x="193675" y="2011680"/>
                </a:lnTo>
                <a:lnTo>
                  <a:pt x="156876" y="1920240"/>
                </a:lnTo>
                <a:lnTo>
                  <a:pt x="123952" y="1828800"/>
                </a:lnTo>
                <a:lnTo>
                  <a:pt x="94900" y="1737360"/>
                </a:lnTo>
                <a:lnTo>
                  <a:pt x="69723" y="1645920"/>
                </a:lnTo>
                <a:lnTo>
                  <a:pt x="48418" y="1554480"/>
                </a:lnTo>
                <a:lnTo>
                  <a:pt x="30988" y="1463040"/>
                </a:lnTo>
                <a:lnTo>
                  <a:pt x="17430" y="1371600"/>
                </a:lnTo>
                <a:lnTo>
                  <a:pt x="7747" y="1280160"/>
                </a:lnTo>
                <a:lnTo>
                  <a:pt x="1936" y="1188720"/>
                </a:lnTo>
                <a:lnTo>
                  <a:pt x="0" y="1097280"/>
                </a:lnTo>
                <a:lnTo>
                  <a:pt x="1936" y="1005840"/>
                </a:lnTo>
                <a:lnTo>
                  <a:pt x="7747" y="914400"/>
                </a:lnTo>
                <a:lnTo>
                  <a:pt x="17430" y="822960"/>
                </a:lnTo>
                <a:lnTo>
                  <a:pt x="30988" y="731520"/>
                </a:lnTo>
                <a:lnTo>
                  <a:pt x="48418" y="640080"/>
                </a:lnTo>
                <a:lnTo>
                  <a:pt x="69723" y="548640"/>
                </a:lnTo>
                <a:lnTo>
                  <a:pt x="94900" y="457200"/>
                </a:lnTo>
                <a:lnTo>
                  <a:pt x="123952" y="365760"/>
                </a:lnTo>
                <a:lnTo>
                  <a:pt x="156876" y="274320"/>
                </a:lnTo>
                <a:lnTo>
                  <a:pt x="193675" y="182880"/>
                </a:lnTo>
                <a:lnTo>
                  <a:pt x="234346" y="91440"/>
                </a:lnTo>
                <a:lnTo>
                  <a:pt x="278892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1360" y="2240280"/>
            <a:ext cx="109728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0469880" y="3611880"/>
            <a:ext cx="640080" cy="777240"/>
          </a:xfrm>
          <a:prstGeom prst="triangle">
            <a:avLst/>
          </a:prstGeom>
          <a:solidFill>
            <a:srgbClr val="5B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3246120"/>
            <a:ext cx="182880" cy="365760"/>
          </a:xfrm>
          <a:prstGeom prst="rect">
            <a:avLst/>
          </a:prstGeom>
          <a:solidFill>
            <a:srgbClr val="7A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406640" y="2286000"/>
            <a:ext cx="3383280" cy="2148840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06640" y="3246120"/>
            <a:ext cx="3383280" cy="502919"/>
          </a:xfrm>
          <a:prstGeom prst="line">
            <a:avLst/>
          </a:prstGeom>
          <a:ln w="381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倒過來了！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凸透鏡把遠處的光聚在白紙上，景色上下顛倒——相機和眼睛裡也是這樣。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  <p:bldP spid="15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小鎮的發現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中間薄的鏡片：看得更廣</a:t>
            </a:r>
          </a:p>
        </p:txBody>
      </p:sp>
      <p:sp>
        <p:nvSpPr>
          <p:cNvPr id="6" name="Rectangle 5"/>
          <p:cNvSpPr/>
          <p:nvPr/>
        </p:nvSpPr>
        <p:spPr>
          <a:xfrm rot="21540000">
            <a:off x="694944" y="1920240"/>
            <a:ext cx="5486400" cy="32918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40000">
            <a:off x="640080" y="1828800"/>
            <a:ext cx="54864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_peep2.png"/>
          <p:cNvPicPr>
            <a:picLocks noChangeAspect="1"/>
          </p:cNvPicPr>
          <p:nvPr/>
        </p:nvPicPr>
        <p:blipFill>
          <a:blip r:embed="rId3"/>
          <a:srcRect t="7861" b="7861"/>
          <a:stretch>
            <a:fillRect/>
          </a:stretch>
        </p:blipFill>
        <p:spPr>
          <a:xfrm rot="21540000">
            <a:off x="731519" y="1920240"/>
            <a:ext cx="5303520" cy="3108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828800"/>
            <a:ext cx="5120640" cy="329184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94776" y="2286000"/>
            <a:ext cx="566928" cy="2286000"/>
          </a:xfrm>
          <a:custGeom>
            <a:avLst/>
            <a:gdLst/>
            <a:ahLst/>
            <a:cxnLst/>
            <a:rect l="l" t="t" r="r" b="b"/>
            <a:pathLst>
              <a:path w="566928" h="2286000">
                <a:moveTo>
                  <a:pt x="566928" y="0"/>
                </a:moveTo>
                <a:lnTo>
                  <a:pt x="533336" y="95250"/>
                </a:lnTo>
                <a:lnTo>
                  <a:pt x="502665" y="190499"/>
                </a:lnTo>
                <a:lnTo>
                  <a:pt x="474916" y="285750"/>
                </a:lnTo>
                <a:lnTo>
                  <a:pt x="450088" y="381000"/>
                </a:lnTo>
                <a:lnTo>
                  <a:pt x="428180" y="476250"/>
                </a:lnTo>
                <a:lnTo>
                  <a:pt x="409193" y="571500"/>
                </a:lnTo>
                <a:lnTo>
                  <a:pt x="393128" y="666750"/>
                </a:lnTo>
                <a:lnTo>
                  <a:pt x="379984" y="761999"/>
                </a:lnTo>
                <a:lnTo>
                  <a:pt x="369760" y="857250"/>
                </a:lnTo>
                <a:lnTo>
                  <a:pt x="362458" y="952500"/>
                </a:lnTo>
                <a:lnTo>
                  <a:pt x="358076" y="1047750"/>
                </a:lnTo>
                <a:lnTo>
                  <a:pt x="356616" y="1143000"/>
                </a:lnTo>
                <a:lnTo>
                  <a:pt x="358076" y="1238250"/>
                </a:lnTo>
                <a:lnTo>
                  <a:pt x="362458" y="1333500"/>
                </a:lnTo>
                <a:lnTo>
                  <a:pt x="369760" y="1428750"/>
                </a:lnTo>
                <a:lnTo>
                  <a:pt x="379984" y="1524000"/>
                </a:lnTo>
                <a:lnTo>
                  <a:pt x="393128" y="1619250"/>
                </a:lnTo>
                <a:lnTo>
                  <a:pt x="409193" y="1714500"/>
                </a:lnTo>
                <a:lnTo>
                  <a:pt x="428180" y="1809749"/>
                </a:lnTo>
                <a:lnTo>
                  <a:pt x="450088" y="1905000"/>
                </a:lnTo>
                <a:lnTo>
                  <a:pt x="474916" y="2000250"/>
                </a:lnTo>
                <a:lnTo>
                  <a:pt x="502665" y="2095499"/>
                </a:lnTo>
                <a:lnTo>
                  <a:pt x="533336" y="2190750"/>
                </a:lnTo>
                <a:lnTo>
                  <a:pt x="566928" y="2286000"/>
                </a:lnTo>
                <a:lnTo>
                  <a:pt x="0" y="2286000"/>
                </a:lnTo>
                <a:lnTo>
                  <a:pt x="33591" y="2190750"/>
                </a:lnTo>
                <a:lnTo>
                  <a:pt x="64262" y="2095499"/>
                </a:lnTo>
                <a:lnTo>
                  <a:pt x="92011" y="2000250"/>
                </a:lnTo>
                <a:lnTo>
                  <a:pt x="116840" y="1905000"/>
                </a:lnTo>
                <a:lnTo>
                  <a:pt x="138747" y="1809749"/>
                </a:lnTo>
                <a:lnTo>
                  <a:pt x="157734" y="1714500"/>
                </a:lnTo>
                <a:lnTo>
                  <a:pt x="173799" y="1619250"/>
                </a:lnTo>
                <a:lnTo>
                  <a:pt x="186944" y="1524000"/>
                </a:lnTo>
                <a:lnTo>
                  <a:pt x="197167" y="1428750"/>
                </a:lnTo>
                <a:lnTo>
                  <a:pt x="204470" y="1333500"/>
                </a:lnTo>
                <a:lnTo>
                  <a:pt x="208851" y="1238250"/>
                </a:lnTo>
                <a:lnTo>
                  <a:pt x="210312" y="1143000"/>
                </a:lnTo>
                <a:lnTo>
                  <a:pt x="208851" y="1047750"/>
                </a:lnTo>
                <a:lnTo>
                  <a:pt x="204470" y="952500"/>
                </a:lnTo>
                <a:lnTo>
                  <a:pt x="197167" y="857250"/>
                </a:lnTo>
                <a:lnTo>
                  <a:pt x="186944" y="761999"/>
                </a:lnTo>
                <a:lnTo>
                  <a:pt x="173799" y="666750"/>
                </a:lnTo>
                <a:lnTo>
                  <a:pt x="157734" y="571500"/>
                </a:lnTo>
                <a:lnTo>
                  <a:pt x="138747" y="476250"/>
                </a:lnTo>
                <a:lnTo>
                  <a:pt x="116840" y="381000"/>
                </a:lnTo>
                <a:lnTo>
                  <a:pt x="92011" y="285750"/>
                </a:lnTo>
                <a:lnTo>
                  <a:pt x="64262" y="190499"/>
                </a:lnTo>
                <a:lnTo>
                  <a:pt x="33591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12280" y="269748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12280" y="306324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12280" y="342900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12280" y="379476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4160520"/>
            <a:ext cx="196596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1673352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78240" y="2551176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778240" y="3429000"/>
            <a:ext cx="2743200" cy="0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78240" y="3794760"/>
            <a:ext cx="2743200" cy="512064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160520"/>
            <a:ext cx="2743200" cy="1024128"/>
          </a:xfrm>
          <a:prstGeom prst="line">
            <a:avLst/>
          </a:prstGeom>
          <a:ln w="508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0" y="19202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光散開！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中間薄＝凹透鏡：光散開，看得到更大的範圍，東西變小。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比一比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凸透鏡 vs 凹透鏡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形狀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75887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675887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字看起來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00016"/>
            <a:ext cx="11338559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700016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724144"/>
            <a:ext cx="11338559" cy="950976"/>
          </a:xfrm>
          <a:prstGeom prst="rect">
            <a:avLst/>
          </a:prstGeom>
          <a:solidFill>
            <a:srgbClr val="FBF8F2"/>
          </a:solidFill>
          <a:ln w="127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5724144"/>
            <a:ext cx="182880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生活例子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聚在一起（焦點）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放大鏡、老花眼鏡、相機、水滴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920240"/>
            <a:ext cx="4206240" cy="59436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651760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675887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5FA8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700016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散開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5724144"/>
            <a:ext cx="4206240" cy="95097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近視眼鏡、門上的貓眼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動手玩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一站一站玩：投影魔術、放大鏡、眼鏡、相機……每一站都在讓光換方向。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寫寫看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20624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20624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lens.png"/>
          <p:cNvPicPr>
            <a:picLocks noChangeAspect="1"/>
          </p:cNvPicPr>
          <p:nvPr/>
        </p:nvPicPr>
        <p:blipFill>
          <a:blip r:embed="rId3"/>
          <a:srcRect t="3000" b="28000"/>
          <a:stretch>
            <a:fillRect/>
          </a:stretch>
        </p:blipFill>
        <p:spPr>
          <a:xfrm rot="21450000">
            <a:off x="896112" y="896112"/>
            <a:ext cx="4059935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86868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學習單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選一個你可以完成的程度：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圈出中間厚、中間薄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寫出凸透鏡、凹透鏡的不同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說出一個生活裡的透鏡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760720" y="5577840"/>
            <a:ext cx="2926080" cy="68580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打開學習單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中間厚的叫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凸透鏡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6267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4544568"/>
            <a:ext cx="2688335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703320"/>
            <a:ext cx="28346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聚在一起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中間薄的叫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0752" y="587044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凹透鏡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192023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，字變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6267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5" grpId="0" animBg="1"/>
      <p:bldP spid="19" grpId="0" animBg="1"/>
      <p:bldP spid="2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今天的透鏡偵探，好厲害！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下一次：自己動手，用透鏡做出更多魔術。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77240" y="438912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FE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🌙  謝幕打卡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