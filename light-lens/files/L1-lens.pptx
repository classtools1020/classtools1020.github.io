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hyperlink" Target="https://classtools1020.github.io/light-town/#lens" TargetMode="External"/><Relationship Id="rId6" Type="http://schemas.openxmlformats.org/officeDocument/2006/relationships/slide" Target="slide11.xml"/><Relationship Id="rId7" Type="http://schemas.openxmlformats.org/officeDocument/2006/relationships/hyperlink" Target="https://classtools1020.github.io/light-lens/lab.html#lesson" TargetMode="External"/><Relationship Id="rId8" Type="http://schemas.openxmlformats.org/officeDocument/2006/relationships/hyperlink" Target="https://classtools1020.github.io/light-lens/worksheet.html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lens" TargetMode="External"/><Relationship Id="rId4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8.png"/><Relationship Id="rId4" Type="http://schemas.openxmlformats.org/officeDocument/2006/relationships/hyperlink" Target="https://classtools1020.github.io/light-lens/worksheet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任務五・透鏡｜第 1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只會把東西變大嗎？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375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今天的目標：分出「中間厚」和「中間薄」的鏡片，說出它們讓光怎麼走。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甲班｜10/12（一）第 7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jecti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跟著光光偵探，一站一站來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4008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🪄  投影魔術（先猜）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🔍  鏡片長什麼樣子？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64008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光線小鎮・透鏡任務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630936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💡  為什麼？五個祕密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🧪  透鏡實驗室</a:t>
            </a:r>
          </a:p>
        </p:txBody>
      </p:sp>
      <p:sp>
        <p:nvSpPr>
          <p:cNvPr id="23" name="Rounded Rectangle 22">
            <a:hlinkClick r:id="rId8"/>
          </p:cNvPr>
          <p:cNvSpPr/>
          <p:nvPr/>
        </p:nvSpPr>
        <p:spPr>
          <a:xfrm>
            <a:off x="630936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6" name="Rounded Rectangle 25">
            <a:hlinkClick r:id="rId9"/>
          </p:cNvPr>
          <p:cNvSpPr/>
          <p:nvPr/>
        </p:nvSpPr>
        <p:spPr>
          <a:xfrm>
            <a:off x="630936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j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開場：投影魔術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74920"/>
            <a:ext cx="12191695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老師用一支放大鏡，把窗外的景色「搬」到白紙上！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943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白紙上的景色是——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6108192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　正的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6108192"/>
            <a:ext cx="256032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　倒過來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ln w="38100">
                  <a:solidFill>
                    <a:srgbClr val="000000"/>
                  </a:solidFill>
                </a:ln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🤫 答案藏在光線小鎮第 2 站！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認識鏡片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鏡片長什麼樣子？從旁邊看！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94660" y="2331720"/>
            <a:ext cx="685800" cy="2560320"/>
          </a:xfrm>
          <a:custGeom>
            <a:avLst/>
            <a:gdLst/>
            <a:ahLst/>
            <a:cxnLst/>
            <a:rect l="l" t="t" r="r" b="b"/>
            <a:pathLst>
              <a:path w="685800" h="2560320">
                <a:moveTo>
                  <a:pt x="406908" y="0"/>
                </a:moveTo>
                <a:lnTo>
                  <a:pt x="451453" y="106680"/>
                </a:lnTo>
                <a:lnTo>
                  <a:pt x="492124" y="213360"/>
                </a:lnTo>
                <a:lnTo>
                  <a:pt x="528923" y="320040"/>
                </a:lnTo>
                <a:lnTo>
                  <a:pt x="561848" y="426720"/>
                </a:lnTo>
                <a:lnTo>
                  <a:pt x="590899" y="533400"/>
                </a:lnTo>
                <a:lnTo>
                  <a:pt x="616077" y="640080"/>
                </a:lnTo>
                <a:lnTo>
                  <a:pt x="637381" y="746760"/>
                </a:lnTo>
                <a:lnTo>
                  <a:pt x="654812" y="853440"/>
                </a:lnTo>
                <a:lnTo>
                  <a:pt x="668369" y="960120"/>
                </a:lnTo>
                <a:lnTo>
                  <a:pt x="678053" y="1066800"/>
                </a:lnTo>
                <a:lnTo>
                  <a:pt x="683863" y="1173480"/>
                </a:lnTo>
                <a:lnTo>
                  <a:pt x="685800" y="1280160"/>
                </a:lnTo>
                <a:lnTo>
                  <a:pt x="683863" y="1386840"/>
                </a:lnTo>
                <a:lnTo>
                  <a:pt x="678053" y="1493520"/>
                </a:lnTo>
                <a:lnTo>
                  <a:pt x="668369" y="1600200"/>
                </a:lnTo>
                <a:lnTo>
                  <a:pt x="654812" y="1706880"/>
                </a:lnTo>
                <a:lnTo>
                  <a:pt x="637381" y="1813560"/>
                </a:lnTo>
                <a:lnTo>
                  <a:pt x="616077" y="1920240"/>
                </a:lnTo>
                <a:lnTo>
                  <a:pt x="590899" y="2026920"/>
                </a:lnTo>
                <a:lnTo>
                  <a:pt x="561848" y="2133600"/>
                </a:lnTo>
                <a:lnTo>
                  <a:pt x="528923" y="2240280"/>
                </a:lnTo>
                <a:lnTo>
                  <a:pt x="492125" y="2346960"/>
                </a:lnTo>
                <a:lnTo>
                  <a:pt x="451453" y="2453640"/>
                </a:lnTo>
                <a:lnTo>
                  <a:pt x="406908" y="2560320"/>
                </a:lnTo>
                <a:lnTo>
                  <a:pt x="278892" y="2560320"/>
                </a:lnTo>
                <a:lnTo>
                  <a:pt x="234346" y="2453640"/>
                </a:lnTo>
                <a:lnTo>
                  <a:pt x="193674" y="2346960"/>
                </a:lnTo>
                <a:lnTo>
                  <a:pt x="156876" y="2240280"/>
                </a:lnTo>
                <a:lnTo>
                  <a:pt x="123952" y="2133600"/>
                </a:lnTo>
                <a:lnTo>
                  <a:pt x="94900" y="2026920"/>
                </a:lnTo>
                <a:lnTo>
                  <a:pt x="69723" y="1920240"/>
                </a:lnTo>
                <a:lnTo>
                  <a:pt x="48418" y="1813560"/>
                </a:lnTo>
                <a:lnTo>
                  <a:pt x="30988" y="1706880"/>
                </a:lnTo>
                <a:lnTo>
                  <a:pt x="17430" y="1600200"/>
                </a:lnTo>
                <a:lnTo>
                  <a:pt x="7747" y="1493520"/>
                </a:lnTo>
                <a:lnTo>
                  <a:pt x="1936" y="1386840"/>
                </a:lnTo>
                <a:lnTo>
                  <a:pt x="0" y="1280160"/>
                </a:lnTo>
                <a:lnTo>
                  <a:pt x="1936" y="1173480"/>
                </a:lnTo>
                <a:lnTo>
                  <a:pt x="7747" y="1066800"/>
                </a:lnTo>
                <a:lnTo>
                  <a:pt x="17430" y="960120"/>
                </a:lnTo>
                <a:lnTo>
                  <a:pt x="30988" y="853440"/>
                </a:lnTo>
                <a:lnTo>
                  <a:pt x="48418" y="746760"/>
                </a:lnTo>
                <a:lnTo>
                  <a:pt x="69723" y="640080"/>
                </a:lnTo>
                <a:lnTo>
                  <a:pt x="94900" y="533400"/>
                </a:lnTo>
                <a:lnTo>
                  <a:pt x="123952" y="426720"/>
                </a:lnTo>
                <a:lnTo>
                  <a:pt x="156876" y="320040"/>
                </a:lnTo>
                <a:lnTo>
                  <a:pt x="193675" y="213360"/>
                </a:lnTo>
                <a:lnTo>
                  <a:pt x="234346" y="10668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40496" y="2331720"/>
            <a:ext cx="566928" cy="2560320"/>
          </a:xfrm>
          <a:custGeom>
            <a:avLst/>
            <a:gdLst/>
            <a:ahLst/>
            <a:cxnLst/>
            <a:rect l="l" t="t" r="r" b="b"/>
            <a:pathLst>
              <a:path w="566928" h="2560320">
                <a:moveTo>
                  <a:pt x="566928" y="0"/>
                </a:moveTo>
                <a:lnTo>
                  <a:pt x="533336" y="106680"/>
                </a:lnTo>
                <a:lnTo>
                  <a:pt x="502666" y="213360"/>
                </a:lnTo>
                <a:lnTo>
                  <a:pt x="474916" y="320040"/>
                </a:lnTo>
                <a:lnTo>
                  <a:pt x="450088" y="426720"/>
                </a:lnTo>
                <a:lnTo>
                  <a:pt x="428180" y="533400"/>
                </a:lnTo>
                <a:lnTo>
                  <a:pt x="409194" y="640080"/>
                </a:lnTo>
                <a:lnTo>
                  <a:pt x="393128" y="746760"/>
                </a:lnTo>
                <a:lnTo>
                  <a:pt x="379984" y="853440"/>
                </a:lnTo>
                <a:lnTo>
                  <a:pt x="369760" y="960120"/>
                </a:lnTo>
                <a:lnTo>
                  <a:pt x="362458" y="1066800"/>
                </a:lnTo>
                <a:lnTo>
                  <a:pt x="358076" y="1173480"/>
                </a:lnTo>
                <a:lnTo>
                  <a:pt x="356616" y="1280160"/>
                </a:lnTo>
                <a:lnTo>
                  <a:pt x="358076" y="1386840"/>
                </a:lnTo>
                <a:lnTo>
                  <a:pt x="362458" y="1493520"/>
                </a:lnTo>
                <a:lnTo>
                  <a:pt x="369760" y="1600200"/>
                </a:lnTo>
                <a:lnTo>
                  <a:pt x="379984" y="1706880"/>
                </a:lnTo>
                <a:lnTo>
                  <a:pt x="393128" y="1813560"/>
                </a:lnTo>
                <a:lnTo>
                  <a:pt x="409194" y="1920240"/>
                </a:lnTo>
                <a:lnTo>
                  <a:pt x="428180" y="2026920"/>
                </a:lnTo>
                <a:lnTo>
                  <a:pt x="450088" y="2133600"/>
                </a:lnTo>
                <a:lnTo>
                  <a:pt x="474916" y="2240280"/>
                </a:lnTo>
                <a:lnTo>
                  <a:pt x="502666" y="2346960"/>
                </a:lnTo>
                <a:lnTo>
                  <a:pt x="533336" y="2453640"/>
                </a:lnTo>
                <a:lnTo>
                  <a:pt x="566928" y="2560320"/>
                </a:lnTo>
                <a:lnTo>
                  <a:pt x="0" y="2560320"/>
                </a:lnTo>
                <a:lnTo>
                  <a:pt x="33591" y="2453640"/>
                </a:lnTo>
                <a:lnTo>
                  <a:pt x="64262" y="2346960"/>
                </a:lnTo>
                <a:lnTo>
                  <a:pt x="92011" y="2240280"/>
                </a:lnTo>
                <a:lnTo>
                  <a:pt x="116840" y="2133600"/>
                </a:lnTo>
                <a:lnTo>
                  <a:pt x="138747" y="2026920"/>
                </a:lnTo>
                <a:lnTo>
                  <a:pt x="157734" y="1920240"/>
                </a:lnTo>
                <a:lnTo>
                  <a:pt x="173799" y="1813560"/>
                </a:lnTo>
                <a:lnTo>
                  <a:pt x="186944" y="1706880"/>
                </a:lnTo>
                <a:lnTo>
                  <a:pt x="197167" y="1600200"/>
                </a:lnTo>
                <a:lnTo>
                  <a:pt x="204470" y="1493520"/>
                </a:lnTo>
                <a:lnTo>
                  <a:pt x="208851" y="1386840"/>
                </a:lnTo>
                <a:lnTo>
                  <a:pt x="210312" y="1280160"/>
                </a:lnTo>
                <a:lnTo>
                  <a:pt x="208851" y="1173480"/>
                </a:lnTo>
                <a:lnTo>
                  <a:pt x="204470" y="1066800"/>
                </a:lnTo>
                <a:lnTo>
                  <a:pt x="197167" y="960120"/>
                </a:lnTo>
                <a:lnTo>
                  <a:pt x="186944" y="853440"/>
                </a:lnTo>
                <a:lnTo>
                  <a:pt x="173799" y="746760"/>
                </a:lnTo>
                <a:lnTo>
                  <a:pt x="157734" y="640080"/>
                </a:lnTo>
                <a:lnTo>
                  <a:pt x="138747" y="533400"/>
                </a:lnTo>
                <a:lnTo>
                  <a:pt x="116840" y="426720"/>
                </a:lnTo>
                <a:lnTo>
                  <a:pt x="92011" y="320040"/>
                </a:lnTo>
                <a:lnTo>
                  <a:pt x="64262" y="213360"/>
                </a:lnTo>
                <a:lnTo>
                  <a:pt x="33591" y="10668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找找看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生活裡的鏡片：中間厚？還是中間薄？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ifier.jpg"/>
          <p:cNvPicPr>
            <a:picLocks noChangeAspect="1"/>
          </p:cNvPicPr>
          <p:nvPr/>
        </p:nvPicPr>
        <p:blipFill>
          <a:blip r:embed="rId3"/>
          <a:srcRect t="3484" b="3484"/>
          <a:stretch>
            <a:fillRect/>
          </a:stretch>
        </p:blipFill>
        <p:spPr>
          <a:xfrm>
            <a:off x="713231" y="1901952"/>
            <a:ext cx="3328415" cy="1728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lasses.jpg"/>
          <p:cNvPicPr>
            <a:picLocks noChangeAspect="1"/>
          </p:cNvPicPr>
          <p:nvPr/>
        </p:nvPicPr>
        <p:blipFill>
          <a:blip r:embed="rId4"/>
          <a:srcRect t="3486" b="3486"/>
          <a:stretch>
            <a:fillRect/>
          </a:stretch>
        </p:blipFill>
        <p:spPr>
          <a:xfrm>
            <a:off x="4416552" y="1901952"/>
            <a:ext cx="3328415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4340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37307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老花厚・近視薄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mera.jpg"/>
          <p:cNvPicPr>
            <a:picLocks noChangeAspect="1"/>
          </p:cNvPicPr>
          <p:nvPr/>
        </p:nvPicPr>
        <p:blipFill>
          <a:blip r:embed="rId5"/>
          <a:srcRect t="3486" b="3486"/>
          <a:stretch>
            <a:fillRect/>
          </a:stretch>
        </p:blipFill>
        <p:spPr>
          <a:xfrm>
            <a:off x="8119871" y="1901952"/>
            <a:ext cx="3328415" cy="1728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相機鏡頭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ephole.jpg"/>
          <p:cNvPicPr>
            <a:picLocks noChangeAspect="1"/>
          </p:cNvPicPr>
          <p:nvPr/>
        </p:nvPicPr>
        <p:blipFill>
          <a:blip r:embed="rId6"/>
          <a:srcRect t="3486" b="3486"/>
          <a:stretch>
            <a:fillRect/>
          </a:stretch>
        </p:blipFill>
        <p:spPr>
          <a:xfrm>
            <a:off x="713231" y="4325112"/>
            <a:ext cx="3328415" cy="1728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門上的貓眼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826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rop.jpg"/>
          <p:cNvPicPr>
            <a:picLocks noChangeAspect="1"/>
          </p:cNvPicPr>
          <p:nvPr/>
        </p:nvPicPr>
        <p:blipFill>
          <a:blip r:embed="rId7"/>
          <a:srcRect t="3484" b="3484"/>
          <a:stretch>
            <a:fillRect/>
          </a:stretch>
        </p:blipFill>
        <p:spPr>
          <a:xfrm>
            <a:off x="4416552" y="4325112"/>
            <a:ext cx="3328415" cy="17282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4340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quarium.jpg"/>
          <p:cNvPicPr>
            <a:picLocks noChangeAspect="1"/>
          </p:cNvPicPr>
          <p:nvPr/>
        </p:nvPicPr>
        <p:blipFill>
          <a:blip r:embed="rId8"/>
          <a:srcRect t="3484" b="3484"/>
          <a:stretch>
            <a:fillRect/>
          </a:stretch>
        </p:blipFill>
        <p:spPr>
          <a:xfrm>
            <a:off x="8119871" y="4325112"/>
            <a:ext cx="3328415" cy="17282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19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圓圓的魚缸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5" grpId="0" animBg="1"/>
      <p:bldP spid="30" grpId="0" animBg="1"/>
      <p:bldP spid="3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跟光光偵探走竹東街：眼鏡行→教室投影→操場聚光→公寓貓眼→公園一滴水。每站先猜再按！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中間厚的鏡片，讓字變大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glasses2.png"/>
          <p:cNvPicPr>
            <a:picLocks noChangeAspect="1"/>
          </p:cNvPicPr>
          <p:nvPr/>
        </p:nvPicPr>
        <p:blipFill>
          <a:blip r:embed="rId3"/>
          <a:srcRect t="4203" b="4203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中間厚＝凸透鏡：讓光換方向，字和東西看起來變大。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光點最小、最亮的地方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sun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720840" y="3383280"/>
            <a:ext cx="48463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8709660" y="2240280"/>
            <a:ext cx="685800" cy="2286000"/>
          </a:xfrm>
          <a:custGeom>
            <a:avLst/>
            <a:gdLst/>
            <a:ahLst/>
            <a:cxnLst/>
            <a:rect l="l" t="t" r="r" b="b"/>
            <a:pathLst>
              <a:path w="685800" h="2286000">
                <a:moveTo>
                  <a:pt x="406908" y="0"/>
                </a:moveTo>
                <a:lnTo>
                  <a:pt x="451453" y="95250"/>
                </a:lnTo>
                <a:lnTo>
                  <a:pt x="492125" y="190500"/>
                </a:lnTo>
                <a:lnTo>
                  <a:pt x="528923" y="285750"/>
                </a:lnTo>
                <a:lnTo>
                  <a:pt x="561848" y="381000"/>
                </a:lnTo>
                <a:lnTo>
                  <a:pt x="590899" y="476250"/>
                </a:lnTo>
                <a:lnTo>
                  <a:pt x="616077" y="571500"/>
                </a:lnTo>
                <a:lnTo>
                  <a:pt x="637381" y="666750"/>
                </a:lnTo>
                <a:lnTo>
                  <a:pt x="654812" y="762000"/>
                </a:lnTo>
                <a:lnTo>
                  <a:pt x="668369" y="857250"/>
                </a:lnTo>
                <a:lnTo>
                  <a:pt x="678053" y="952500"/>
                </a:lnTo>
                <a:lnTo>
                  <a:pt x="683863" y="1047750"/>
                </a:lnTo>
                <a:lnTo>
                  <a:pt x="685800" y="1143000"/>
                </a:lnTo>
                <a:lnTo>
                  <a:pt x="683863" y="1238250"/>
                </a:lnTo>
                <a:lnTo>
                  <a:pt x="678053" y="1333500"/>
                </a:lnTo>
                <a:lnTo>
                  <a:pt x="668369" y="1428750"/>
                </a:lnTo>
                <a:lnTo>
                  <a:pt x="654812" y="1524000"/>
                </a:lnTo>
                <a:lnTo>
                  <a:pt x="637381" y="1619250"/>
                </a:lnTo>
                <a:lnTo>
                  <a:pt x="616077" y="1714500"/>
                </a:lnTo>
                <a:lnTo>
                  <a:pt x="590899" y="1809750"/>
                </a:lnTo>
                <a:lnTo>
                  <a:pt x="561848" y="1905000"/>
                </a:lnTo>
                <a:lnTo>
                  <a:pt x="528923" y="2000250"/>
                </a:lnTo>
                <a:lnTo>
                  <a:pt x="492125" y="2095500"/>
                </a:lnTo>
                <a:lnTo>
                  <a:pt x="451453" y="2190750"/>
                </a:lnTo>
                <a:lnTo>
                  <a:pt x="406908" y="2286000"/>
                </a:lnTo>
                <a:lnTo>
                  <a:pt x="278892" y="2286000"/>
                </a:lnTo>
                <a:lnTo>
                  <a:pt x="234346" y="2190750"/>
                </a:lnTo>
                <a:lnTo>
                  <a:pt x="193675" y="2095500"/>
                </a:lnTo>
                <a:lnTo>
                  <a:pt x="156876" y="2000250"/>
                </a:lnTo>
                <a:lnTo>
                  <a:pt x="123952" y="1905000"/>
                </a:lnTo>
                <a:lnTo>
                  <a:pt x="94900" y="1809750"/>
                </a:lnTo>
                <a:lnTo>
                  <a:pt x="69723" y="1714500"/>
                </a:lnTo>
                <a:lnTo>
                  <a:pt x="48418" y="1619250"/>
                </a:lnTo>
                <a:lnTo>
                  <a:pt x="30988" y="1524000"/>
                </a:lnTo>
                <a:lnTo>
                  <a:pt x="17430" y="1428750"/>
                </a:lnTo>
                <a:lnTo>
                  <a:pt x="7747" y="1333500"/>
                </a:lnTo>
                <a:lnTo>
                  <a:pt x="1936" y="1238250"/>
                </a:lnTo>
                <a:lnTo>
                  <a:pt x="0" y="1143000"/>
                </a:lnTo>
                <a:lnTo>
                  <a:pt x="1936" y="1047750"/>
                </a:lnTo>
                <a:lnTo>
                  <a:pt x="7747" y="952500"/>
                </a:lnTo>
                <a:lnTo>
                  <a:pt x="17430" y="857250"/>
                </a:lnTo>
                <a:lnTo>
                  <a:pt x="30988" y="762000"/>
                </a:lnTo>
                <a:lnTo>
                  <a:pt x="48418" y="666750"/>
                </a:lnTo>
                <a:lnTo>
                  <a:pt x="69723" y="571500"/>
                </a:lnTo>
                <a:lnTo>
                  <a:pt x="94900" y="476250"/>
                </a:lnTo>
                <a:lnTo>
                  <a:pt x="123952" y="381000"/>
                </a:lnTo>
                <a:lnTo>
                  <a:pt x="156876" y="285750"/>
                </a:lnTo>
                <a:lnTo>
                  <a:pt x="193675" y="190500"/>
                </a:lnTo>
                <a:lnTo>
                  <a:pt x="234346" y="952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12280" y="256032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297180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38328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79476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420624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0" y="2560320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971800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3383280"/>
            <a:ext cx="2409444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052560" y="3156966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052560" y="2930652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79024" y="3255264"/>
            <a:ext cx="256032" cy="256032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19" y="3611880"/>
            <a:ext cx="1097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凸透鏡把光聚在一起，聚到最小的那一點叫「焦點」，會很燙！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578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放大鏡不能對著人、不能看太陽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投影到白紙上，景色倒過來了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dark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6995160" y="2286000"/>
            <a:ext cx="822960" cy="10058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3291840"/>
            <a:ext cx="219456" cy="45720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01100" y="2423160"/>
            <a:ext cx="685800" cy="2194560"/>
          </a:xfrm>
          <a:custGeom>
            <a:avLst/>
            <a:gdLst/>
            <a:ahLst/>
            <a:cxnLst/>
            <a:rect l="l" t="t" r="r" b="b"/>
            <a:pathLst>
              <a:path w="685800" h="2194560">
                <a:moveTo>
                  <a:pt x="406908" y="0"/>
                </a:moveTo>
                <a:lnTo>
                  <a:pt x="451453" y="91440"/>
                </a:lnTo>
                <a:lnTo>
                  <a:pt x="492125" y="182880"/>
                </a:lnTo>
                <a:lnTo>
                  <a:pt x="528923" y="274320"/>
                </a:lnTo>
                <a:lnTo>
                  <a:pt x="561848" y="365760"/>
                </a:lnTo>
                <a:lnTo>
                  <a:pt x="590899" y="457200"/>
                </a:lnTo>
                <a:lnTo>
                  <a:pt x="616077" y="548640"/>
                </a:lnTo>
                <a:lnTo>
                  <a:pt x="637381" y="640080"/>
                </a:lnTo>
                <a:lnTo>
                  <a:pt x="654812" y="731520"/>
                </a:lnTo>
                <a:lnTo>
                  <a:pt x="668369" y="822960"/>
                </a:lnTo>
                <a:lnTo>
                  <a:pt x="678053" y="914400"/>
                </a:lnTo>
                <a:lnTo>
                  <a:pt x="683863" y="1005840"/>
                </a:lnTo>
                <a:lnTo>
                  <a:pt x="685800" y="1097280"/>
                </a:lnTo>
                <a:lnTo>
                  <a:pt x="683863" y="1188720"/>
                </a:lnTo>
                <a:lnTo>
                  <a:pt x="678053" y="1280160"/>
                </a:lnTo>
                <a:lnTo>
                  <a:pt x="668369" y="1371600"/>
                </a:lnTo>
                <a:lnTo>
                  <a:pt x="654812" y="1463040"/>
                </a:lnTo>
                <a:lnTo>
                  <a:pt x="637381" y="1554480"/>
                </a:lnTo>
                <a:lnTo>
                  <a:pt x="616077" y="1645920"/>
                </a:lnTo>
                <a:lnTo>
                  <a:pt x="590899" y="1737360"/>
                </a:lnTo>
                <a:lnTo>
                  <a:pt x="561848" y="1828800"/>
                </a:lnTo>
                <a:lnTo>
                  <a:pt x="528923" y="1920240"/>
                </a:lnTo>
                <a:lnTo>
                  <a:pt x="492125" y="2011680"/>
                </a:lnTo>
                <a:lnTo>
                  <a:pt x="451453" y="2103120"/>
                </a:lnTo>
                <a:lnTo>
                  <a:pt x="406908" y="2194560"/>
                </a:lnTo>
                <a:lnTo>
                  <a:pt x="278892" y="2194560"/>
                </a:lnTo>
                <a:lnTo>
                  <a:pt x="234346" y="2103120"/>
                </a:lnTo>
                <a:lnTo>
                  <a:pt x="193675" y="2011680"/>
                </a:lnTo>
                <a:lnTo>
                  <a:pt x="156876" y="1920240"/>
                </a:lnTo>
                <a:lnTo>
                  <a:pt x="123952" y="1828800"/>
                </a:lnTo>
                <a:lnTo>
                  <a:pt x="94900" y="1737360"/>
                </a:lnTo>
                <a:lnTo>
                  <a:pt x="69723" y="1645920"/>
                </a:lnTo>
                <a:lnTo>
                  <a:pt x="48418" y="1554480"/>
                </a:lnTo>
                <a:lnTo>
                  <a:pt x="30988" y="1463040"/>
                </a:lnTo>
                <a:lnTo>
                  <a:pt x="17430" y="1371600"/>
                </a:lnTo>
                <a:lnTo>
                  <a:pt x="7747" y="1280160"/>
                </a:lnTo>
                <a:lnTo>
                  <a:pt x="1936" y="1188720"/>
                </a:lnTo>
                <a:lnTo>
                  <a:pt x="0" y="1097280"/>
                </a:lnTo>
                <a:lnTo>
                  <a:pt x="1936" y="1005840"/>
                </a:lnTo>
                <a:lnTo>
                  <a:pt x="7747" y="914400"/>
                </a:lnTo>
                <a:lnTo>
                  <a:pt x="17430" y="822960"/>
                </a:lnTo>
                <a:lnTo>
                  <a:pt x="30988" y="731520"/>
                </a:lnTo>
                <a:lnTo>
                  <a:pt x="48418" y="640080"/>
                </a:lnTo>
                <a:lnTo>
                  <a:pt x="69723" y="548640"/>
                </a:lnTo>
                <a:lnTo>
                  <a:pt x="94900" y="457200"/>
                </a:lnTo>
                <a:lnTo>
                  <a:pt x="123952" y="365760"/>
                </a:lnTo>
                <a:lnTo>
                  <a:pt x="156876" y="274320"/>
                </a:lnTo>
                <a:lnTo>
                  <a:pt x="193675" y="182880"/>
                </a:lnTo>
                <a:lnTo>
                  <a:pt x="234346" y="914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1360" y="2240280"/>
            <a:ext cx="109728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0469880" y="3611880"/>
            <a:ext cx="640080" cy="7772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3246120"/>
            <a:ext cx="182880" cy="36576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406640" y="2286000"/>
            <a:ext cx="3383280" cy="214884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06640" y="3246120"/>
            <a:ext cx="3383280" cy="50291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倒過來了！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凸透鏡把遠處的光聚在白紙上，景色上下顛倒——相機和眼睛裡也是這樣。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中間薄的鏡片：看得更廣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peep2.png"/>
          <p:cNvPicPr>
            <a:picLocks noChangeAspect="1"/>
          </p:cNvPicPr>
          <p:nvPr/>
        </p:nvPicPr>
        <p:blipFill>
          <a:blip r:embed="rId3"/>
          <a:srcRect t="7861" b="7861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94776" y="2286000"/>
            <a:ext cx="566928" cy="2286000"/>
          </a:xfrm>
          <a:custGeom>
            <a:avLst/>
            <a:gdLst/>
            <a:ahLst/>
            <a:cxnLst/>
            <a:rect l="l" t="t" r="r" b="b"/>
            <a:pathLst>
              <a:path w="566928" h="2286000">
                <a:moveTo>
                  <a:pt x="566928" y="0"/>
                </a:moveTo>
                <a:lnTo>
                  <a:pt x="533336" y="95250"/>
                </a:lnTo>
                <a:lnTo>
                  <a:pt x="502665" y="190499"/>
                </a:lnTo>
                <a:lnTo>
                  <a:pt x="474916" y="285750"/>
                </a:lnTo>
                <a:lnTo>
                  <a:pt x="450088" y="381000"/>
                </a:lnTo>
                <a:lnTo>
                  <a:pt x="428180" y="476250"/>
                </a:lnTo>
                <a:lnTo>
                  <a:pt x="409193" y="571500"/>
                </a:lnTo>
                <a:lnTo>
                  <a:pt x="393128" y="666750"/>
                </a:lnTo>
                <a:lnTo>
                  <a:pt x="379984" y="761999"/>
                </a:lnTo>
                <a:lnTo>
                  <a:pt x="369760" y="857250"/>
                </a:lnTo>
                <a:lnTo>
                  <a:pt x="362458" y="952500"/>
                </a:lnTo>
                <a:lnTo>
                  <a:pt x="358076" y="1047750"/>
                </a:lnTo>
                <a:lnTo>
                  <a:pt x="356616" y="1143000"/>
                </a:lnTo>
                <a:lnTo>
                  <a:pt x="358076" y="1238250"/>
                </a:lnTo>
                <a:lnTo>
                  <a:pt x="362458" y="1333500"/>
                </a:lnTo>
                <a:lnTo>
                  <a:pt x="369760" y="1428750"/>
                </a:lnTo>
                <a:lnTo>
                  <a:pt x="379984" y="1524000"/>
                </a:lnTo>
                <a:lnTo>
                  <a:pt x="393128" y="1619250"/>
                </a:lnTo>
                <a:lnTo>
                  <a:pt x="409193" y="1714500"/>
                </a:lnTo>
                <a:lnTo>
                  <a:pt x="428180" y="1809749"/>
                </a:lnTo>
                <a:lnTo>
                  <a:pt x="450088" y="1905000"/>
                </a:lnTo>
                <a:lnTo>
                  <a:pt x="474916" y="2000250"/>
                </a:lnTo>
                <a:lnTo>
                  <a:pt x="502665" y="2095499"/>
                </a:lnTo>
                <a:lnTo>
                  <a:pt x="533336" y="2190750"/>
                </a:lnTo>
                <a:lnTo>
                  <a:pt x="566928" y="2286000"/>
                </a:lnTo>
                <a:lnTo>
                  <a:pt x="0" y="2286000"/>
                </a:lnTo>
                <a:lnTo>
                  <a:pt x="33591" y="2190750"/>
                </a:lnTo>
                <a:lnTo>
                  <a:pt x="64262" y="2095499"/>
                </a:lnTo>
                <a:lnTo>
                  <a:pt x="92011" y="2000250"/>
                </a:lnTo>
                <a:lnTo>
                  <a:pt x="116840" y="1905000"/>
                </a:lnTo>
                <a:lnTo>
                  <a:pt x="138747" y="1809749"/>
                </a:lnTo>
                <a:lnTo>
                  <a:pt x="157734" y="1714500"/>
                </a:lnTo>
                <a:lnTo>
                  <a:pt x="173799" y="1619250"/>
                </a:lnTo>
                <a:lnTo>
                  <a:pt x="186944" y="1524000"/>
                </a:lnTo>
                <a:lnTo>
                  <a:pt x="197167" y="1428750"/>
                </a:lnTo>
                <a:lnTo>
                  <a:pt x="204470" y="1333500"/>
                </a:lnTo>
                <a:lnTo>
                  <a:pt x="208851" y="1238250"/>
                </a:lnTo>
                <a:lnTo>
                  <a:pt x="210312" y="1143000"/>
                </a:lnTo>
                <a:lnTo>
                  <a:pt x="208851" y="1047750"/>
                </a:lnTo>
                <a:lnTo>
                  <a:pt x="204470" y="952500"/>
                </a:lnTo>
                <a:lnTo>
                  <a:pt x="197167" y="857250"/>
                </a:lnTo>
                <a:lnTo>
                  <a:pt x="186944" y="761999"/>
                </a:lnTo>
                <a:lnTo>
                  <a:pt x="173799" y="666750"/>
                </a:lnTo>
                <a:lnTo>
                  <a:pt x="157734" y="571500"/>
                </a:lnTo>
                <a:lnTo>
                  <a:pt x="138747" y="476250"/>
                </a:lnTo>
                <a:lnTo>
                  <a:pt x="116840" y="381000"/>
                </a:lnTo>
                <a:lnTo>
                  <a:pt x="92011" y="285750"/>
                </a:lnTo>
                <a:lnTo>
                  <a:pt x="64262" y="190499"/>
                </a:lnTo>
                <a:lnTo>
                  <a:pt x="33591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69748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12280" y="306324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342900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79476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416052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73352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78240" y="2551176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778240" y="3429000"/>
            <a:ext cx="274320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78240" y="3794760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160520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19202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光散開！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中間薄＝凹透鏡：光散開，看得到更大的範圍，東西變小。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為什麼？祕密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玻璃跟水一樣，也會讓光「折一下」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光從空氣進玻璃、從玻璃出來，都會在表面折一下——跟進出水一樣！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65960"/>
            <a:ext cx="493776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74519"/>
            <a:ext cx="49377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ser.jpg"/>
          <p:cNvPicPr>
            <a:picLocks noChangeAspect="1"/>
          </p:cNvPicPr>
          <p:nvPr/>
        </p:nvPicPr>
        <p:blipFill>
          <a:blip r:embed="rId3"/>
          <a:srcRect l="7144" r="7144"/>
          <a:stretch>
            <a:fillRect/>
          </a:stretch>
        </p:blipFill>
        <p:spPr>
          <a:xfrm rot="21540000">
            <a:off x="749808" y="1984248"/>
            <a:ext cx="4718304" cy="3072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25780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還記得嗎？雷射光進水會折一下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103120"/>
            <a:ext cx="2011680" cy="3291840"/>
          </a:xfrm>
          <a:prstGeom prst="rect">
            <a:avLst/>
          </a:prstGeom>
          <a:solidFill>
            <a:srgbClr val="CDE8F2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54406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玻璃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26480" y="2103120"/>
            <a:ext cx="1737360" cy="105156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63840" y="3154680"/>
            <a:ext cx="2011680" cy="50292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875520" y="3657600"/>
            <a:ext cx="1737360" cy="105156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635240" y="2926080"/>
            <a:ext cx="457200" cy="45720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6920" y="3429000"/>
            <a:ext cx="457200" cy="45720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為什麼？祕密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光穿過三角形的玻璃，會往「厚的那邊」折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三稜鏡：薄的在上、厚的在下——光進去、出來，都往厚的那邊折。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65960"/>
            <a:ext cx="493776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74519"/>
            <a:ext cx="49377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ism.jpg"/>
          <p:cNvPicPr>
            <a:picLocks noChangeAspect="1"/>
          </p:cNvPicPr>
          <p:nvPr/>
        </p:nvPicPr>
        <p:blipFill>
          <a:blip r:embed="rId3"/>
          <a:srcRect l="7143" r="7143"/>
          <a:stretch>
            <a:fillRect/>
          </a:stretch>
        </p:blipFill>
        <p:spPr>
          <a:xfrm rot="21540000">
            <a:off x="749808" y="1984248"/>
            <a:ext cx="4718304" cy="3072384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498079" y="2011680"/>
            <a:ext cx="2560321" cy="3017520"/>
          </a:xfrm>
          <a:custGeom>
            <a:avLst/>
            <a:gdLst/>
            <a:ahLst/>
            <a:cxnLst/>
            <a:rect l="l" t="t" r="r" b="b"/>
            <a:pathLst>
              <a:path w="2560321" h="3017520">
                <a:moveTo>
                  <a:pt x="1280161" y="0"/>
                </a:moveTo>
                <a:lnTo>
                  <a:pt x="0" y="3017520"/>
                </a:lnTo>
                <a:lnTo>
                  <a:pt x="2560321" y="301752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920240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5074920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26480" y="3429000"/>
            <a:ext cx="1975103" cy="18288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01583" y="3611880"/>
            <a:ext cx="1545337" cy="45720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46920" y="4069080"/>
            <a:ext cx="1874520" cy="132588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607040" y="2926080"/>
            <a:ext cx="0" cy="1005840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400" y="2377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往厚的那邊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為什麼？祕密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凸透鏡＝兩個三稜鏡，厚的那邊黏在一起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上面的光往下折、下面的光往上折——全部聚在一起，就是「焦點」！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65960"/>
            <a:ext cx="4572000" cy="31089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74519"/>
            <a:ext cx="457200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ex-laser.jpg"/>
          <p:cNvPicPr>
            <a:picLocks noChangeAspect="1"/>
          </p:cNvPicPr>
          <p:nvPr/>
        </p:nvPicPr>
        <p:blipFill>
          <a:blip r:embed="rId3"/>
          <a:srcRect l="7963" r="7963"/>
          <a:stretch>
            <a:fillRect/>
          </a:stretch>
        </p:blipFill>
        <p:spPr>
          <a:xfrm rot="21540000">
            <a:off x="749808" y="1984248"/>
            <a:ext cx="4352544" cy="2889504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635240" y="1965960"/>
            <a:ext cx="1005840" cy="1554480"/>
          </a:xfrm>
          <a:custGeom>
            <a:avLst/>
            <a:gdLst/>
            <a:ahLst/>
            <a:cxnLst/>
            <a:rect l="l" t="t" r="r" b="b"/>
            <a:pathLst>
              <a:path w="1005840" h="1554480">
                <a:moveTo>
                  <a:pt x="502920" y="0"/>
                </a:moveTo>
                <a:lnTo>
                  <a:pt x="0" y="1554480"/>
                </a:lnTo>
                <a:lnTo>
                  <a:pt x="1005840" y="155448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35240" y="3520440"/>
            <a:ext cx="1005840" cy="1554480"/>
          </a:xfrm>
          <a:custGeom>
            <a:avLst/>
            <a:gdLst/>
            <a:ahLst/>
            <a:cxnLst/>
            <a:rect l="l" t="t" r="r" b="b"/>
            <a:pathLst>
              <a:path w="1005840" h="1554480">
                <a:moveTo>
                  <a:pt x="502920" y="1554480"/>
                </a:moveTo>
                <a:lnTo>
                  <a:pt x="0" y="0"/>
                </a:lnTo>
                <a:lnTo>
                  <a:pt x="100584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7795260" y="196596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406908" y="0"/>
                </a:moveTo>
                <a:lnTo>
                  <a:pt x="451453" y="129540"/>
                </a:lnTo>
                <a:lnTo>
                  <a:pt x="492125" y="259080"/>
                </a:lnTo>
                <a:lnTo>
                  <a:pt x="528923" y="388620"/>
                </a:lnTo>
                <a:lnTo>
                  <a:pt x="561848" y="518160"/>
                </a:lnTo>
                <a:lnTo>
                  <a:pt x="590899" y="647700"/>
                </a:lnTo>
                <a:lnTo>
                  <a:pt x="616077" y="777240"/>
                </a:lnTo>
                <a:lnTo>
                  <a:pt x="637381" y="906780"/>
                </a:lnTo>
                <a:lnTo>
                  <a:pt x="654812" y="1036320"/>
                </a:lnTo>
                <a:lnTo>
                  <a:pt x="668369" y="1165860"/>
                </a:lnTo>
                <a:lnTo>
                  <a:pt x="678053" y="1295400"/>
                </a:lnTo>
                <a:lnTo>
                  <a:pt x="683863" y="1424940"/>
                </a:lnTo>
                <a:lnTo>
                  <a:pt x="685800" y="1554480"/>
                </a:lnTo>
                <a:lnTo>
                  <a:pt x="683863" y="1684020"/>
                </a:lnTo>
                <a:lnTo>
                  <a:pt x="678053" y="1813560"/>
                </a:lnTo>
                <a:lnTo>
                  <a:pt x="668369" y="1943100"/>
                </a:lnTo>
                <a:lnTo>
                  <a:pt x="654812" y="2072640"/>
                </a:lnTo>
                <a:lnTo>
                  <a:pt x="637381" y="2202180"/>
                </a:lnTo>
                <a:lnTo>
                  <a:pt x="616077" y="2331720"/>
                </a:lnTo>
                <a:lnTo>
                  <a:pt x="590899" y="2461260"/>
                </a:lnTo>
                <a:lnTo>
                  <a:pt x="561848" y="2590800"/>
                </a:lnTo>
                <a:lnTo>
                  <a:pt x="528923" y="2720340"/>
                </a:lnTo>
                <a:lnTo>
                  <a:pt x="492125" y="2849880"/>
                </a:lnTo>
                <a:lnTo>
                  <a:pt x="451453" y="2979420"/>
                </a:lnTo>
                <a:lnTo>
                  <a:pt x="406908" y="3108960"/>
                </a:lnTo>
                <a:lnTo>
                  <a:pt x="278892" y="3108960"/>
                </a:lnTo>
                <a:lnTo>
                  <a:pt x="234346" y="2979420"/>
                </a:lnTo>
                <a:lnTo>
                  <a:pt x="193675" y="2849880"/>
                </a:lnTo>
                <a:lnTo>
                  <a:pt x="156876" y="2720340"/>
                </a:lnTo>
                <a:lnTo>
                  <a:pt x="123952" y="2590800"/>
                </a:lnTo>
                <a:lnTo>
                  <a:pt x="94900" y="2461260"/>
                </a:lnTo>
                <a:lnTo>
                  <a:pt x="69723" y="2331720"/>
                </a:lnTo>
                <a:lnTo>
                  <a:pt x="48418" y="2202180"/>
                </a:lnTo>
                <a:lnTo>
                  <a:pt x="30988" y="2072640"/>
                </a:lnTo>
                <a:lnTo>
                  <a:pt x="17430" y="1943100"/>
                </a:lnTo>
                <a:lnTo>
                  <a:pt x="7747" y="1813560"/>
                </a:lnTo>
                <a:lnTo>
                  <a:pt x="1936" y="1684020"/>
                </a:lnTo>
                <a:lnTo>
                  <a:pt x="0" y="1554480"/>
                </a:lnTo>
                <a:lnTo>
                  <a:pt x="1936" y="1424940"/>
                </a:lnTo>
                <a:lnTo>
                  <a:pt x="7747" y="1295400"/>
                </a:lnTo>
                <a:lnTo>
                  <a:pt x="17430" y="1165860"/>
                </a:lnTo>
                <a:lnTo>
                  <a:pt x="30988" y="1036320"/>
                </a:lnTo>
                <a:lnTo>
                  <a:pt x="48418" y="906780"/>
                </a:lnTo>
                <a:lnTo>
                  <a:pt x="69723" y="777240"/>
                </a:lnTo>
                <a:lnTo>
                  <a:pt x="94900" y="647700"/>
                </a:lnTo>
                <a:lnTo>
                  <a:pt x="123952" y="518160"/>
                </a:lnTo>
                <a:lnTo>
                  <a:pt x="156876" y="388620"/>
                </a:lnTo>
                <a:lnTo>
                  <a:pt x="193675" y="259080"/>
                </a:lnTo>
                <a:lnTo>
                  <a:pt x="234346" y="1295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669280" y="251460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38160" y="2514600"/>
            <a:ext cx="2468880" cy="100584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07040" y="3520440"/>
            <a:ext cx="1097280" cy="452628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80" y="301752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138160" y="3017520"/>
            <a:ext cx="2468880" cy="50292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07040" y="3520440"/>
            <a:ext cx="1097280" cy="226314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69280" y="352044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8160" y="352044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607040" y="3520440"/>
            <a:ext cx="1097280" cy="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669280" y="402336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138160" y="3520440"/>
            <a:ext cx="2468880" cy="50292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0607040" y="3294126"/>
            <a:ext cx="1097280" cy="226314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0" y="452628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38160" y="3520440"/>
            <a:ext cx="2468880" cy="100584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607040" y="3067812"/>
            <a:ext cx="1097280" cy="452628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469880" y="3383280"/>
            <a:ext cx="274320" cy="27432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749039"/>
            <a:ext cx="1188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為什麼？祕密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凹透鏡＝兩個三稜鏡，尖尖的那邊碰在一起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厚的在上下兩邊——上面的光往上折、下面的光往下折，光就散開了。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65960"/>
            <a:ext cx="4572000" cy="31089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74519"/>
            <a:ext cx="457200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cave-laser.jpg"/>
          <p:cNvPicPr>
            <a:picLocks noChangeAspect="1"/>
          </p:cNvPicPr>
          <p:nvPr/>
        </p:nvPicPr>
        <p:blipFill>
          <a:blip r:embed="rId3"/>
          <a:srcRect l="7963" r="7963"/>
          <a:stretch>
            <a:fillRect/>
          </a:stretch>
        </p:blipFill>
        <p:spPr>
          <a:xfrm rot="21540000">
            <a:off x="749808" y="1984248"/>
            <a:ext cx="4352544" cy="2889504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635240" y="1965960"/>
            <a:ext cx="1005840" cy="1554480"/>
          </a:xfrm>
          <a:custGeom>
            <a:avLst/>
            <a:gdLst/>
            <a:ahLst/>
            <a:cxnLst/>
            <a:rect l="l" t="t" r="r" b="b"/>
            <a:pathLst>
              <a:path w="1005840" h="1554480">
                <a:moveTo>
                  <a:pt x="502920" y="1554480"/>
                </a:moveTo>
                <a:lnTo>
                  <a:pt x="0" y="0"/>
                </a:lnTo>
                <a:lnTo>
                  <a:pt x="100584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35240" y="3520440"/>
            <a:ext cx="1005840" cy="1554480"/>
          </a:xfrm>
          <a:custGeom>
            <a:avLst/>
            <a:gdLst/>
            <a:ahLst/>
            <a:cxnLst/>
            <a:rect l="l" t="t" r="r" b="b"/>
            <a:pathLst>
              <a:path w="1005840" h="1554480">
                <a:moveTo>
                  <a:pt x="502920" y="0"/>
                </a:moveTo>
                <a:lnTo>
                  <a:pt x="0" y="1554480"/>
                </a:lnTo>
                <a:lnTo>
                  <a:pt x="1005840" y="155448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7854696" y="1965960"/>
            <a:ext cx="566928" cy="3108960"/>
          </a:xfrm>
          <a:custGeom>
            <a:avLst/>
            <a:gdLst/>
            <a:ahLst/>
            <a:cxnLst/>
            <a:rect l="l" t="t" r="r" b="b"/>
            <a:pathLst>
              <a:path w="566928" h="3108960">
                <a:moveTo>
                  <a:pt x="566928" y="0"/>
                </a:moveTo>
                <a:lnTo>
                  <a:pt x="533336" y="129540"/>
                </a:lnTo>
                <a:lnTo>
                  <a:pt x="502666" y="259080"/>
                </a:lnTo>
                <a:lnTo>
                  <a:pt x="474916" y="388620"/>
                </a:lnTo>
                <a:lnTo>
                  <a:pt x="450088" y="518160"/>
                </a:lnTo>
                <a:lnTo>
                  <a:pt x="428180" y="647700"/>
                </a:lnTo>
                <a:lnTo>
                  <a:pt x="409194" y="777240"/>
                </a:lnTo>
                <a:lnTo>
                  <a:pt x="393128" y="906780"/>
                </a:lnTo>
                <a:lnTo>
                  <a:pt x="379984" y="1036320"/>
                </a:lnTo>
                <a:lnTo>
                  <a:pt x="369760" y="1165860"/>
                </a:lnTo>
                <a:lnTo>
                  <a:pt x="362458" y="1295400"/>
                </a:lnTo>
                <a:lnTo>
                  <a:pt x="358076" y="1424940"/>
                </a:lnTo>
                <a:lnTo>
                  <a:pt x="356616" y="1554480"/>
                </a:lnTo>
                <a:lnTo>
                  <a:pt x="358076" y="1684020"/>
                </a:lnTo>
                <a:lnTo>
                  <a:pt x="362458" y="1813560"/>
                </a:lnTo>
                <a:lnTo>
                  <a:pt x="369760" y="1943100"/>
                </a:lnTo>
                <a:lnTo>
                  <a:pt x="379984" y="2072640"/>
                </a:lnTo>
                <a:lnTo>
                  <a:pt x="393128" y="2202180"/>
                </a:lnTo>
                <a:lnTo>
                  <a:pt x="409194" y="2331720"/>
                </a:lnTo>
                <a:lnTo>
                  <a:pt x="428180" y="2461260"/>
                </a:lnTo>
                <a:lnTo>
                  <a:pt x="450088" y="2590800"/>
                </a:lnTo>
                <a:lnTo>
                  <a:pt x="474916" y="2720340"/>
                </a:lnTo>
                <a:lnTo>
                  <a:pt x="502666" y="2849880"/>
                </a:lnTo>
                <a:lnTo>
                  <a:pt x="533336" y="2979420"/>
                </a:lnTo>
                <a:lnTo>
                  <a:pt x="566928" y="3108960"/>
                </a:lnTo>
                <a:lnTo>
                  <a:pt x="0" y="3108960"/>
                </a:lnTo>
                <a:lnTo>
                  <a:pt x="33591" y="2979420"/>
                </a:lnTo>
                <a:lnTo>
                  <a:pt x="64262" y="2849880"/>
                </a:lnTo>
                <a:lnTo>
                  <a:pt x="92011" y="2720340"/>
                </a:lnTo>
                <a:lnTo>
                  <a:pt x="116840" y="2590800"/>
                </a:lnTo>
                <a:lnTo>
                  <a:pt x="138747" y="2461260"/>
                </a:lnTo>
                <a:lnTo>
                  <a:pt x="157734" y="2331720"/>
                </a:lnTo>
                <a:lnTo>
                  <a:pt x="173799" y="2202180"/>
                </a:lnTo>
                <a:lnTo>
                  <a:pt x="186944" y="2072640"/>
                </a:lnTo>
                <a:lnTo>
                  <a:pt x="197167" y="1943100"/>
                </a:lnTo>
                <a:lnTo>
                  <a:pt x="204470" y="1813560"/>
                </a:lnTo>
                <a:lnTo>
                  <a:pt x="208851" y="1684020"/>
                </a:lnTo>
                <a:lnTo>
                  <a:pt x="210312" y="1554480"/>
                </a:lnTo>
                <a:lnTo>
                  <a:pt x="208851" y="1424940"/>
                </a:lnTo>
                <a:lnTo>
                  <a:pt x="204470" y="1295400"/>
                </a:lnTo>
                <a:lnTo>
                  <a:pt x="197167" y="1165860"/>
                </a:lnTo>
                <a:lnTo>
                  <a:pt x="186944" y="1036320"/>
                </a:lnTo>
                <a:lnTo>
                  <a:pt x="173799" y="906780"/>
                </a:lnTo>
                <a:lnTo>
                  <a:pt x="157734" y="777240"/>
                </a:lnTo>
                <a:lnTo>
                  <a:pt x="138747" y="647700"/>
                </a:lnTo>
                <a:lnTo>
                  <a:pt x="116840" y="518160"/>
                </a:lnTo>
                <a:lnTo>
                  <a:pt x="92011" y="388620"/>
                </a:lnTo>
                <a:lnTo>
                  <a:pt x="64262" y="259080"/>
                </a:lnTo>
                <a:lnTo>
                  <a:pt x="33591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669280" y="251460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138160" y="1659636"/>
            <a:ext cx="3566160" cy="854964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69280" y="301752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138160" y="2590038"/>
            <a:ext cx="3566160" cy="427482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669280" y="352044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138160" y="3520440"/>
            <a:ext cx="3566160" cy="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69280" y="402336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8160" y="4023360"/>
            <a:ext cx="3566160" cy="427482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69280" y="4526280"/>
            <a:ext cx="246888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138160" y="4526280"/>
            <a:ext cx="3566160" cy="854964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為什麼？祕密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為什麼字變大、變小？眼睛又被騙了！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眼睛以為光是直直來的：凸透鏡讓字看起來變大，凹透鏡讓字看起來變小。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749039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凸透鏡：看起來變大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4206240"/>
            <a:ext cx="5074921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2674620" y="2834640"/>
            <a:ext cx="685800" cy="2103120"/>
          </a:xfrm>
          <a:custGeom>
            <a:avLst/>
            <a:gdLst/>
            <a:ahLst/>
            <a:cxnLst/>
            <a:rect l="l" t="t" r="r" b="b"/>
            <a:pathLst>
              <a:path w="685800" h="2103120">
                <a:moveTo>
                  <a:pt x="406907" y="0"/>
                </a:moveTo>
                <a:lnTo>
                  <a:pt x="451453" y="87630"/>
                </a:lnTo>
                <a:lnTo>
                  <a:pt x="492125" y="175260"/>
                </a:lnTo>
                <a:lnTo>
                  <a:pt x="528923" y="262890"/>
                </a:lnTo>
                <a:lnTo>
                  <a:pt x="561848" y="350520"/>
                </a:lnTo>
                <a:lnTo>
                  <a:pt x="590899" y="438150"/>
                </a:lnTo>
                <a:lnTo>
                  <a:pt x="616077" y="525780"/>
                </a:lnTo>
                <a:lnTo>
                  <a:pt x="637381" y="613410"/>
                </a:lnTo>
                <a:lnTo>
                  <a:pt x="654812" y="701040"/>
                </a:lnTo>
                <a:lnTo>
                  <a:pt x="668369" y="788670"/>
                </a:lnTo>
                <a:lnTo>
                  <a:pt x="678053" y="876300"/>
                </a:lnTo>
                <a:lnTo>
                  <a:pt x="683863" y="963930"/>
                </a:lnTo>
                <a:lnTo>
                  <a:pt x="685800" y="1051560"/>
                </a:lnTo>
                <a:lnTo>
                  <a:pt x="683863" y="1139190"/>
                </a:lnTo>
                <a:lnTo>
                  <a:pt x="678053" y="1226820"/>
                </a:lnTo>
                <a:lnTo>
                  <a:pt x="668369" y="1314449"/>
                </a:lnTo>
                <a:lnTo>
                  <a:pt x="654812" y="1402080"/>
                </a:lnTo>
                <a:lnTo>
                  <a:pt x="637381" y="1489710"/>
                </a:lnTo>
                <a:lnTo>
                  <a:pt x="616077" y="1577340"/>
                </a:lnTo>
                <a:lnTo>
                  <a:pt x="590899" y="1664970"/>
                </a:lnTo>
                <a:lnTo>
                  <a:pt x="561848" y="1752600"/>
                </a:lnTo>
                <a:lnTo>
                  <a:pt x="528923" y="1840230"/>
                </a:lnTo>
                <a:lnTo>
                  <a:pt x="492125" y="1927860"/>
                </a:lnTo>
                <a:lnTo>
                  <a:pt x="451453" y="2015490"/>
                </a:lnTo>
                <a:lnTo>
                  <a:pt x="406907" y="2103120"/>
                </a:lnTo>
                <a:lnTo>
                  <a:pt x="278892" y="2103120"/>
                </a:lnTo>
                <a:lnTo>
                  <a:pt x="234346" y="2015490"/>
                </a:lnTo>
                <a:lnTo>
                  <a:pt x="193674" y="1927860"/>
                </a:lnTo>
                <a:lnTo>
                  <a:pt x="156876" y="1840230"/>
                </a:lnTo>
                <a:lnTo>
                  <a:pt x="123951" y="1752600"/>
                </a:lnTo>
                <a:lnTo>
                  <a:pt x="94900" y="1664970"/>
                </a:lnTo>
                <a:lnTo>
                  <a:pt x="69723" y="1577340"/>
                </a:lnTo>
                <a:lnTo>
                  <a:pt x="48418" y="1489710"/>
                </a:lnTo>
                <a:lnTo>
                  <a:pt x="30988" y="1402080"/>
                </a:lnTo>
                <a:lnTo>
                  <a:pt x="17430" y="1314449"/>
                </a:lnTo>
                <a:lnTo>
                  <a:pt x="7747" y="1226820"/>
                </a:lnTo>
                <a:lnTo>
                  <a:pt x="1936" y="1139190"/>
                </a:lnTo>
                <a:lnTo>
                  <a:pt x="0" y="1051560"/>
                </a:lnTo>
                <a:lnTo>
                  <a:pt x="1936" y="963930"/>
                </a:lnTo>
                <a:lnTo>
                  <a:pt x="7747" y="876300"/>
                </a:lnTo>
                <a:lnTo>
                  <a:pt x="17430" y="788670"/>
                </a:lnTo>
                <a:lnTo>
                  <a:pt x="30988" y="701040"/>
                </a:lnTo>
                <a:lnTo>
                  <a:pt x="48418" y="613410"/>
                </a:lnTo>
                <a:lnTo>
                  <a:pt x="69723" y="525780"/>
                </a:lnTo>
                <a:lnTo>
                  <a:pt x="94900" y="438150"/>
                </a:lnTo>
                <a:lnTo>
                  <a:pt x="123951" y="350520"/>
                </a:lnTo>
                <a:lnTo>
                  <a:pt x="156876" y="262890"/>
                </a:lnTo>
                <a:lnTo>
                  <a:pt x="193674" y="175260"/>
                </a:lnTo>
                <a:lnTo>
                  <a:pt x="234346" y="8763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103120" y="3566159"/>
            <a:ext cx="0" cy="640081"/>
          </a:xfrm>
          <a:prstGeom prst="line">
            <a:avLst/>
          </a:prstGeom>
          <a:ln w="63500">
            <a:solidFill>
              <a:srgbClr val="1F2A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425195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真的字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3703320"/>
            <a:ext cx="457200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13248" y="3794759"/>
            <a:ext cx="146304" cy="14630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103120" y="3566159"/>
            <a:ext cx="91440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17520" y="3566159"/>
            <a:ext cx="2240280" cy="301752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051560" y="2880359"/>
            <a:ext cx="1965960" cy="685800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280160" y="2971799"/>
            <a:ext cx="0" cy="1234441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59" y="2423159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828800"/>
            <a:ext cx="5440680" cy="3749039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874519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凹透鏡：看起來變小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37960" y="4206240"/>
            <a:ext cx="50749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8449056" y="2834640"/>
            <a:ext cx="566928" cy="2103120"/>
          </a:xfrm>
          <a:custGeom>
            <a:avLst/>
            <a:gdLst/>
            <a:ahLst/>
            <a:cxnLst/>
            <a:rect l="l" t="t" r="r" b="b"/>
            <a:pathLst>
              <a:path w="566928" h="2103120">
                <a:moveTo>
                  <a:pt x="566928" y="0"/>
                </a:moveTo>
                <a:lnTo>
                  <a:pt x="533336" y="87630"/>
                </a:lnTo>
                <a:lnTo>
                  <a:pt x="502666" y="175260"/>
                </a:lnTo>
                <a:lnTo>
                  <a:pt x="474916" y="262890"/>
                </a:lnTo>
                <a:lnTo>
                  <a:pt x="450088" y="350520"/>
                </a:lnTo>
                <a:lnTo>
                  <a:pt x="428180" y="438150"/>
                </a:lnTo>
                <a:lnTo>
                  <a:pt x="409194" y="525780"/>
                </a:lnTo>
                <a:lnTo>
                  <a:pt x="393128" y="613410"/>
                </a:lnTo>
                <a:lnTo>
                  <a:pt x="379984" y="701040"/>
                </a:lnTo>
                <a:lnTo>
                  <a:pt x="369760" y="788670"/>
                </a:lnTo>
                <a:lnTo>
                  <a:pt x="362458" y="876300"/>
                </a:lnTo>
                <a:lnTo>
                  <a:pt x="358076" y="963930"/>
                </a:lnTo>
                <a:lnTo>
                  <a:pt x="356616" y="1051560"/>
                </a:lnTo>
                <a:lnTo>
                  <a:pt x="358076" y="1139190"/>
                </a:lnTo>
                <a:lnTo>
                  <a:pt x="362458" y="1226820"/>
                </a:lnTo>
                <a:lnTo>
                  <a:pt x="369760" y="1314449"/>
                </a:lnTo>
                <a:lnTo>
                  <a:pt x="379984" y="1402080"/>
                </a:lnTo>
                <a:lnTo>
                  <a:pt x="393128" y="1489710"/>
                </a:lnTo>
                <a:lnTo>
                  <a:pt x="409194" y="1577340"/>
                </a:lnTo>
                <a:lnTo>
                  <a:pt x="428180" y="1664970"/>
                </a:lnTo>
                <a:lnTo>
                  <a:pt x="450088" y="1752600"/>
                </a:lnTo>
                <a:lnTo>
                  <a:pt x="474916" y="1840230"/>
                </a:lnTo>
                <a:lnTo>
                  <a:pt x="502666" y="1927860"/>
                </a:lnTo>
                <a:lnTo>
                  <a:pt x="533336" y="2015490"/>
                </a:lnTo>
                <a:lnTo>
                  <a:pt x="566928" y="2103120"/>
                </a:lnTo>
                <a:lnTo>
                  <a:pt x="0" y="2103120"/>
                </a:lnTo>
                <a:lnTo>
                  <a:pt x="33591" y="2015490"/>
                </a:lnTo>
                <a:lnTo>
                  <a:pt x="64262" y="1927860"/>
                </a:lnTo>
                <a:lnTo>
                  <a:pt x="92011" y="1840230"/>
                </a:lnTo>
                <a:lnTo>
                  <a:pt x="116840" y="1752600"/>
                </a:lnTo>
                <a:lnTo>
                  <a:pt x="138747" y="1664970"/>
                </a:lnTo>
                <a:lnTo>
                  <a:pt x="157734" y="1577340"/>
                </a:lnTo>
                <a:lnTo>
                  <a:pt x="173799" y="1489710"/>
                </a:lnTo>
                <a:lnTo>
                  <a:pt x="186944" y="1402080"/>
                </a:lnTo>
                <a:lnTo>
                  <a:pt x="197167" y="1314449"/>
                </a:lnTo>
                <a:lnTo>
                  <a:pt x="204470" y="1226820"/>
                </a:lnTo>
                <a:lnTo>
                  <a:pt x="208851" y="1139190"/>
                </a:lnTo>
                <a:lnTo>
                  <a:pt x="210312" y="1051560"/>
                </a:lnTo>
                <a:lnTo>
                  <a:pt x="208851" y="963930"/>
                </a:lnTo>
                <a:lnTo>
                  <a:pt x="204470" y="876300"/>
                </a:lnTo>
                <a:lnTo>
                  <a:pt x="197167" y="788670"/>
                </a:lnTo>
                <a:lnTo>
                  <a:pt x="186944" y="701040"/>
                </a:lnTo>
                <a:lnTo>
                  <a:pt x="173799" y="613410"/>
                </a:lnTo>
                <a:lnTo>
                  <a:pt x="157734" y="525780"/>
                </a:lnTo>
                <a:lnTo>
                  <a:pt x="138747" y="438150"/>
                </a:lnTo>
                <a:lnTo>
                  <a:pt x="116840" y="350520"/>
                </a:lnTo>
                <a:lnTo>
                  <a:pt x="92011" y="262890"/>
                </a:lnTo>
                <a:lnTo>
                  <a:pt x="64262" y="175260"/>
                </a:lnTo>
                <a:lnTo>
                  <a:pt x="33591" y="8763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7818120" y="3566159"/>
            <a:ext cx="0" cy="640081"/>
          </a:xfrm>
          <a:prstGeom prst="line">
            <a:avLst/>
          </a:prstGeom>
          <a:ln w="63500">
            <a:solidFill>
              <a:srgbClr val="1F2A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0" y="425195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真的字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0" y="3127247"/>
            <a:ext cx="457200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128248" y="3218687"/>
            <a:ext cx="146304" cy="14630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818120" y="3566159"/>
            <a:ext cx="914400" cy="0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732520" y="3291839"/>
            <a:ext cx="2240280" cy="274320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589520" y="3566159"/>
            <a:ext cx="1143000" cy="292609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138160" y="3721607"/>
            <a:ext cx="0" cy="484633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55279" y="4590288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看起來的字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9" grpId="0" animBg="1"/>
      <p:bldP spid="32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比一比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 vs 凹透鏡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形狀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75887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675887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字看起來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00016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700016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24144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5724144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生活例子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聚在一起（焦點）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放大鏡、老花眼鏡、相機、水滴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近視眼鏡、門上的貓眼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一站一站玩：投影魔術、放大鏡、眼鏡、相機……每一站都在讓光換方向。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lens.png"/>
          <p:cNvPicPr>
            <a:picLocks noChangeAspect="1"/>
          </p:cNvPicPr>
          <p:nvPr/>
        </p:nvPicPr>
        <p:blipFill>
          <a:blip r:embed="rId3"/>
          <a:srcRect t="3000" b="28000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選一個你可以完成的程度：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圈出中間厚、中間薄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寫出凸透鏡、凹透鏡的不同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說出一個生活裡的透鏡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中間厚的叫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6267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4544568"/>
            <a:ext cx="2688335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703320"/>
            <a:ext cx="28346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聚在一起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  <p:bldP spid="22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今天的透鏡偵探，好厲害！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下一次：自己動手，用透鏡做出更多魔術。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77240" y="438912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